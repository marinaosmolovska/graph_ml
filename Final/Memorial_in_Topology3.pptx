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access_all2.png"/>
          <p:cNvPicPr>
            <a:picLocks noChangeAspect="1"/>
          </p:cNvPicPr>
          <p:nvPr/>
        </p:nvPicPr>
        <p:blipFill>
          <a:blip r:embed="rId2"/>
          <a:stretch>
            <a:fillRect/>
          </a:stretch>
        </p:blipFill>
        <p:spPr>
          <a:xfrm>
            <a:off x="5943600" y="365760"/>
            <a:ext cx="6400800" cy="3384331"/>
          </a:xfrm>
          <a:prstGeom prst="rect">
            <a:avLst/>
          </a:prstGeom>
        </p:spPr>
      </p:pic>
      <p:sp>
        <p:nvSpPr>
          <p:cNvPr id="3" name="Rectangle 2"/>
          <p:cNvSpPr/>
          <p:nvPr/>
        </p:nvSpPr>
        <p:spPr>
          <a:xfrm>
            <a:off x="0" y="0"/>
            <a:ext cx="6309360" cy="685800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3657600" cy="914400"/>
          </a:xfrm>
          <a:prstGeom prst="rect">
            <a:avLst/>
          </a:prstGeom>
          <a:noFill/>
        </p:spPr>
        <p:txBody>
          <a:bodyPr wrap="square">
            <a:spAutoFit/>
          </a:bodyPr>
          <a:lstStyle/>
          <a:p>
            <a:pPr algn="l"/>
            <a:r>
              <a:rPr sz="4800" b="1" i="0">
                <a:solidFill>
                  <a:srgbClr val="FFFFFF"/>
                </a:solidFill>
                <a:latin typeface="Arial"/>
              </a:rPr>
              <a:t>Iaac</a:t>
            </a:r>
          </a:p>
        </p:txBody>
      </p:sp>
      <p:sp>
        <p:nvSpPr>
          <p:cNvPr id="5" name="Rectangle 4"/>
          <p:cNvSpPr/>
          <p:nvPr/>
        </p:nvSpPr>
        <p:spPr>
          <a:xfrm>
            <a:off x="548640" y="1389888"/>
            <a:ext cx="539496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72768"/>
            <a:ext cx="5486400" cy="201168"/>
          </a:xfrm>
          <a:prstGeom prst="rect">
            <a:avLst/>
          </a:prstGeom>
          <a:noFill/>
        </p:spPr>
        <p:txBody>
          <a:bodyPr wrap="square">
            <a:spAutoFit/>
          </a:bodyPr>
          <a:lstStyle/>
          <a:p>
            <a:pPr algn="l"/>
            <a:r>
              <a:rPr sz="700" b="0" i="0">
                <a:solidFill>
                  <a:srgbClr val="626262"/>
                </a:solidFill>
                <a:latin typeface="Arial"/>
              </a:rPr>
              <a:t>GRAPH MACHINE LEARNING</a:t>
            </a:r>
          </a:p>
        </p:txBody>
      </p:sp>
      <p:sp>
        <p:nvSpPr>
          <p:cNvPr id="7" name="TextBox 6"/>
          <p:cNvSpPr txBox="1"/>
          <p:nvPr/>
        </p:nvSpPr>
        <p:spPr>
          <a:xfrm>
            <a:off x="548640" y="1828800"/>
            <a:ext cx="5303520" cy="1920240"/>
          </a:xfrm>
          <a:prstGeom prst="rect">
            <a:avLst/>
          </a:prstGeom>
          <a:noFill/>
        </p:spPr>
        <p:txBody>
          <a:bodyPr wrap="square">
            <a:spAutoFit/>
          </a:bodyPr>
          <a:lstStyle/>
          <a:p>
            <a:pPr algn="l"/>
            <a:r>
              <a:rPr sz="3800" b="1" i="0">
                <a:solidFill>
                  <a:srgbClr val="FFFFFF"/>
                </a:solidFill>
                <a:latin typeface="Arial"/>
              </a:rPr>
              <a:t>Memorial
in Topology</a:t>
            </a:r>
          </a:p>
        </p:txBody>
      </p:sp>
      <p:sp>
        <p:nvSpPr>
          <p:cNvPr id="8" name="TextBox 7"/>
          <p:cNvSpPr txBox="1"/>
          <p:nvPr/>
        </p:nvSpPr>
        <p:spPr>
          <a:xfrm>
            <a:off x="548640" y="3840480"/>
            <a:ext cx="5303520" cy="411480"/>
          </a:xfrm>
          <a:prstGeom prst="rect">
            <a:avLst/>
          </a:prstGeom>
          <a:noFill/>
        </p:spPr>
        <p:txBody>
          <a:bodyPr wrap="square">
            <a:spAutoFit/>
          </a:bodyPr>
          <a:lstStyle/>
          <a:p>
            <a:pPr algn="l"/>
            <a:r>
              <a:rPr sz="1300" b="0" i="0">
                <a:solidFill>
                  <a:srgbClr val="CCCCCC"/>
                </a:solidFill>
                <a:latin typeface="Arial"/>
              </a:rPr>
              <a:t>A Reading of Wartime Loss in Kyiv</a:t>
            </a:r>
          </a:p>
        </p:txBody>
      </p:sp>
      <p:sp>
        <p:nvSpPr>
          <p:cNvPr id="9" name="Rectangle 8"/>
          <p:cNvSpPr/>
          <p:nvPr/>
        </p:nvSpPr>
        <p:spPr>
          <a:xfrm>
            <a:off x="548640" y="4370832"/>
            <a:ext cx="539496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544568"/>
            <a:ext cx="5303520" cy="310896"/>
          </a:xfrm>
          <a:prstGeom prst="rect">
            <a:avLst/>
          </a:prstGeom>
          <a:noFill/>
        </p:spPr>
        <p:txBody>
          <a:bodyPr wrap="square">
            <a:spAutoFit/>
          </a:bodyPr>
          <a:lstStyle/>
          <a:p>
            <a:pPr algn="l"/>
            <a:r>
              <a:rPr sz="1100" b="1" i="0">
                <a:solidFill>
                  <a:srgbClr val="FFFFFF"/>
                </a:solidFill>
                <a:latin typeface="Arial"/>
              </a:rPr>
              <a:t>Marina Osmolovska</a:t>
            </a:r>
          </a:p>
        </p:txBody>
      </p:sp>
      <p:sp>
        <p:nvSpPr>
          <p:cNvPr id="11" name="TextBox 10"/>
          <p:cNvSpPr txBox="1"/>
          <p:nvPr/>
        </p:nvSpPr>
        <p:spPr>
          <a:xfrm>
            <a:off x="548640" y="4901184"/>
            <a:ext cx="5303520" cy="274320"/>
          </a:xfrm>
          <a:prstGeom prst="rect">
            <a:avLst/>
          </a:prstGeom>
          <a:noFill/>
        </p:spPr>
        <p:txBody>
          <a:bodyPr wrap="square">
            <a:spAutoFit/>
          </a:bodyPr>
          <a:lstStyle/>
          <a:p>
            <a:pPr algn="l"/>
            <a:r>
              <a:rPr sz="900" b="0" i="0">
                <a:solidFill>
                  <a:srgbClr val="969696"/>
                </a:solidFill>
                <a:latin typeface="Arial"/>
              </a:rPr>
              <a:t>MaCAD 2025  --  Semester 3</a:t>
            </a:r>
          </a:p>
        </p:txBody>
      </p:sp>
      <p:sp>
        <p:nvSpPr>
          <p:cNvPr id="12" name="TextBox 11"/>
          <p:cNvSpPr txBox="1"/>
          <p:nvPr/>
        </p:nvSpPr>
        <p:spPr>
          <a:xfrm>
            <a:off x="548640" y="5248656"/>
            <a:ext cx="5303520" cy="594360"/>
          </a:xfrm>
          <a:prstGeom prst="rect">
            <a:avLst/>
          </a:prstGeom>
          <a:noFill/>
        </p:spPr>
        <p:txBody>
          <a:bodyPr wrap="square">
            <a:spAutoFit/>
          </a:bodyPr>
          <a:lstStyle/>
          <a:p>
            <a:pPr algn="l"/>
            <a:r>
              <a:rPr sz="900" b="0" i="0">
                <a:solidFill>
                  <a:srgbClr val="969696"/>
                </a:solidFill>
                <a:latin typeface="Arial"/>
              </a:rPr>
              <a:t>Buildings as Graphs
Faculty: Angelos Chronis  --  Orestis Pavlidis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axon1.1.png"/>
          <p:cNvPicPr>
            <a:picLocks noChangeAspect="1"/>
          </p:cNvPicPr>
          <p:nvPr/>
        </p:nvPicPr>
        <p:blipFill>
          <a:blip r:embed="rId2"/>
          <a:stretch>
            <a:fillRect/>
          </a:stretch>
        </p:blipFill>
        <p:spPr>
          <a:xfrm>
            <a:off x="5029200" y="320040"/>
            <a:ext cx="7223760" cy="5417820"/>
          </a:xfrm>
          <a:prstGeom prst="rect">
            <a:avLst/>
          </a:prstGeom>
        </p:spPr>
      </p:pic>
      <p:sp>
        <p:nvSpPr>
          <p:cNvPr id="3" name="TextBox 2"/>
          <p:cNvSpPr txBox="1"/>
          <p:nvPr/>
        </p:nvSpPr>
        <p:spPr>
          <a:xfrm>
            <a:off x="457200" y="292608"/>
            <a:ext cx="5486400" cy="201168"/>
          </a:xfrm>
          <a:prstGeom prst="rect">
            <a:avLst/>
          </a:prstGeom>
          <a:noFill/>
        </p:spPr>
        <p:txBody>
          <a:bodyPr wrap="square">
            <a:spAutoFit/>
          </a:bodyPr>
          <a:lstStyle/>
          <a:p>
            <a:pPr algn="l"/>
            <a:r>
              <a:rPr sz="700" b="0" i="0">
                <a:solidFill>
                  <a:srgbClr val="626262"/>
                </a:solidFill>
                <a:latin typeface="Arial"/>
              </a:rPr>
              <a:t>CONTEXT</a:t>
            </a:r>
          </a:p>
        </p:txBody>
      </p:sp>
      <p:sp>
        <p:nvSpPr>
          <p:cNvPr id="4" name="TextBox 3"/>
          <p:cNvSpPr txBox="1"/>
          <p:nvPr/>
        </p:nvSpPr>
        <p:spPr>
          <a:xfrm>
            <a:off x="457200" y="530352"/>
            <a:ext cx="4572000" cy="640080"/>
          </a:xfrm>
          <a:prstGeom prst="rect">
            <a:avLst/>
          </a:prstGeom>
          <a:noFill/>
        </p:spPr>
        <p:txBody>
          <a:bodyPr wrap="square">
            <a:spAutoFit/>
          </a:bodyPr>
          <a:lstStyle/>
          <a:p>
            <a:pPr algn="l"/>
            <a:r>
              <a:rPr sz="3000" b="1" i="0">
                <a:solidFill>
                  <a:srgbClr val="FFFFFF"/>
                </a:solidFill>
                <a:latin typeface="Arial"/>
              </a:rPr>
              <a:t>The Building</a:t>
            </a:r>
          </a:p>
        </p:txBody>
      </p:sp>
      <p:sp>
        <p:nvSpPr>
          <p:cNvPr id="5" name="Rectangle 4"/>
          <p:cNvSpPr/>
          <p:nvPr/>
        </p:nvSpPr>
        <p:spPr>
          <a:xfrm>
            <a:off x="457200" y="1243584"/>
            <a:ext cx="438912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89888"/>
            <a:ext cx="4389120" cy="594360"/>
          </a:xfrm>
          <a:prstGeom prst="rect">
            <a:avLst/>
          </a:prstGeom>
          <a:noFill/>
        </p:spPr>
        <p:txBody>
          <a:bodyPr wrap="square">
            <a:spAutoFit/>
          </a:bodyPr>
          <a:lstStyle/>
          <a:p>
            <a:pPr algn="l"/>
            <a:r>
              <a:rPr sz="1100" b="0" i="0">
                <a:solidFill>
                  <a:srgbClr val="CCCCCC"/>
                </a:solidFill>
                <a:latin typeface="Arial"/>
              </a:rPr>
              <a:t>87-02 Soviet panel block-section. Nine storeys, two apartments per floor, mirrored around a single staircase core. A standard type mass-produced across the USSR from the 1960s onward.</a:t>
            </a:r>
          </a:p>
        </p:txBody>
      </p:sp>
      <p:sp>
        <p:nvSpPr>
          <p:cNvPr id="7" name="TextBox 6"/>
          <p:cNvSpPr txBox="1"/>
          <p:nvPr/>
        </p:nvSpPr>
        <p:spPr>
          <a:xfrm>
            <a:off x="457200" y="2084831"/>
            <a:ext cx="4389120" cy="594360"/>
          </a:xfrm>
          <a:prstGeom prst="rect">
            <a:avLst/>
          </a:prstGeom>
          <a:noFill/>
        </p:spPr>
        <p:txBody>
          <a:bodyPr wrap="square">
            <a:spAutoFit/>
          </a:bodyPr>
          <a:lstStyle/>
          <a:p>
            <a:pPr algn="l"/>
            <a:r>
              <a:rPr sz="1100" b="0" i="0">
                <a:solidFill>
                  <a:srgbClr val="CCCCCC"/>
                </a:solidFill>
                <a:latin typeface="Arial"/>
              </a:rPr>
              <a:t>A rocket strike destroyed the right half of one such section in Kyiv. The staircase survived. The apartments on one side did not. The stair now opens onto a concrete void.</a:t>
            </a:r>
          </a:p>
        </p:txBody>
      </p:sp>
      <p:sp>
        <p:nvSpPr>
          <p:cNvPr id="8" name="Rectangle 7"/>
          <p:cNvSpPr/>
          <p:nvPr/>
        </p:nvSpPr>
        <p:spPr>
          <a:xfrm>
            <a:off x="457200" y="2798064"/>
            <a:ext cx="438912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962656"/>
            <a:ext cx="4389120" cy="777240"/>
          </a:xfrm>
          <a:prstGeom prst="rect">
            <a:avLst/>
          </a:prstGeom>
          <a:noFill/>
        </p:spPr>
        <p:txBody>
          <a:bodyPr wrap="square">
            <a:spAutoFit/>
          </a:bodyPr>
          <a:lstStyle/>
          <a:p>
            <a:pPr algn="l"/>
            <a:r>
              <a:rPr sz="1600" b="1" i="0">
                <a:solidFill>
                  <a:srgbClr val="FFFFFF"/>
                </a:solidFill>
                <a:latin typeface="Arial"/>
              </a:rPr>
              <a:t>The surviving stair leads,
in graph terms, to nothing.</a:t>
            </a:r>
          </a:p>
        </p:txBody>
      </p:sp>
      <p:sp>
        <p:nvSpPr>
          <p:cNvPr id="10" name="TextBox 9"/>
          <p:cNvSpPr txBox="1"/>
          <p:nvPr/>
        </p:nvSpPr>
        <p:spPr>
          <a:xfrm>
            <a:off x="457200" y="3858768"/>
            <a:ext cx="4389120" cy="914400"/>
          </a:xfrm>
          <a:prstGeom prst="rect">
            <a:avLst/>
          </a:prstGeom>
          <a:noFill/>
        </p:spPr>
        <p:txBody>
          <a:bodyPr wrap="square">
            <a:spAutoFit/>
          </a:bodyPr>
          <a:lstStyle/>
          <a:p>
            <a:pPr algn="l"/>
            <a:r>
              <a:rPr sz="1100" b="0" i="0">
                <a:solidFill>
                  <a:srgbClr val="969696"/>
                </a:solidFill>
                <a:latin typeface="Arial"/>
              </a:rPr>
              <a:t>The project reads the lost apartment as a spatial graph and uses that graph to generate a memorial form. Each room that no longer exists is given back a floor slab, positioned by the room's topological distance from the entrance.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74320"/>
            <a:ext cx="5486400" cy="201168"/>
          </a:xfrm>
          <a:prstGeom prst="rect">
            <a:avLst/>
          </a:prstGeom>
          <a:noFill/>
        </p:spPr>
        <p:txBody>
          <a:bodyPr wrap="square">
            <a:spAutoFit/>
          </a:bodyPr>
          <a:lstStyle/>
          <a:p>
            <a:pPr algn="l"/>
            <a:r>
              <a:rPr sz="700" b="0" i="0">
                <a:solidFill>
                  <a:srgbClr val="626262"/>
                </a:solidFill>
                <a:latin typeface="Arial"/>
              </a:rPr>
              <a:t>THE PROPOSAL</a:t>
            </a:r>
          </a:p>
        </p:txBody>
      </p:sp>
      <p:sp>
        <p:nvSpPr>
          <p:cNvPr id="3" name="TextBox 2"/>
          <p:cNvSpPr txBox="1"/>
          <p:nvPr/>
        </p:nvSpPr>
        <p:spPr>
          <a:xfrm>
            <a:off x="457200" y="512064"/>
            <a:ext cx="10972800" cy="777240"/>
          </a:xfrm>
          <a:prstGeom prst="rect">
            <a:avLst/>
          </a:prstGeom>
          <a:noFill/>
        </p:spPr>
        <p:txBody>
          <a:bodyPr wrap="square">
            <a:spAutoFit/>
          </a:bodyPr>
          <a:lstStyle/>
          <a:p>
            <a:pPr algn="l"/>
            <a:r>
              <a:rPr sz="3400" b="1" i="0">
                <a:solidFill>
                  <a:srgbClr val="FFFFFF"/>
                </a:solidFill>
                <a:latin typeface="Arial"/>
              </a:rPr>
              <a:t>Memorial in Topology</a:t>
            </a:r>
          </a:p>
        </p:txBody>
      </p:sp>
      <p:sp>
        <p:nvSpPr>
          <p:cNvPr id="4" name="Rectangle 3"/>
          <p:cNvSpPr/>
          <p:nvPr/>
        </p:nvSpPr>
        <p:spPr>
          <a:xfrm>
            <a:off x="457200" y="1371600"/>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508760"/>
            <a:ext cx="5394960" cy="49560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627632"/>
            <a:ext cx="5029200" cy="292608"/>
          </a:xfrm>
          <a:prstGeom prst="rect">
            <a:avLst/>
          </a:prstGeom>
          <a:noFill/>
        </p:spPr>
        <p:txBody>
          <a:bodyPr wrap="square">
            <a:spAutoFit/>
          </a:bodyPr>
          <a:lstStyle/>
          <a:p>
            <a:pPr algn="l"/>
            <a:r>
              <a:rPr sz="900" b="1" i="0">
                <a:solidFill>
                  <a:srgbClr val="969696"/>
                </a:solidFill>
                <a:latin typeface="Arial"/>
              </a:rPr>
              <a:t>Depth logic</a:t>
            </a:r>
          </a:p>
        </p:txBody>
      </p:sp>
      <p:sp>
        <p:nvSpPr>
          <p:cNvPr id="7" name="TextBox 6"/>
          <p:cNvSpPr txBox="1"/>
          <p:nvPr/>
        </p:nvSpPr>
        <p:spPr>
          <a:xfrm>
            <a:off x="566928" y="1975104"/>
            <a:ext cx="5102352" cy="868680"/>
          </a:xfrm>
          <a:prstGeom prst="rect">
            <a:avLst/>
          </a:prstGeom>
          <a:noFill/>
        </p:spPr>
        <p:txBody>
          <a:bodyPr wrap="square">
            <a:spAutoFit/>
          </a:bodyPr>
          <a:lstStyle/>
          <a:p>
            <a:pPr algn="l"/>
            <a:r>
              <a:rPr sz="1100" b="0" i="0">
                <a:solidFill>
                  <a:srgbClr val="CCCCCC"/>
                </a:solidFill>
                <a:latin typeface="Arial"/>
              </a:rPr>
              <a:t>The access graph of the damaged section encodes which rooms were adjacent via which door. BFS hop count from the staircase landing assigns a depth to each room on that graph. That depth maps directly to a vertical offset: slab Z = -step * depth.</a:t>
            </a:r>
          </a:p>
        </p:txBody>
      </p:sp>
      <p:sp>
        <p:nvSpPr>
          <p:cNvPr id="8" name="TextBox 7"/>
          <p:cNvSpPr txBox="1"/>
          <p:nvPr/>
        </p:nvSpPr>
        <p:spPr>
          <a:xfrm>
            <a:off x="566928" y="2926080"/>
            <a:ext cx="5102352" cy="868680"/>
          </a:xfrm>
          <a:prstGeom prst="rect">
            <a:avLst/>
          </a:prstGeom>
          <a:noFill/>
        </p:spPr>
        <p:txBody>
          <a:bodyPr wrap="square">
            <a:spAutoFit/>
          </a:bodyPr>
          <a:lstStyle/>
          <a:p>
            <a:pPr algn="l"/>
            <a:r>
              <a:rPr sz="1100" b="0" i="0">
                <a:solidFill>
                  <a:srgbClr val="CCCCCC"/>
                </a:solidFill>
                <a:latin typeface="Arial"/>
              </a:rPr>
              <a:t>A room at depth 1 -- the apartment hall, directly behind the entrance door -- returns as a slab flush with the landing. A room at depth 3 -- a bedroom, a balcony -- sits three steps below. The further from the entrance, the lower the slab.</a:t>
            </a:r>
          </a:p>
        </p:txBody>
      </p:sp>
      <p:sp>
        <p:nvSpPr>
          <p:cNvPr id="9" name="TextBox 8"/>
          <p:cNvSpPr txBox="1"/>
          <p:nvPr/>
        </p:nvSpPr>
        <p:spPr>
          <a:xfrm>
            <a:off x="566928" y="3913632"/>
            <a:ext cx="5102352" cy="713232"/>
          </a:xfrm>
          <a:prstGeom prst="rect">
            <a:avLst/>
          </a:prstGeom>
          <a:noFill/>
        </p:spPr>
        <p:txBody>
          <a:bodyPr wrap="square">
            <a:spAutoFit/>
          </a:bodyPr>
          <a:lstStyle/>
          <a:p>
            <a:pPr algn="l"/>
            <a:r>
              <a:rPr sz="1100" b="0" i="0">
                <a:solidFill>
                  <a:srgbClr val="969696"/>
                </a:solidFill>
                <a:latin typeface="Arial"/>
              </a:rPr>
              <a:t>In the damaged block, depth ranges from 0 to 12. The promenade descends through 13 levels, each level corresponding to one door crossing in the original apartment.</a:t>
            </a:r>
          </a:p>
        </p:txBody>
      </p:sp>
      <p:sp>
        <p:nvSpPr>
          <p:cNvPr id="10" name="TextBox 9"/>
          <p:cNvSpPr txBox="1"/>
          <p:nvPr/>
        </p:nvSpPr>
        <p:spPr>
          <a:xfrm>
            <a:off x="566928" y="4846320"/>
            <a:ext cx="5102352" cy="502920"/>
          </a:xfrm>
          <a:prstGeom prst="rect">
            <a:avLst/>
          </a:prstGeom>
          <a:noFill/>
        </p:spPr>
        <p:txBody>
          <a:bodyPr wrap="square">
            <a:spAutoFit/>
          </a:bodyPr>
          <a:lstStyle/>
          <a:p>
            <a:pPr algn="l"/>
            <a:r>
              <a:rPr sz="1800" b="1" i="0">
                <a:solidFill>
                  <a:srgbClr val="FFFFFF"/>
                </a:solidFill>
                <a:latin typeface="Arial"/>
              </a:rPr>
              <a:t>slab  Z  =  -step  x  depth</a:t>
            </a:r>
          </a:p>
        </p:txBody>
      </p:sp>
      <p:sp>
        <p:nvSpPr>
          <p:cNvPr id="11" name="Rectangle 10"/>
          <p:cNvSpPr/>
          <p:nvPr/>
        </p:nvSpPr>
        <p:spPr>
          <a:xfrm>
            <a:off x="6053328" y="1508760"/>
            <a:ext cx="5760720" cy="495604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496" y="1627632"/>
            <a:ext cx="5394960" cy="292608"/>
          </a:xfrm>
          <a:prstGeom prst="rect">
            <a:avLst/>
          </a:prstGeom>
          <a:noFill/>
        </p:spPr>
        <p:txBody>
          <a:bodyPr wrap="square">
            <a:spAutoFit/>
          </a:bodyPr>
          <a:lstStyle/>
          <a:p>
            <a:pPr algn="l"/>
            <a:r>
              <a:rPr sz="900" b="1" i="0">
                <a:solidFill>
                  <a:srgbClr val="969696"/>
                </a:solidFill>
                <a:latin typeface="Arial"/>
              </a:rPr>
              <a:t>Bridge logic</a:t>
            </a:r>
          </a:p>
        </p:txBody>
      </p:sp>
      <p:sp>
        <p:nvSpPr>
          <p:cNvPr id="13" name="TextBox 12"/>
          <p:cNvSpPr txBox="1"/>
          <p:nvPr/>
        </p:nvSpPr>
        <p:spPr>
          <a:xfrm>
            <a:off x="6254496" y="1975104"/>
            <a:ext cx="5577840" cy="1005840"/>
          </a:xfrm>
          <a:prstGeom prst="rect">
            <a:avLst/>
          </a:prstGeom>
          <a:noFill/>
        </p:spPr>
        <p:txBody>
          <a:bodyPr wrap="square">
            <a:spAutoFit/>
          </a:bodyPr>
          <a:lstStyle/>
          <a:p>
            <a:pPr algn="l"/>
            <a:r>
              <a:rPr sz="1100" b="0" i="0">
                <a:solidFill>
                  <a:srgbClr val="CCCCCC"/>
                </a:solidFill>
                <a:latin typeface="Arial"/>
              </a:rPr>
              <a:t>Two connected rooms at different depths sit at different slab heights. The door that connected them in the original apartment marks the position of a step-bridge. The height of that step equals the height difference between the two slabs -- which equals one step unit, because adjacent rooms differ by exactly one BFS hop.</a:t>
            </a:r>
          </a:p>
        </p:txBody>
      </p:sp>
      <p:sp>
        <p:nvSpPr>
          <p:cNvPr id="14" name="TextBox 13"/>
          <p:cNvSpPr txBox="1"/>
          <p:nvPr/>
        </p:nvSpPr>
        <p:spPr>
          <a:xfrm>
            <a:off x="6254496" y="3090672"/>
            <a:ext cx="5577840" cy="685800"/>
          </a:xfrm>
          <a:prstGeom prst="rect">
            <a:avLst/>
          </a:prstGeom>
          <a:noFill/>
        </p:spPr>
        <p:txBody>
          <a:bodyPr wrap="square">
            <a:spAutoFit/>
          </a:bodyPr>
          <a:lstStyle/>
          <a:p>
            <a:pPr algn="l"/>
            <a:r>
              <a:rPr sz="1100" b="0" i="0">
                <a:solidFill>
                  <a:srgbClr val="CCCCCC"/>
                </a:solidFill>
                <a:latin typeface="Arial"/>
              </a:rPr>
              <a:t>Where two rooms shared a face that was not a door, the gap between slab edges is left open. The opening is the missing wall.</a:t>
            </a:r>
          </a:p>
        </p:txBody>
      </p:sp>
      <p:sp>
        <p:nvSpPr>
          <p:cNvPr id="15" name="TextBox 14"/>
          <p:cNvSpPr txBox="1"/>
          <p:nvPr/>
        </p:nvSpPr>
        <p:spPr>
          <a:xfrm>
            <a:off x="6254496" y="3886200"/>
            <a:ext cx="5577840" cy="713232"/>
          </a:xfrm>
          <a:prstGeom prst="rect">
            <a:avLst/>
          </a:prstGeom>
          <a:noFill/>
        </p:spPr>
        <p:txBody>
          <a:bodyPr wrap="square">
            <a:spAutoFit/>
          </a:bodyPr>
          <a:lstStyle/>
          <a:p>
            <a:pPr algn="l"/>
            <a:r>
              <a:rPr sz="1100" b="0" i="0">
                <a:solidFill>
                  <a:srgbClr val="969696"/>
                </a:solidFill>
                <a:latin typeface="Arial"/>
              </a:rPr>
              <a:t>Slab perimeters are shrunk inward by the missing wall thickness. The gap between adjacent slab edges equals that wall dimension. The original room dimensions are still readable in the plan.</a:t>
            </a:r>
          </a:p>
        </p:txBody>
      </p:sp>
      <p:sp>
        <p:nvSpPr>
          <p:cNvPr id="16" name="TextBox 15"/>
          <p:cNvSpPr txBox="1"/>
          <p:nvPr/>
        </p:nvSpPr>
        <p:spPr>
          <a:xfrm>
            <a:off x="6254496" y="4681728"/>
            <a:ext cx="5577840" cy="822960"/>
          </a:xfrm>
          <a:prstGeom prst="rect">
            <a:avLst/>
          </a:prstGeom>
          <a:noFill/>
        </p:spPr>
        <p:txBody>
          <a:bodyPr wrap="square">
            <a:spAutoFit/>
          </a:bodyPr>
          <a:lstStyle/>
          <a:p>
            <a:pPr algn="l"/>
            <a:r>
              <a:rPr sz="1100" b="0" i="0">
                <a:solidFill>
                  <a:srgbClr val="969696"/>
                </a:solidFill>
                <a:latin typeface="Arial"/>
              </a:rPr>
              <a:t>The step-bridges are encoded as stairs nodes in the combined graph. The memorial slabs are encoded as balcony nodes. Both are read by the ML model as part of the spatial context when it predicts what the surviving rooms become.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WORKFLOW</a:t>
            </a:r>
          </a:p>
        </p:txBody>
      </p:sp>
      <p:sp>
        <p:nvSpPr>
          <p:cNvPr id="3" name="TextBox 2"/>
          <p:cNvSpPr txBox="1"/>
          <p:nvPr/>
        </p:nvSpPr>
        <p:spPr>
          <a:xfrm>
            <a:off x="457200" y="475488"/>
            <a:ext cx="7315200" cy="566928"/>
          </a:xfrm>
          <a:prstGeom prst="rect">
            <a:avLst/>
          </a:prstGeom>
          <a:noFill/>
        </p:spPr>
        <p:txBody>
          <a:bodyPr wrap="square">
            <a:spAutoFit/>
          </a:bodyPr>
          <a:lstStyle/>
          <a:p>
            <a:pPr algn="l"/>
            <a:r>
              <a:rPr sz="2800" b="1" i="0">
                <a:solidFill>
                  <a:srgbClr val="FFFFFF"/>
                </a:solidFill>
                <a:latin typeface="Arial"/>
              </a:rPr>
              <a:t>Analysis Pipeline</a:t>
            </a:r>
          </a:p>
        </p:txBody>
      </p:sp>
      <p:sp>
        <p:nvSpPr>
          <p:cNvPr id="4" name="Rectangle 3"/>
          <p:cNvSpPr/>
          <p:nvPr/>
        </p:nvSpPr>
        <p:spPr>
          <a:xfrm>
            <a:off x="457200" y="1115568"/>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59" y="1335024"/>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39" y="1426464"/>
            <a:ext cx="2167128" cy="256032"/>
          </a:xfrm>
          <a:prstGeom prst="rect">
            <a:avLst/>
          </a:prstGeom>
          <a:noFill/>
        </p:spPr>
        <p:txBody>
          <a:bodyPr wrap="square">
            <a:spAutoFit/>
          </a:bodyPr>
          <a:lstStyle/>
          <a:p>
            <a:pPr algn="l"/>
            <a:r>
              <a:rPr sz="900" b="1" i="0">
                <a:solidFill>
                  <a:srgbClr val="626262"/>
                </a:solidFill>
                <a:latin typeface="Arial"/>
              </a:rPr>
              <a:t>01</a:t>
            </a:r>
          </a:p>
        </p:txBody>
      </p:sp>
      <p:sp>
        <p:nvSpPr>
          <p:cNvPr id="7" name="TextBox 6"/>
          <p:cNvSpPr txBox="1"/>
          <p:nvPr/>
        </p:nvSpPr>
        <p:spPr>
          <a:xfrm>
            <a:off x="1005839" y="1719072"/>
            <a:ext cx="2167128" cy="347472"/>
          </a:xfrm>
          <a:prstGeom prst="rect">
            <a:avLst/>
          </a:prstGeom>
          <a:noFill/>
        </p:spPr>
        <p:txBody>
          <a:bodyPr wrap="square">
            <a:spAutoFit/>
          </a:bodyPr>
          <a:lstStyle/>
          <a:p>
            <a:pPr algn="l"/>
            <a:r>
              <a:rPr sz="1100" b="1" i="0">
                <a:solidFill>
                  <a:srgbClr val="FFFFFF"/>
                </a:solidFill>
                <a:latin typeface="Arial"/>
              </a:rPr>
              <a:t>Rhino Geometry</a:t>
            </a:r>
          </a:p>
        </p:txBody>
      </p:sp>
      <p:sp>
        <p:nvSpPr>
          <p:cNvPr id="8" name="TextBox 7"/>
          <p:cNvSpPr txBox="1"/>
          <p:nvPr/>
        </p:nvSpPr>
        <p:spPr>
          <a:xfrm>
            <a:off x="1005839" y="2084831"/>
            <a:ext cx="2167128" cy="640080"/>
          </a:xfrm>
          <a:prstGeom prst="rect">
            <a:avLst/>
          </a:prstGeom>
          <a:noFill/>
        </p:spPr>
        <p:txBody>
          <a:bodyPr wrap="square">
            <a:spAutoFit/>
          </a:bodyPr>
          <a:lstStyle/>
          <a:p>
            <a:pPr algn="l"/>
            <a:r>
              <a:rPr sz="850" b="0" i="0">
                <a:solidFill>
                  <a:srgbClr val="969696"/>
                </a:solidFill>
                <a:latin typeface="Arial"/>
              </a:rPr>
              <a:t>Closed room solids
Door aperture faces
exported as OBJ</a:t>
            </a:r>
          </a:p>
        </p:txBody>
      </p:sp>
      <p:sp>
        <p:nvSpPr>
          <p:cNvPr id="9" name="Right Arrow 8"/>
          <p:cNvSpPr/>
          <p:nvPr/>
        </p:nvSpPr>
        <p:spPr>
          <a:xfrm>
            <a:off x="3255263" y="1929384"/>
            <a:ext cx="246887" cy="201168"/>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38728" y="1335024"/>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21608" y="1426464"/>
            <a:ext cx="2167128" cy="256032"/>
          </a:xfrm>
          <a:prstGeom prst="rect">
            <a:avLst/>
          </a:prstGeom>
          <a:noFill/>
        </p:spPr>
        <p:txBody>
          <a:bodyPr wrap="square">
            <a:spAutoFit/>
          </a:bodyPr>
          <a:lstStyle/>
          <a:p>
            <a:pPr algn="l"/>
            <a:r>
              <a:rPr sz="900" b="1" i="0">
                <a:solidFill>
                  <a:srgbClr val="626262"/>
                </a:solidFill>
                <a:latin typeface="Arial"/>
              </a:rPr>
              <a:t>02</a:t>
            </a:r>
          </a:p>
        </p:txBody>
      </p:sp>
      <p:sp>
        <p:nvSpPr>
          <p:cNvPr id="12" name="TextBox 11"/>
          <p:cNvSpPr txBox="1"/>
          <p:nvPr/>
        </p:nvSpPr>
        <p:spPr>
          <a:xfrm>
            <a:off x="3721608" y="1719072"/>
            <a:ext cx="2167128" cy="347472"/>
          </a:xfrm>
          <a:prstGeom prst="rect">
            <a:avLst/>
          </a:prstGeom>
          <a:noFill/>
        </p:spPr>
        <p:txBody>
          <a:bodyPr wrap="square">
            <a:spAutoFit/>
          </a:bodyPr>
          <a:lstStyle/>
          <a:p>
            <a:pPr algn="l"/>
            <a:r>
              <a:rPr sz="1100" b="1" i="0">
                <a:solidFill>
                  <a:srgbClr val="FFFFFF"/>
                </a:solidFill>
                <a:latin typeface="Arial"/>
              </a:rPr>
              <a:t>CellComplex</a:t>
            </a:r>
          </a:p>
        </p:txBody>
      </p:sp>
      <p:sp>
        <p:nvSpPr>
          <p:cNvPr id="13" name="TextBox 12"/>
          <p:cNvSpPr txBox="1"/>
          <p:nvPr/>
        </p:nvSpPr>
        <p:spPr>
          <a:xfrm>
            <a:off x="3721608" y="2084831"/>
            <a:ext cx="2167128" cy="640080"/>
          </a:xfrm>
          <a:prstGeom prst="rect">
            <a:avLst/>
          </a:prstGeom>
          <a:noFill/>
        </p:spPr>
        <p:txBody>
          <a:bodyPr wrap="square">
            <a:spAutoFit/>
          </a:bodyPr>
          <a:lstStyle/>
          <a:p>
            <a:pPr algn="l"/>
            <a:r>
              <a:rPr sz="850" b="0" i="0">
                <a:solidFill>
                  <a:srgbClr val="969696"/>
                </a:solidFill>
                <a:latin typeface="Arial"/>
              </a:rPr>
              <a:t>TopologicPy reads OBJ
Builds 3D cell adjacency
from shared faces</a:t>
            </a:r>
          </a:p>
        </p:txBody>
      </p:sp>
      <p:sp>
        <p:nvSpPr>
          <p:cNvPr id="14" name="Right Arrow 13"/>
          <p:cNvSpPr/>
          <p:nvPr/>
        </p:nvSpPr>
        <p:spPr>
          <a:xfrm>
            <a:off x="5971032" y="1929384"/>
            <a:ext cx="246887" cy="201168"/>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54496" y="1335024"/>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1426464"/>
            <a:ext cx="2167128" cy="256032"/>
          </a:xfrm>
          <a:prstGeom prst="rect">
            <a:avLst/>
          </a:prstGeom>
          <a:noFill/>
        </p:spPr>
        <p:txBody>
          <a:bodyPr wrap="square">
            <a:spAutoFit/>
          </a:bodyPr>
          <a:lstStyle/>
          <a:p>
            <a:pPr algn="l"/>
            <a:r>
              <a:rPr sz="900" b="1" i="0">
                <a:solidFill>
                  <a:srgbClr val="626262"/>
                </a:solidFill>
                <a:latin typeface="Arial"/>
              </a:rPr>
              <a:t>03</a:t>
            </a:r>
          </a:p>
        </p:txBody>
      </p:sp>
      <p:sp>
        <p:nvSpPr>
          <p:cNvPr id="17" name="TextBox 16"/>
          <p:cNvSpPr txBox="1"/>
          <p:nvPr/>
        </p:nvSpPr>
        <p:spPr>
          <a:xfrm>
            <a:off x="6437376" y="1719072"/>
            <a:ext cx="2167128" cy="347472"/>
          </a:xfrm>
          <a:prstGeom prst="rect">
            <a:avLst/>
          </a:prstGeom>
          <a:noFill/>
        </p:spPr>
        <p:txBody>
          <a:bodyPr wrap="square">
            <a:spAutoFit/>
          </a:bodyPr>
          <a:lstStyle/>
          <a:p>
            <a:pPr algn="l"/>
            <a:r>
              <a:rPr sz="1100" b="1" i="0">
                <a:solidFill>
                  <a:srgbClr val="FFFFFF"/>
                </a:solidFill>
                <a:latin typeface="Arial"/>
              </a:rPr>
              <a:t>Graph Construction</a:t>
            </a:r>
          </a:p>
        </p:txBody>
      </p:sp>
      <p:sp>
        <p:nvSpPr>
          <p:cNvPr id="18" name="TextBox 17"/>
          <p:cNvSpPr txBox="1"/>
          <p:nvPr/>
        </p:nvSpPr>
        <p:spPr>
          <a:xfrm>
            <a:off x="6437376" y="2084831"/>
            <a:ext cx="2167128" cy="640080"/>
          </a:xfrm>
          <a:prstGeom prst="rect">
            <a:avLst/>
          </a:prstGeom>
          <a:noFill/>
        </p:spPr>
        <p:txBody>
          <a:bodyPr wrap="square">
            <a:spAutoFit/>
          </a:bodyPr>
          <a:lstStyle/>
          <a:p>
            <a:pPr algn="l"/>
            <a:r>
              <a:rPr sz="850" b="0" i="0">
                <a:solidFill>
                  <a:srgbClr val="969696"/>
                </a:solidFill>
                <a:latin typeface="Arial"/>
              </a:rPr>
              <a:t>g1: adjacency (all faces)
g2: access (doors only)
Both built from same CellComplex</a:t>
            </a:r>
          </a:p>
        </p:txBody>
      </p:sp>
      <p:sp>
        <p:nvSpPr>
          <p:cNvPr id="19" name="Right Arrow 18"/>
          <p:cNvSpPr/>
          <p:nvPr/>
        </p:nvSpPr>
        <p:spPr>
          <a:xfrm>
            <a:off x="8686800" y="1929384"/>
            <a:ext cx="246887" cy="201168"/>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70264" y="1335024"/>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53144" y="1426464"/>
            <a:ext cx="2167128" cy="256032"/>
          </a:xfrm>
          <a:prstGeom prst="rect">
            <a:avLst/>
          </a:prstGeom>
          <a:noFill/>
        </p:spPr>
        <p:txBody>
          <a:bodyPr wrap="square">
            <a:spAutoFit/>
          </a:bodyPr>
          <a:lstStyle/>
          <a:p>
            <a:pPr algn="l"/>
            <a:r>
              <a:rPr sz="900" b="1" i="0">
                <a:solidFill>
                  <a:srgbClr val="626262"/>
                </a:solidFill>
                <a:latin typeface="Arial"/>
              </a:rPr>
              <a:t>04</a:t>
            </a:r>
          </a:p>
        </p:txBody>
      </p:sp>
      <p:sp>
        <p:nvSpPr>
          <p:cNvPr id="22" name="TextBox 21"/>
          <p:cNvSpPr txBox="1"/>
          <p:nvPr/>
        </p:nvSpPr>
        <p:spPr>
          <a:xfrm>
            <a:off x="9153144" y="1719072"/>
            <a:ext cx="2167128" cy="347472"/>
          </a:xfrm>
          <a:prstGeom prst="rect">
            <a:avLst/>
          </a:prstGeom>
          <a:noFill/>
        </p:spPr>
        <p:txBody>
          <a:bodyPr wrap="square">
            <a:spAutoFit/>
          </a:bodyPr>
          <a:lstStyle/>
          <a:p>
            <a:pPr algn="l"/>
            <a:r>
              <a:rPr sz="1100" b="1" i="0">
                <a:solidFill>
                  <a:srgbClr val="FFFFFF"/>
                </a:solidFill>
                <a:latin typeface="Arial"/>
              </a:rPr>
              <a:t>BFS Depth Analysis</a:t>
            </a:r>
          </a:p>
        </p:txBody>
      </p:sp>
      <p:sp>
        <p:nvSpPr>
          <p:cNvPr id="23" name="TextBox 22"/>
          <p:cNvSpPr txBox="1"/>
          <p:nvPr/>
        </p:nvSpPr>
        <p:spPr>
          <a:xfrm>
            <a:off x="9153144" y="2084831"/>
            <a:ext cx="2167128" cy="640080"/>
          </a:xfrm>
          <a:prstGeom prst="rect">
            <a:avLst/>
          </a:prstGeom>
          <a:noFill/>
        </p:spPr>
        <p:txBody>
          <a:bodyPr wrap="square">
            <a:spAutoFit/>
          </a:bodyPr>
          <a:lstStyle/>
          <a:p>
            <a:pPr algn="l"/>
            <a:r>
              <a:rPr sz="850" b="0" i="0">
                <a:solidFill>
                  <a:srgbClr val="969696"/>
                </a:solidFill>
                <a:latin typeface="Arial"/>
              </a:rPr>
              <a:t>NetworkX BFS on g2
Hop count from staircase
landingper room</a:t>
            </a:r>
          </a:p>
        </p:txBody>
      </p:sp>
      <p:sp>
        <p:nvSpPr>
          <p:cNvPr id="24" name="Down Arrow 23"/>
          <p:cNvSpPr/>
          <p:nvPr/>
        </p:nvSpPr>
        <p:spPr>
          <a:xfrm>
            <a:off x="10067544" y="2779776"/>
            <a:ext cx="201168" cy="493776"/>
          </a:xfrm>
          <a:prstGeom prst="downArrow">
            <a:avLst/>
          </a:prstGeom>
          <a:solidFill>
            <a:srgbClr val="626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70264" y="3310128"/>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3144" y="3401568"/>
            <a:ext cx="2167128" cy="256032"/>
          </a:xfrm>
          <a:prstGeom prst="rect">
            <a:avLst/>
          </a:prstGeom>
          <a:noFill/>
        </p:spPr>
        <p:txBody>
          <a:bodyPr wrap="square">
            <a:spAutoFit/>
          </a:bodyPr>
          <a:lstStyle/>
          <a:p>
            <a:pPr algn="l"/>
            <a:r>
              <a:rPr sz="900" b="1" i="0">
                <a:solidFill>
                  <a:srgbClr val="626262"/>
                </a:solidFill>
                <a:latin typeface="Arial"/>
              </a:rPr>
              <a:t>05</a:t>
            </a:r>
          </a:p>
        </p:txBody>
      </p:sp>
      <p:sp>
        <p:nvSpPr>
          <p:cNvPr id="27" name="TextBox 26"/>
          <p:cNvSpPr txBox="1"/>
          <p:nvPr/>
        </p:nvSpPr>
        <p:spPr>
          <a:xfrm>
            <a:off x="9153144" y="3694176"/>
            <a:ext cx="2167128" cy="347472"/>
          </a:xfrm>
          <a:prstGeom prst="rect">
            <a:avLst/>
          </a:prstGeom>
          <a:noFill/>
        </p:spPr>
        <p:txBody>
          <a:bodyPr wrap="square">
            <a:spAutoFit/>
          </a:bodyPr>
          <a:lstStyle/>
          <a:p>
            <a:pPr algn="l"/>
            <a:r>
              <a:rPr sz="1100" b="1" i="0">
                <a:solidFill>
                  <a:srgbClr val="FFFFFF"/>
                </a:solidFill>
                <a:latin typeface="Arial"/>
              </a:rPr>
              <a:t>Slab Formula</a:t>
            </a:r>
          </a:p>
        </p:txBody>
      </p:sp>
      <p:sp>
        <p:nvSpPr>
          <p:cNvPr id="28" name="TextBox 27"/>
          <p:cNvSpPr txBox="1"/>
          <p:nvPr/>
        </p:nvSpPr>
        <p:spPr>
          <a:xfrm>
            <a:off x="9153144" y="4059936"/>
            <a:ext cx="2167128" cy="640080"/>
          </a:xfrm>
          <a:prstGeom prst="rect">
            <a:avLst/>
          </a:prstGeom>
          <a:noFill/>
        </p:spPr>
        <p:txBody>
          <a:bodyPr wrap="square">
            <a:spAutoFit/>
          </a:bodyPr>
          <a:lstStyle/>
          <a:p>
            <a:pPr algn="l"/>
            <a:r>
              <a:rPr sz="850" b="0" i="0">
                <a:solidFill>
                  <a:srgbClr val="969696"/>
                </a:solidFill>
                <a:latin typeface="Arial"/>
              </a:rPr>
              <a:t>slab Z = -step x depth
Rhino: memorial slabs
+ step-bridges at doors</a:t>
            </a:r>
          </a:p>
        </p:txBody>
      </p:sp>
      <p:sp>
        <p:nvSpPr>
          <p:cNvPr id="29" name="Left Arrow 28"/>
          <p:cNvSpPr/>
          <p:nvPr/>
        </p:nvSpPr>
        <p:spPr>
          <a:xfrm>
            <a:off x="8686800" y="3904487"/>
            <a:ext cx="246887" cy="201168"/>
          </a:xfrm>
          <a:prstGeom prst="lef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54496" y="3310128"/>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37376" y="3401568"/>
            <a:ext cx="2167128" cy="256032"/>
          </a:xfrm>
          <a:prstGeom prst="rect">
            <a:avLst/>
          </a:prstGeom>
          <a:noFill/>
        </p:spPr>
        <p:txBody>
          <a:bodyPr wrap="square">
            <a:spAutoFit/>
          </a:bodyPr>
          <a:lstStyle/>
          <a:p>
            <a:pPr algn="l"/>
            <a:r>
              <a:rPr sz="900" b="1" i="0">
                <a:solidFill>
                  <a:srgbClr val="626262"/>
                </a:solidFill>
                <a:latin typeface="Arial"/>
              </a:rPr>
              <a:t>06</a:t>
            </a:r>
          </a:p>
        </p:txBody>
      </p:sp>
      <p:sp>
        <p:nvSpPr>
          <p:cNvPr id="32" name="TextBox 31"/>
          <p:cNvSpPr txBox="1"/>
          <p:nvPr/>
        </p:nvSpPr>
        <p:spPr>
          <a:xfrm>
            <a:off x="6437376" y="3694176"/>
            <a:ext cx="2167128" cy="347472"/>
          </a:xfrm>
          <a:prstGeom prst="rect">
            <a:avLst/>
          </a:prstGeom>
          <a:noFill/>
        </p:spPr>
        <p:txBody>
          <a:bodyPr wrap="square">
            <a:spAutoFit/>
          </a:bodyPr>
          <a:lstStyle/>
          <a:p>
            <a:pPr algn="l"/>
            <a:r>
              <a:rPr sz="1100" b="1" i="0">
                <a:solidFill>
                  <a:srgbClr val="FFFFFF"/>
                </a:solidFill>
                <a:latin typeface="Arial"/>
              </a:rPr>
              <a:t>Combined Graph</a:t>
            </a:r>
          </a:p>
        </p:txBody>
      </p:sp>
      <p:sp>
        <p:nvSpPr>
          <p:cNvPr id="33" name="TextBox 32"/>
          <p:cNvSpPr txBox="1"/>
          <p:nvPr/>
        </p:nvSpPr>
        <p:spPr>
          <a:xfrm>
            <a:off x="6437376" y="4059936"/>
            <a:ext cx="2167128" cy="640080"/>
          </a:xfrm>
          <a:prstGeom prst="rect">
            <a:avLst/>
          </a:prstGeom>
          <a:noFill/>
        </p:spPr>
        <p:txBody>
          <a:bodyPr wrap="square">
            <a:spAutoFit/>
          </a:bodyPr>
          <a:lstStyle/>
          <a:p>
            <a:pPr algn="l"/>
            <a:r>
              <a:rPr sz="850" b="0" i="0">
                <a:solidFill>
                  <a:srgbClr val="969696"/>
                </a:solidFill>
                <a:latin typeface="Arial"/>
              </a:rPr>
              <a:t>Intact section +
damaged block +
memorial in one CellComplex</a:t>
            </a:r>
          </a:p>
        </p:txBody>
      </p:sp>
      <p:sp>
        <p:nvSpPr>
          <p:cNvPr id="34" name="Left Arrow 33"/>
          <p:cNvSpPr/>
          <p:nvPr/>
        </p:nvSpPr>
        <p:spPr>
          <a:xfrm>
            <a:off x="5971032" y="3904487"/>
            <a:ext cx="246887" cy="201168"/>
          </a:xfrm>
          <a:prstGeom prst="lef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538728" y="3310128"/>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21608" y="3401568"/>
            <a:ext cx="2167128" cy="256032"/>
          </a:xfrm>
          <a:prstGeom prst="rect">
            <a:avLst/>
          </a:prstGeom>
          <a:noFill/>
        </p:spPr>
        <p:txBody>
          <a:bodyPr wrap="square">
            <a:spAutoFit/>
          </a:bodyPr>
          <a:lstStyle/>
          <a:p>
            <a:pPr algn="l"/>
            <a:r>
              <a:rPr sz="900" b="1" i="0">
                <a:solidFill>
                  <a:srgbClr val="626262"/>
                </a:solidFill>
                <a:latin typeface="Arial"/>
              </a:rPr>
              <a:t>07</a:t>
            </a:r>
          </a:p>
        </p:txBody>
      </p:sp>
      <p:sp>
        <p:nvSpPr>
          <p:cNvPr id="37" name="TextBox 36"/>
          <p:cNvSpPr txBox="1"/>
          <p:nvPr/>
        </p:nvSpPr>
        <p:spPr>
          <a:xfrm>
            <a:off x="3721608" y="3694176"/>
            <a:ext cx="2167128" cy="347472"/>
          </a:xfrm>
          <a:prstGeom prst="rect">
            <a:avLst/>
          </a:prstGeom>
          <a:noFill/>
        </p:spPr>
        <p:txBody>
          <a:bodyPr wrap="square">
            <a:spAutoFit/>
          </a:bodyPr>
          <a:lstStyle/>
          <a:p>
            <a:pPr algn="l"/>
            <a:r>
              <a:rPr sz="1100" b="1" i="0">
                <a:solidFill>
                  <a:srgbClr val="FFFFFF"/>
                </a:solidFill>
                <a:latin typeface="Arial"/>
              </a:rPr>
              <a:t>Feature Encoding</a:t>
            </a:r>
          </a:p>
        </p:txBody>
      </p:sp>
      <p:sp>
        <p:nvSpPr>
          <p:cNvPr id="38" name="TextBox 37"/>
          <p:cNvSpPr txBox="1"/>
          <p:nvPr/>
        </p:nvSpPr>
        <p:spPr>
          <a:xfrm>
            <a:off x="3721608" y="4059936"/>
            <a:ext cx="2167128" cy="640080"/>
          </a:xfrm>
          <a:prstGeom prst="rect">
            <a:avLst/>
          </a:prstGeom>
          <a:noFill/>
        </p:spPr>
        <p:txBody>
          <a:bodyPr wrap="square">
            <a:spAutoFit/>
          </a:bodyPr>
          <a:lstStyle/>
          <a:p>
            <a:pPr algn="l"/>
            <a:r>
              <a:rPr sz="850" b="0" i="0">
                <a:solidFill>
                  <a:srgbClr val="969696"/>
                </a:solidFill>
                <a:latin typeface="Arial"/>
              </a:rPr>
              <a:t>7-dim node vector
4 zoning one-hot
3 door-type ratios</a:t>
            </a:r>
          </a:p>
        </p:txBody>
      </p:sp>
      <p:sp>
        <p:nvSpPr>
          <p:cNvPr id="39" name="Left Arrow 38"/>
          <p:cNvSpPr/>
          <p:nvPr/>
        </p:nvSpPr>
        <p:spPr>
          <a:xfrm>
            <a:off x="3255263" y="3904487"/>
            <a:ext cx="246887" cy="201168"/>
          </a:xfrm>
          <a:prstGeom prst="lef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2959" y="3310128"/>
            <a:ext cx="2395728" cy="138988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39" y="3401568"/>
            <a:ext cx="2167128" cy="256032"/>
          </a:xfrm>
          <a:prstGeom prst="rect">
            <a:avLst/>
          </a:prstGeom>
          <a:noFill/>
        </p:spPr>
        <p:txBody>
          <a:bodyPr wrap="square">
            <a:spAutoFit/>
          </a:bodyPr>
          <a:lstStyle/>
          <a:p>
            <a:pPr algn="l"/>
            <a:r>
              <a:rPr sz="900" b="1" i="0">
                <a:solidFill>
                  <a:srgbClr val="626262"/>
                </a:solidFill>
                <a:latin typeface="Arial"/>
              </a:rPr>
              <a:t>08</a:t>
            </a:r>
          </a:p>
        </p:txBody>
      </p:sp>
      <p:sp>
        <p:nvSpPr>
          <p:cNvPr id="42" name="TextBox 41"/>
          <p:cNvSpPr txBox="1"/>
          <p:nvPr/>
        </p:nvSpPr>
        <p:spPr>
          <a:xfrm>
            <a:off x="1005839" y="3694176"/>
            <a:ext cx="2167128" cy="347472"/>
          </a:xfrm>
          <a:prstGeom prst="rect">
            <a:avLst/>
          </a:prstGeom>
          <a:noFill/>
        </p:spPr>
        <p:txBody>
          <a:bodyPr wrap="square">
            <a:spAutoFit/>
          </a:bodyPr>
          <a:lstStyle/>
          <a:p>
            <a:pPr algn="l"/>
            <a:r>
              <a:rPr sz="1100" b="1" i="0">
                <a:solidFill>
                  <a:srgbClr val="FFFFFF"/>
                </a:solidFill>
                <a:latin typeface="Arial"/>
              </a:rPr>
              <a:t>ML Prediction</a:t>
            </a:r>
          </a:p>
        </p:txBody>
      </p:sp>
      <p:sp>
        <p:nvSpPr>
          <p:cNvPr id="43" name="TextBox 42"/>
          <p:cNvSpPr txBox="1"/>
          <p:nvPr/>
        </p:nvSpPr>
        <p:spPr>
          <a:xfrm>
            <a:off x="1005839" y="4059936"/>
            <a:ext cx="2167128" cy="640080"/>
          </a:xfrm>
          <a:prstGeom prst="rect">
            <a:avLst/>
          </a:prstGeom>
          <a:noFill/>
        </p:spPr>
        <p:txBody>
          <a:bodyPr wrap="square">
            <a:spAutoFit/>
          </a:bodyPr>
          <a:lstStyle/>
          <a:p>
            <a:pPr algn="l"/>
            <a:r>
              <a:rPr sz="850" b="0" i="0">
                <a:solidFill>
                  <a:srgbClr val="969696"/>
                </a:solidFill>
                <a:latin typeface="Arial"/>
              </a:rPr>
              <a:t>Pretrained GraphSAGE
(MSD dataset)
new room function per node</a:t>
            </a:r>
          </a:p>
        </p:txBody>
      </p:sp>
      <p:sp>
        <p:nvSpPr>
          <p:cNvPr id="44" name="TextBox 43"/>
          <p:cNvSpPr txBox="1"/>
          <p:nvPr/>
        </p:nvSpPr>
        <p:spPr>
          <a:xfrm>
            <a:off x="822959" y="4864608"/>
            <a:ext cx="10972800" cy="320040"/>
          </a:xfrm>
          <a:prstGeom prst="rect">
            <a:avLst/>
          </a:prstGeom>
          <a:noFill/>
        </p:spPr>
        <p:txBody>
          <a:bodyPr wrap="square">
            <a:spAutoFit/>
          </a:bodyPr>
          <a:lstStyle/>
          <a:p>
            <a:pPr algn="l"/>
            <a:r>
              <a:rPr sz="950" b="0" i="1">
                <a:solidFill>
                  <a:srgbClr val="CCCCCC"/>
                </a:solidFill>
                <a:latin typeface="Arial"/>
              </a:rPr>
              <a:t>Output: 90 corridor  +  63 kitchen  +  9 livingroom  --  predicted new functions for 162 surviving rooms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3 -- INTACT SECTION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Adjacency Graph  g1</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256032"/>
          </a:xfrm>
          <a:prstGeom prst="rect">
            <a:avLst/>
          </a:prstGeom>
          <a:noFill/>
        </p:spPr>
        <p:txBody>
          <a:bodyPr wrap="square">
            <a:spAutoFit/>
          </a:bodyPr>
          <a:lstStyle/>
          <a:p>
            <a:pPr algn="l"/>
            <a:r>
              <a:rPr sz="1000" b="0" i="0">
                <a:solidFill>
                  <a:srgbClr val="969696"/>
                </a:solidFill>
                <a:latin typeface="Arial"/>
              </a:rPr>
              <a:t>direct = True  --  every shared face creates an edge, including floors and ceilings between storeys.</a:t>
            </a:r>
          </a:p>
        </p:txBody>
      </p:sp>
      <p:sp>
        <p:nvSpPr>
          <p:cNvPr id="6" name="TextBox 5"/>
          <p:cNvSpPr txBox="1"/>
          <p:nvPr/>
        </p:nvSpPr>
        <p:spPr>
          <a:xfrm>
            <a:off x="457200" y="1481328"/>
            <a:ext cx="11430000" cy="530352"/>
          </a:xfrm>
          <a:prstGeom prst="rect">
            <a:avLst/>
          </a:prstGeom>
          <a:noFill/>
        </p:spPr>
        <p:txBody>
          <a:bodyPr wrap="square">
            <a:spAutoFit/>
          </a:bodyPr>
          <a:lstStyle/>
          <a:p>
            <a:pPr algn="l"/>
            <a:r>
              <a:rPr sz="1000" b="0" i="0">
                <a:solidFill>
                  <a:srgbClr val="969696"/>
                </a:solidFill>
                <a:latin typeface="Arial"/>
              </a:rPr>
              <a:t>The staircase box touches every floor slab in the building; in g1 it connects to every room above and below it, making it an enormous hub. A bedroom on floor 3 has a direct edge to the bedroom on floor 4 through the shared slab. g1 is used for geometry inspection only -- its connectivity is structurally misleading for analysis.</a:t>
            </a:r>
          </a:p>
        </p:txBody>
      </p:sp>
      <p:pic>
        <p:nvPicPr>
          <p:cNvPr id="7" name="Picture 6" descr="adjacency.png"/>
          <p:cNvPicPr>
            <a:picLocks noChangeAspect="1"/>
          </p:cNvPicPr>
          <p:nvPr/>
        </p:nvPicPr>
        <p:blipFill>
          <a:blip r:embed="rId2"/>
          <a:stretch>
            <a:fillRect/>
          </a:stretch>
        </p:blipFill>
        <p:spPr>
          <a:xfrm>
            <a:off x="274320" y="2103120"/>
            <a:ext cx="3767328" cy="2077541"/>
          </a:xfrm>
          <a:prstGeom prst="rect">
            <a:avLst/>
          </a:prstGeom>
        </p:spPr>
      </p:pic>
      <p:sp>
        <p:nvSpPr>
          <p:cNvPr id="8" name="TextBox 7"/>
          <p:cNvSpPr txBox="1"/>
          <p:nvPr/>
        </p:nvSpPr>
        <p:spPr>
          <a:xfrm>
            <a:off x="274320" y="6565392"/>
            <a:ext cx="3767328" cy="256032"/>
          </a:xfrm>
          <a:prstGeom prst="rect">
            <a:avLst/>
          </a:prstGeom>
          <a:noFill/>
        </p:spPr>
        <p:txBody>
          <a:bodyPr wrap="square">
            <a:spAutoFit/>
          </a:bodyPr>
          <a:lstStyle/>
          <a:p>
            <a:pPr algn="l"/>
            <a:r>
              <a:rPr sz="800" b="0" i="1">
                <a:solidFill>
                  <a:srgbClr val="626262"/>
                </a:solidFill>
                <a:latin typeface="Arial"/>
              </a:rPr>
              <a:t>On geometry</a:t>
            </a:r>
          </a:p>
        </p:txBody>
      </p:sp>
      <p:pic>
        <p:nvPicPr>
          <p:cNvPr id="9" name="Picture 8" descr="adjacency1.png"/>
          <p:cNvPicPr>
            <a:picLocks noChangeAspect="1"/>
          </p:cNvPicPr>
          <p:nvPr/>
        </p:nvPicPr>
        <p:blipFill>
          <a:blip r:embed="rId3"/>
          <a:stretch>
            <a:fillRect/>
          </a:stretch>
        </p:blipFill>
        <p:spPr>
          <a:xfrm>
            <a:off x="4178808" y="2103120"/>
            <a:ext cx="3767328" cy="2059364"/>
          </a:xfrm>
          <a:prstGeom prst="rect">
            <a:avLst/>
          </a:prstGeom>
        </p:spPr>
      </p:pic>
      <p:sp>
        <p:nvSpPr>
          <p:cNvPr id="10" name="TextBox 9"/>
          <p:cNvSpPr txBox="1"/>
          <p:nvPr/>
        </p:nvSpPr>
        <p:spPr>
          <a:xfrm>
            <a:off x="4178808" y="6565392"/>
            <a:ext cx="3767328" cy="256032"/>
          </a:xfrm>
          <a:prstGeom prst="rect">
            <a:avLst/>
          </a:prstGeom>
          <a:noFill/>
        </p:spPr>
        <p:txBody>
          <a:bodyPr wrap="square">
            <a:spAutoFit/>
          </a:bodyPr>
          <a:lstStyle/>
          <a:p>
            <a:pPr algn="l"/>
            <a:r>
              <a:rPr sz="800" b="0" i="1">
                <a:solidFill>
                  <a:srgbClr val="626262"/>
                </a:solidFill>
                <a:latin typeface="Arial"/>
              </a:rPr>
              <a:t>3D isolated -- dense through-slab edges</a:t>
            </a:r>
          </a:p>
        </p:txBody>
      </p:sp>
      <p:pic>
        <p:nvPicPr>
          <p:cNvPr id="11" name="Picture 10" descr="adjacency2.png"/>
          <p:cNvPicPr>
            <a:picLocks noChangeAspect="1"/>
          </p:cNvPicPr>
          <p:nvPr/>
        </p:nvPicPr>
        <p:blipFill>
          <a:blip r:embed="rId4"/>
          <a:stretch>
            <a:fillRect/>
          </a:stretch>
        </p:blipFill>
        <p:spPr>
          <a:xfrm>
            <a:off x="8092440" y="2103120"/>
            <a:ext cx="3767328" cy="2036939"/>
          </a:xfrm>
          <a:prstGeom prst="rect">
            <a:avLst/>
          </a:prstGeom>
        </p:spPr>
      </p:pic>
      <p:sp>
        <p:nvSpPr>
          <p:cNvPr id="12" name="TextBox 11"/>
          <p:cNvSpPr txBox="1"/>
          <p:nvPr/>
        </p:nvSpPr>
        <p:spPr>
          <a:xfrm>
            <a:off x="8092440" y="6565392"/>
            <a:ext cx="3767328" cy="256032"/>
          </a:xfrm>
          <a:prstGeom prst="rect">
            <a:avLst/>
          </a:prstGeom>
          <a:noFill/>
        </p:spPr>
        <p:txBody>
          <a:bodyPr wrap="square">
            <a:spAutoFit/>
          </a:bodyPr>
          <a:lstStyle/>
          <a:p>
            <a:pPr algn="l"/>
            <a:r>
              <a:rPr sz="800" b="0" i="1">
                <a:solidFill>
                  <a:srgbClr val="626262"/>
                </a:solidFill>
                <a:latin typeface="Arial"/>
              </a:rPr>
              <a:t>Plan -- repeating double fan, 9 floors collapsed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3 -- INTACT SECTION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Access Graph  g2</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256032"/>
          </a:xfrm>
          <a:prstGeom prst="rect">
            <a:avLst/>
          </a:prstGeom>
          <a:noFill/>
        </p:spPr>
        <p:txBody>
          <a:bodyPr wrap="square">
            <a:spAutoFit/>
          </a:bodyPr>
          <a:lstStyle/>
          <a:p>
            <a:pPr algn="l"/>
            <a:r>
              <a:rPr sz="1000" b="0" i="0">
                <a:solidFill>
                  <a:srgbClr val="969696"/>
                </a:solidFill>
                <a:latin typeface="Arial"/>
              </a:rPr>
              <a:t>direct = False,  viaSharedApertures = True  --  only door aperture faces create edges.</a:t>
            </a:r>
          </a:p>
        </p:txBody>
      </p:sp>
      <p:sp>
        <p:nvSpPr>
          <p:cNvPr id="6" name="TextBox 5"/>
          <p:cNvSpPr txBox="1"/>
          <p:nvPr/>
        </p:nvSpPr>
        <p:spPr>
          <a:xfrm>
            <a:off x="457200" y="1481328"/>
            <a:ext cx="11430000" cy="749808"/>
          </a:xfrm>
          <a:prstGeom prst="rect">
            <a:avLst/>
          </a:prstGeom>
          <a:noFill/>
        </p:spPr>
        <p:txBody>
          <a:bodyPr wrap="square">
            <a:spAutoFit/>
          </a:bodyPr>
          <a:lstStyle/>
          <a:p>
            <a:pPr algn="l"/>
            <a:r>
              <a:rPr sz="1000" b="0" i="0">
                <a:solidFill>
                  <a:srgbClr val="969696"/>
                </a:solidFill>
                <a:latin typeface="Arial"/>
              </a:rPr>
              <a:t>The door OBJ files tag each aperture face by type: entrance door, room door, or passage threshold. Only these faces produce edges. Through-slab connections disappear entirely. Bedrooms and bathrooms become leaf nodes with a single incident edge. The staircase connects only to its landings. g2 represents the movement graph -- the paths a person can actually walk. This is the graph used for BFS depth analysis, slab height computation, feature encoding, and ML training.</a:t>
            </a:r>
          </a:p>
        </p:txBody>
      </p:sp>
      <p:pic>
        <p:nvPicPr>
          <p:cNvPr id="7" name="Picture 6" descr="access.png"/>
          <p:cNvPicPr>
            <a:picLocks noChangeAspect="1"/>
          </p:cNvPicPr>
          <p:nvPr/>
        </p:nvPicPr>
        <p:blipFill>
          <a:blip r:embed="rId2"/>
          <a:stretch>
            <a:fillRect/>
          </a:stretch>
        </p:blipFill>
        <p:spPr>
          <a:xfrm>
            <a:off x="365760" y="2377440"/>
            <a:ext cx="11457432" cy="6334698"/>
          </a:xfrm>
          <a:prstGeom prst="rect">
            <a:avLst/>
          </a:prstGeom>
        </p:spPr>
      </p:pic>
      <p:sp>
        <p:nvSpPr>
          <p:cNvPr id="8" name="TextBox 7"/>
          <p:cNvSpPr txBox="1"/>
          <p:nvPr/>
        </p:nvSpPr>
        <p:spPr>
          <a:xfrm>
            <a:off x="365760" y="6565392"/>
            <a:ext cx="9144000" cy="256032"/>
          </a:xfrm>
          <a:prstGeom prst="rect">
            <a:avLst/>
          </a:prstGeom>
          <a:noFill/>
        </p:spPr>
        <p:txBody>
          <a:bodyPr wrap="square">
            <a:spAutoFit/>
          </a:bodyPr>
          <a:lstStyle/>
          <a:p>
            <a:pPr algn="l"/>
            <a:r>
              <a:rPr sz="800" b="0" i="1">
                <a:solidFill>
                  <a:srgbClr val="626262"/>
                </a:solidFill>
                <a:latin typeface="Arial"/>
              </a:rPr>
              <a:t>g2 on geometry -- node colors = room type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4 -- SPATIAL ANALYSIS</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Depth from Entrance</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7132320" cy="566928"/>
          </a:xfrm>
          <a:prstGeom prst="rect">
            <a:avLst/>
          </a:prstGeom>
          <a:noFill/>
        </p:spPr>
        <p:txBody>
          <a:bodyPr wrap="square">
            <a:spAutoFit/>
          </a:bodyPr>
          <a:lstStyle/>
          <a:p>
            <a:pPr algn="l"/>
            <a:r>
              <a:rPr sz="1000" b="0" i="0">
                <a:solidFill>
                  <a:srgbClr val="969696"/>
                </a:solidFill>
                <a:latin typeface="Arial"/>
              </a:rPr>
              <a:t>BFS runs on g2, starting from the staircase landing node. The hop count to each room is its depth: the number of door apertures a person must cross to reach that room from the staircase. No geometry involved -- only graph structure.</a:t>
            </a:r>
          </a:p>
        </p:txBody>
      </p:sp>
      <p:sp>
        <p:nvSpPr>
          <p:cNvPr id="6" name="Rectangle 5"/>
          <p:cNvSpPr/>
          <p:nvPr/>
        </p:nvSpPr>
        <p:spPr>
          <a:xfrm>
            <a:off x="365760" y="1993392"/>
            <a:ext cx="7132320" cy="87782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029968"/>
            <a:ext cx="502920" cy="502920"/>
          </a:xfrm>
          <a:prstGeom prst="rect">
            <a:avLst/>
          </a:prstGeom>
          <a:noFill/>
        </p:spPr>
        <p:txBody>
          <a:bodyPr wrap="square">
            <a:spAutoFit/>
          </a:bodyPr>
          <a:lstStyle/>
          <a:p>
            <a:pPr algn="l"/>
            <a:r>
              <a:rPr sz="2800" b="1" i="0">
                <a:solidFill>
                  <a:srgbClr val="CCCCCC"/>
                </a:solidFill>
                <a:latin typeface="Arial"/>
              </a:rPr>
              <a:t>0</a:t>
            </a:r>
          </a:p>
        </p:txBody>
      </p:sp>
      <p:sp>
        <p:nvSpPr>
          <p:cNvPr id="8" name="TextBox 7"/>
          <p:cNvSpPr txBox="1"/>
          <p:nvPr/>
        </p:nvSpPr>
        <p:spPr>
          <a:xfrm>
            <a:off x="1188720" y="2057400"/>
            <a:ext cx="4114800" cy="274320"/>
          </a:xfrm>
          <a:prstGeom prst="rect">
            <a:avLst/>
          </a:prstGeom>
          <a:noFill/>
        </p:spPr>
        <p:txBody>
          <a:bodyPr wrap="square">
            <a:spAutoFit/>
          </a:bodyPr>
          <a:lstStyle/>
          <a:p>
            <a:pPr algn="l"/>
            <a:r>
              <a:rPr sz="1100" b="1" i="0">
                <a:solidFill>
                  <a:srgbClr val="FFFFFF"/>
                </a:solidFill>
                <a:latin typeface="Arial"/>
              </a:rPr>
              <a:t>Staircase landing</a:t>
            </a:r>
          </a:p>
        </p:txBody>
      </p:sp>
      <p:sp>
        <p:nvSpPr>
          <p:cNvPr id="9" name="TextBox 8"/>
          <p:cNvSpPr txBox="1"/>
          <p:nvPr/>
        </p:nvSpPr>
        <p:spPr>
          <a:xfrm>
            <a:off x="1188720" y="2359152"/>
            <a:ext cx="6126480" cy="274320"/>
          </a:xfrm>
          <a:prstGeom prst="rect">
            <a:avLst/>
          </a:prstGeom>
          <a:noFill/>
        </p:spPr>
        <p:txBody>
          <a:bodyPr wrap="square">
            <a:spAutoFit/>
          </a:bodyPr>
          <a:lstStyle/>
          <a:p>
            <a:pPr algn="l"/>
            <a:r>
              <a:rPr sz="900" b="0" i="0">
                <a:solidFill>
                  <a:srgbClr val="969696"/>
                </a:solidFill>
                <a:latin typeface="Arial"/>
              </a:rPr>
              <a:t>Graph origin. BFS starts here.</a:t>
            </a:r>
          </a:p>
        </p:txBody>
      </p:sp>
      <p:sp>
        <p:nvSpPr>
          <p:cNvPr id="10" name="Rectangle 9"/>
          <p:cNvSpPr/>
          <p:nvPr/>
        </p:nvSpPr>
        <p:spPr>
          <a:xfrm>
            <a:off x="365760" y="2944368"/>
            <a:ext cx="7132320" cy="87782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980944"/>
            <a:ext cx="502920" cy="502920"/>
          </a:xfrm>
          <a:prstGeom prst="rect">
            <a:avLst/>
          </a:prstGeom>
          <a:noFill/>
        </p:spPr>
        <p:txBody>
          <a:bodyPr wrap="square">
            <a:spAutoFit/>
          </a:bodyPr>
          <a:lstStyle/>
          <a:p>
            <a:pPr algn="l"/>
            <a:r>
              <a:rPr sz="2800" b="1" i="0">
                <a:solidFill>
                  <a:srgbClr val="CCCCCC"/>
                </a:solidFill>
                <a:latin typeface="Arial"/>
              </a:rPr>
              <a:t>1</a:t>
            </a:r>
          </a:p>
        </p:txBody>
      </p:sp>
      <p:sp>
        <p:nvSpPr>
          <p:cNvPr id="12" name="TextBox 11"/>
          <p:cNvSpPr txBox="1"/>
          <p:nvPr/>
        </p:nvSpPr>
        <p:spPr>
          <a:xfrm>
            <a:off x="1188720" y="3008376"/>
            <a:ext cx="4114800" cy="274320"/>
          </a:xfrm>
          <a:prstGeom prst="rect">
            <a:avLst/>
          </a:prstGeom>
          <a:noFill/>
        </p:spPr>
        <p:txBody>
          <a:bodyPr wrap="square">
            <a:spAutoFit/>
          </a:bodyPr>
          <a:lstStyle/>
          <a:p>
            <a:pPr algn="l"/>
            <a:r>
              <a:rPr sz="1100" b="1" i="0">
                <a:solidFill>
                  <a:srgbClr val="FFFFFF"/>
                </a:solidFill>
                <a:latin typeface="Arial"/>
              </a:rPr>
              <a:t>Apartment hall / corridor</a:t>
            </a:r>
          </a:p>
        </p:txBody>
      </p:sp>
      <p:sp>
        <p:nvSpPr>
          <p:cNvPr id="13" name="TextBox 12"/>
          <p:cNvSpPr txBox="1"/>
          <p:nvPr/>
        </p:nvSpPr>
        <p:spPr>
          <a:xfrm>
            <a:off x="1188720" y="3310128"/>
            <a:ext cx="6126480" cy="274320"/>
          </a:xfrm>
          <a:prstGeom prst="rect">
            <a:avLst/>
          </a:prstGeom>
          <a:noFill/>
        </p:spPr>
        <p:txBody>
          <a:bodyPr wrap="square">
            <a:spAutoFit/>
          </a:bodyPr>
          <a:lstStyle/>
          <a:p>
            <a:pPr algn="l"/>
            <a:r>
              <a:rPr sz="900" b="0" i="0">
                <a:solidFill>
                  <a:srgbClr val="969696"/>
                </a:solidFill>
                <a:latin typeface="Arial"/>
              </a:rPr>
              <a:t>One door crossing: the entrance door.</a:t>
            </a:r>
          </a:p>
        </p:txBody>
      </p:sp>
      <p:sp>
        <p:nvSpPr>
          <p:cNvPr id="14" name="Rectangle 13"/>
          <p:cNvSpPr/>
          <p:nvPr/>
        </p:nvSpPr>
        <p:spPr>
          <a:xfrm>
            <a:off x="365760" y="3895344"/>
            <a:ext cx="7132320" cy="87782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931920"/>
            <a:ext cx="502920" cy="502920"/>
          </a:xfrm>
          <a:prstGeom prst="rect">
            <a:avLst/>
          </a:prstGeom>
          <a:noFill/>
        </p:spPr>
        <p:txBody>
          <a:bodyPr wrap="square">
            <a:spAutoFit/>
          </a:bodyPr>
          <a:lstStyle/>
          <a:p>
            <a:pPr algn="l"/>
            <a:r>
              <a:rPr sz="2800" b="1" i="0">
                <a:solidFill>
                  <a:srgbClr val="CCCCCC"/>
                </a:solidFill>
                <a:latin typeface="Arial"/>
              </a:rPr>
              <a:t>2</a:t>
            </a:r>
          </a:p>
        </p:txBody>
      </p:sp>
      <p:sp>
        <p:nvSpPr>
          <p:cNvPr id="16" name="TextBox 15"/>
          <p:cNvSpPr txBox="1"/>
          <p:nvPr/>
        </p:nvSpPr>
        <p:spPr>
          <a:xfrm>
            <a:off x="1188720" y="3959352"/>
            <a:ext cx="4114800" cy="274320"/>
          </a:xfrm>
          <a:prstGeom prst="rect">
            <a:avLst/>
          </a:prstGeom>
          <a:noFill/>
        </p:spPr>
        <p:txBody>
          <a:bodyPr wrap="square">
            <a:spAutoFit/>
          </a:bodyPr>
          <a:lstStyle/>
          <a:p>
            <a:pPr algn="l"/>
            <a:r>
              <a:rPr sz="1100" b="1" i="0">
                <a:solidFill>
                  <a:srgbClr val="FFFFFF"/>
                </a:solidFill>
                <a:latin typeface="Arial"/>
              </a:rPr>
              <a:t>Kitchen, bathroom, storeroom</a:t>
            </a:r>
          </a:p>
        </p:txBody>
      </p:sp>
      <p:sp>
        <p:nvSpPr>
          <p:cNvPr id="17" name="TextBox 16"/>
          <p:cNvSpPr txBox="1"/>
          <p:nvPr/>
        </p:nvSpPr>
        <p:spPr>
          <a:xfrm>
            <a:off x="1188720" y="4261104"/>
            <a:ext cx="6126480" cy="274320"/>
          </a:xfrm>
          <a:prstGeom prst="rect">
            <a:avLst/>
          </a:prstGeom>
          <a:noFill/>
        </p:spPr>
        <p:txBody>
          <a:bodyPr wrap="square">
            <a:spAutoFit/>
          </a:bodyPr>
          <a:lstStyle/>
          <a:p>
            <a:pPr algn="l"/>
            <a:r>
              <a:rPr sz="900" b="0" i="0">
                <a:solidFill>
                  <a:srgbClr val="969696"/>
                </a:solidFill>
                <a:latin typeface="Arial"/>
              </a:rPr>
              <a:t>Two crossings: entrance + one internal door.</a:t>
            </a:r>
          </a:p>
        </p:txBody>
      </p:sp>
      <p:sp>
        <p:nvSpPr>
          <p:cNvPr id="18" name="Rectangle 17"/>
          <p:cNvSpPr/>
          <p:nvPr/>
        </p:nvSpPr>
        <p:spPr>
          <a:xfrm>
            <a:off x="365760" y="4846320"/>
            <a:ext cx="7132320" cy="87782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882896"/>
            <a:ext cx="502920" cy="502920"/>
          </a:xfrm>
          <a:prstGeom prst="rect">
            <a:avLst/>
          </a:prstGeom>
          <a:noFill/>
        </p:spPr>
        <p:txBody>
          <a:bodyPr wrap="square">
            <a:spAutoFit/>
          </a:bodyPr>
          <a:lstStyle/>
          <a:p>
            <a:pPr algn="l"/>
            <a:r>
              <a:rPr sz="2800" b="1" i="0">
                <a:solidFill>
                  <a:srgbClr val="CCCCCC"/>
                </a:solidFill>
                <a:latin typeface="Arial"/>
              </a:rPr>
              <a:t>3</a:t>
            </a:r>
          </a:p>
        </p:txBody>
      </p:sp>
      <p:sp>
        <p:nvSpPr>
          <p:cNvPr id="20" name="TextBox 19"/>
          <p:cNvSpPr txBox="1"/>
          <p:nvPr/>
        </p:nvSpPr>
        <p:spPr>
          <a:xfrm>
            <a:off x="1188720" y="4910328"/>
            <a:ext cx="4114800" cy="274320"/>
          </a:xfrm>
          <a:prstGeom prst="rect">
            <a:avLst/>
          </a:prstGeom>
          <a:noFill/>
        </p:spPr>
        <p:txBody>
          <a:bodyPr wrap="square">
            <a:spAutoFit/>
          </a:bodyPr>
          <a:lstStyle/>
          <a:p>
            <a:pPr algn="l"/>
            <a:r>
              <a:rPr sz="1100" b="1" i="0">
                <a:solidFill>
                  <a:srgbClr val="FFFFFF"/>
                </a:solidFill>
                <a:latin typeface="Arial"/>
              </a:rPr>
              <a:t>Bedroom, livingroom, balcony</a:t>
            </a:r>
          </a:p>
        </p:txBody>
      </p:sp>
      <p:sp>
        <p:nvSpPr>
          <p:cNvPr id="21" name="TextBox 20"/>
          <p:cNvSpPr txBox="1"/>
          <p:nvPr/>
        </p:nvSpPr>
        <p:spPr>
          <a:xfrm>
            <a:off x="1188720" y="5212080"/>
            <a:ext cx="6126480" cy="274320"/>
          </a:xfrm>
          <a:prstGeom prst="rect">
            <a:avLst/>
          </a:prstGeom>
          <a:noFill/>
        </p:spPr>
        <p:txBody>
          <a:bodyPr wrap="square">
            <a:spAutoFit/>
          </a:bodyPr>
          <a:lstStyle/>
          <a:p>
            <a:pPr algn="l"/>
            <a:r>
              <a:rPr sz="900" b="0" i="0">
                <a:solidFill>
                  <a:srgbClr val="969696"/>
                </a:solidFill>
                <a:latin typeface="Arial"/>
              </a:rPr>
              <a:t>Three crossings: entrance + two internal doors.</a:t>
            </a:r>
          </a:p>
        </p:txBody>
      </p:sp>
      <p:sp>
        <p:nvSpPr>
          <p:cNvPr id="22" name="Rectangle 21"/>
          <p:cNvSpPr/>
          <p:nvPr/>
        </p:nvSpPr>
        <p:spPr>
          <a:xfrm>
            <a:off x="7882127" y="1993392"/>
            <a:ext cx="3913632" cy="212140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65008" y="2103120"/>
            <a:ext cx="3657600" cy="256032"/>
          </a:xfrm>
          <a:prstGeom prst="rect">
            <a:avLst/>
          </a:prstGeom>
          <a:noFill/>
        </p:spPr>
        <p:txBody>
          <a:bodyPr wrap="square">
            <a:spAutoFit/>
          </a:bodyPr>
          <a:lstStyle/>
          <a:p>
            <a:pPr algn="l"/>
            <a:r>
              <a:rPr sz="900" b="0" i="0">
                <a:solidFill>
                  <a:srgbClr val="969696"/>
                </a:solidFill>
                <a:latin typeface="Arial"/>
              </a:rPr>
              <a:t>Formula</a:t>
            </a:r>
          </a:p>
        </p:txBody>
      </p:sp>
      <p:sp>
        <p:nvSpPr>
          <p:cNvPr id="24" name="TextBox 23"/>
          <p:cNvSpPr txBox="1"/>
          <p:nvPr/>
        </p:nvSpPr>
        <p:spPr>
          <a:xfrm>
            <a:off x="8065008" y="2423160"/>
            <a:ext cx="3657600" cy="777240"/>
          </a:xfrm>
          <a:prstGeom prst="rect">
            <a:avLst/>
          </a:prstGeom>
          <a:noFill/>
        </p:spPr>
        <p:txBody>
          <a:bodyPr wrap="square">
            <a:spAutoFit/>
          </a:bodyPr>
          <a:lstStyle/>
          <a:p>
            <a:pPr algn="l"/>
            <a:r>
              <a:rPr sz="1800" b="1" i="0">
                <a:solidFill>
                  <a:srgbClr val="FFFFFF"/>
                </a:solidFill>
                <a:latin typeface="Arial"/>
              </a:rPr>
              <a:t>slab Z  =
-step x depth</a:t>
            </a:r>
          </a:p>
        </p:txBody>
      </p:sp>
      <p:sp>
        <p:nvSpPr>
          <p:cNvPr id="25" name="TextBox 24"/>
          <p:cNvSpPr txBox="1"/>
          <p:nvPr/>
        </p:nvSpPr>
        <p:spPr>
          <a:xfrm>
            <a:off x="8065008" y="3291840"/>
            <a:ext cx="3657600" cy="768096"/>
          </a:xfrm>
          <a:prstGeom prst="rect">
            <a:avLst/>
          </a:prstGeom>
          <a:noFill/>
        </p:spPr>
        <p:txBody>
          <a:bodyPr wrap="square">
            <a:spAutoFit/>
          </a:bodyPr>
          <a:lstStyle/>
          <a:p>
            <a:pPr algn="l"/>
            <a:r>
              <a:rPr sz="1000" b="0" i="0">
                <a:solidFill>
                  <a:srgbClr val="969696"/>
                </a:solidFill>
                <a:latin typeface="Arial"/>
              </a:rPr>
              <a:t>depth 0  --&gt;  ground level
depth 12  --&gt;  lowest slab
13 distinct Z levels</a:t>
            </a:r>
          </a:p>
        </p:txBody>
      </p:sp>
      <p:sp>
        <p:nvSpPr>
          <p:cNvPr id="26" name="Rectangle 25"/>
          <p:cNvSpPr/>
          <p:nvPr/>
        </p:nvSpPr>
        <p:spPr>
          <a:xfrm>
            <a:off x="7882127" y="4251960"/>
            <a:ext cx="3913632" cy="157276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65008" y="4361688"/>
            <a:ext cx="3657600" cy="256032"/>
          </a:xfrm>
          <a:prstGeom prst="rect">
            <a:avLst/>
          </a:prstGeom>
          <a:noFill/>
        </p:spPr>
        <p:txBody>
          <a:bodyPr wrap="square">
            <a:spAutoFit/>
          </a:bodyPr>
          <a:lstStyle/>
          <a:p>
            <a:pPr algn="l"/>
            <a:r>
              <a:rPr sz="900" b="0" i="0">
                <a:solidFill>
                  <a:srgbClr val="969696"/>
                </a:solidFill>
                <a:latin typeface="Arial"/>
              </a:rPr>
              <a:t>Intact section</a:t>
            </a:r>
          </a:p>
        </p:txBody>
      </p:sp>
      <p:sp>
        <p:nvSpPr>
          <p:cNvPr id="28" name="TextBox 27"/>
          <p:cNvSpPr txBox="1"/>
          <p:nvPr/>
        </p:nvSpPr>
        <p:spPr>
          <a:xfrm>
            <a:off x="8065008" y="4663440"/>
            <a:ext cx="3675887" cy="1115568"/>
          </a:xfrm>
          <a:prstGeom prst="rect">
            <a:avLst/>
          </a:prstGeom>
          <a:noFill/>
        </p:spPr>
        <p:txBody>
          <a:bodyPr wrap="square">
            <a:spAutoFit/>
          </a:bodyPr>
          <a:lstStyle/>
          <a:p>
            <a:pPr algn="l"/>
            <a:r>
              <a:rPr sz="1000" b="0" i="0">
                <a:solidFill>
                  <a:srgbClr val="CCCCCC"/>
                </a:solidFill>
                <a:latin typeface="Arial"/>
              </a:rPr>
              <a:t>BFS depth ranges from 0 to 3 across the intact nine-storey section. The damaged block, once merged, extends this to depth 12 because the memorial slabs fan outward from the surviving corridors, adding more graph distance from the staircase.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topology_all.png"/>
          <p:cNvPicPr>
            <a:picLocks noChangeAspect="1"/>
          </p:cNvPicPr>
          <p:nvPr/>
        </p:nvPicPr>
        <p:blipFill>
          <a:blip r:embed="rId2"/>
          <a:stretch>
            <a:fillRect/>
          </a:stretch>
        </p:blipFill>
        <p:spPr>
          <a:xfrm>
            <a:off x="0" y="0"/>
            <a:ext cx="12188952" cy="6584386"/>
          </a:xfrm>
          <a:prstGeom prst="rect">
            <a:avLst/>
          </a:prstGeom>
        </p:spPr>
      </p:pic>
      <p:sp>
        <p:nvSpPr>
          <p:cNvPr id="3" name="Rectangle 2"/>
          <p:cNvSpPr/>
          <p:nvPr/>
        </p:nvSpPr>
        <p:spPr>
          <a:xfrm>
            <a:off x="0" y="5321808"/>
            <a:ext cx="12188952" cy="153619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5394960"/>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522976"/>
            <a:ext cx="5486400" cy="201168"/>
          </a:xfrm>
          <a:prstGeom prst="rect">
            <a:avLst/>
          </a:prstGeom>
          <a:noFill/>
        </p:spPr>
        <p:txBody>
          <a:bodyPr wrap="square">
            <a:spAutoFit/>
          </a:bodyPr>
          <a:lstStyle/>
          <a:p>
            <a:pPr algn="l"/>
            <a:r>
              <a:rPr sz="700" b="0" i="0">
                <a:solidFill>
                  <a:srgbClr val="626262"/>
                </a:solidFill>
                <a:latin typeface="Arial"/>
              </a:rPr>
              <a:t>PHASE 6 -- COMBINED CELLCOMPLEX</a:t>
            </a:r>
          </a:p>
        </p:txBody>
      </p:sp>
      <p:sp>
        <p:nvSpPr>
          <p:cNvPr id="6" name="TextBox 5"/>
          <p:cNvSpPr txBox="1"/>
          <p:nvPr/>
        </p:nvSpPr>
        <p:spPr>
          <a:xfrm>
            <a:off x="457200" y="5742432"/>
            <a:ext cx="6858000" cy="411480"/>
          </a:xfrm>
          <a:prstGeom prst="rect">
            <a:avLst/>
          </a:prstGeom>
          <a:noFill/>
        </p:spPr>
        <p:txBody>
          <a:bodyPr wrap="square">
            <a:spAutoFit/>
          </a:bodyPr>
          <a:lstStyle/>
          <a:p>
            <a:pPr algn="l"/>
            <a:r>
              <a:rPr sz="1400" b="1" i="0">
                <a:solidFill>
                  <a:srgbClr val="FFFFFF"/>
                </a:solidFill>
                <a:latin typeface="Arial"/>
              </a:rPr>
              <a:t>Intact section  +  Damaged block  +  Memorial intervention</a:t>
            </a:r>
          </a:p>
        </p:txBody>
      </p:sp>
      <p:sp>
        <p:nvSpPr>
          <p:cNvPr id="7" name="TextBox 6"/>
          <p:cNvSpPr txBox="1"/>
          <p:nvPr/>
        </p:nvSpPr>
        <p:spPr>
          <a:xfrm>
            <a:off x="457200" y="6236208"/>
            <a:ext cx="8686800" cy="411480"/>
          </a:xfrm>
          <a:prstGeom prst="rect">
            <a:avLst/>
          </a:prstGeom>
          <a:noFill/>
        </p:spPr>
        <p:txBody>
          <a:bodyPr wrap="square">
            <a:spAutoFit/>
          </a:bodyPr>
          <a:lstStyle/>
          <a:p>
            <a:pPr algn="l"/>
            <a:r>
              <a:rPr sz="950" b="0" i="0">
                <a:solidFill>
                  <a:srgbClr val="969696"/>
                </a:solidFill>
                <a:latin typeface="Arial"/>
              </a:rPr>
              <a:t>596 cells. The staircase spine at center connects both halves. Right: intact section, real room types. Left: surviving damaged rooms (corridor, yellow) and memorial slabs (balcony, green).</a:t>
            </a:r>
          </a:p>
        </p:txBody>
      </p:sp>
      <p:sp>
        <p:nvSpPr>
          <p:cNvPr id="8" name="Rectangle 7"/>
          <p:cNvSpPr/>
          <p:nvPr/>
        </p:nvSpPr>
        <p:spPr>
          <a:xfrm>
            <a:off x="9235440" y="6126480"/>
            <a:ext cx="146304" cy="146304"/>
          </a:xfrm>
          <a:prstGeom prst="rect">
            <a:avLst/>
          </a:prstGeom>
          <a:solidFill>
            <a:srgbClr val="222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27464" y="6089904"/>
            <a:ext cx="1691640" cy="256032"/>
          </a:xfrm>
          <a:prstGeom prst="rect">
            <a:avLst/>
          </a:prstGeom>
          <a:noFill/>
        </p:spPr>
        <p:txBody>
          <a:bodyPr wrap="square">
            <a:spAutoFit/>
          </a:bodyPr>
          <a:lstStyle/>
          <a:p>
            <a:pPr algn="l"/>
            <a:r>
              <a:rPr sz="800" b="0" i="0">
                <a:solidFill>
                  <a:srgbClr val="626262"/>
                </a:solidFill>
                <a:latin typeface="Arial"/>
              </a:rPr>
              <a:t>bedroom</a:t>
            </a:r>
          </a:p>
        </p:txBody>
      </p:sp>
      <p:sp>
        <p:nvSpPr>
          <p:cNvPr id="10" name="Rectangle 9"/>
          <p:cNvSpPr/>
          <p:nvPr/>
        </p:nvSpPr>
        <p:spPr>
          <a:xfrm>
            <a:off x="9890150" y="6126480"/>
            <a:ext cx="146304" cy="146304"/>
          </a:xfrm>
          <a:prstGeom prst="rect">
            <a:avLst/>
          </a:prstGeom>
          <a:solidFill>
            <a:srgbClr val="CCC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82174" y="6089904"/>
            <a:ext cx="1691640" cy="256032"/>
          </a:xfrm>
          <a:prstGeom prst="rect">
            <a:avLst/>
          </a:prstGeom>
          <a:noFill/>
        </p:spPr>
        <p:txBody>
          <a:bodyPr wrap="square">
            <a:spAutoFit/>
          </a:bodyPr>
          <a:lstStyle/>
          <a:p>
            <a:pPr algn="l"/>
            <a:r>
              <a:rPr sz="800" b="0" i="0">
                <a:solidFill>
                  <a:srgbClr val="626262"/>
                </a:solidFill>
                <a:latin typeface="Arial"/>
              </a:rPr>
              <a:t>living / kitchen / corridor</a:t>
            </a:r>
          </a:p>
        </p:txBody>
      </p:sp>
      <p:sp>
        <p:nvSpPr>
          <p:cNvPr id="12" name="Rectangle 11"/>
          <p:cNvSpPr/>
          <p:nvPr/>
        </p:nvSpPr>
        <p:spPr>
          <a:xfrm>
            <a:off x="11788444" y="6126480"/>
            <a:ext cx="146304" cy="146304"/>
          </a:xfrm>
          <a:prstGeom prst="rect">
            <a:avLst/>
          </a:prstGeom>
          <a:solidFill>
            <a:srgbClr val="448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80468" y="6089904"/>
            <a:ext cx="1691640" cy="256032"/>
          </a:xfrm>
          <a:prstGeom prst="rect">
            <a:avLst/>
          </a:prstGeom>
          <a:noFill/>
        </p:spPr>
        <p:txBody>
          <a:bodyPr wrap="square">
            <a:spAutoFit/>
          </a:bodyPr>
          <a:lstStyle/>
          <a:p>
            <a:pPr algn="l"/>
            <a:r>
              <a:rPr sz="800" b="0" i="0">
                <a:solidFill>
                  <a:srgbClr val="626262"/>
                </a:solidFill>
                <a:latin typeface="Arial"/>
              </a:rPr>
              <a:t>balcony -- memorial slabs</a:t>
            </a:r>
          </a:p>
        </p:txBody>
      </p:sp>
      <p:sp>
        <p:nvSpPr>
          <p:cNvPr id="14" name="Rectangle 13"/>
          <p:cNvSpPr/>
          <p:nvPr/>
        </p:nvSpPr>
        <p:spPr>
          <a:xfrm>
            <a:off x="13562380" y="6126480"/>
            <a:ext cx="146304" cy="146304"/>
          </a:xfrm>
          <a:prstGeom prst="rect">
            <a:avLst/>
          </a:prstGeom>
          <a:solidFill>
            <a:srgbClr val="8822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54404" y="6089904"/>
            <a:ext cx="1691640" cy="256032"/>
          </a:xfrm>
          <a:prstGeom prst="rect">
            <a:avLst/>
          </a:prstGeom>
          <a:noFill/>
        </p:spPr>
        <p:txBody>
          <a:bodyPr wrap="square">
            <a:spAutoFit/>
          </a:bodyPr>
          <a:lstStyle/>
          <a:p>
            <a:pPr algn="l"/>
            <a:r>
              <a:rPr sz="800" b="0" i="0">
                <a:solidFill>
                  <a:srgbClr val="626262"/>
                </a:solidFill>
                <a:latin typeface="Arial"/>
              </a:rPr>
              <a:t>storeroom / bathroom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6 -- COMBINED SECTION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Adjacency Graph  g1 -- Both Sections</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237744"/>
          </a:xfrm>
          <a:prstGeom prst="rect">
            <a:avLst/>
          </a:prstGeom>
          <a:noFill/>
        </p:spPr>
        <p:txBody>
          <a:bodyPr wrap="square">
            <a:spAutoFit/>
          </a:bodyPr>
          <a:lstStyle/>
          <a:p>
            <a:pPr algn="l"/>
            <a:r>
              <a:rPr sz="1000" b="0" i="0">
                <a:solidFill>
                  <a:srgbClr val="969696"/>
                </a:solidFill>
                <a:latin typeface="Arial"/>
              </a:rPr>
              <a:t>Through-face adjacency across the full 596-node graph.</a:t>
            </a:r>
          </a:p>
        </p:txBody>
      </p:sp>
      <p:sp>
        <p:nvSpPr>
          <p:cNvPr id="6" name="TextBox 5"/>
          <p:cNvSpPr txBox="1"/>
          <p:nvPr/>
        </p:nvSpPr>
        <p:spPr>
          <a:xfrm>
            <a:off x="457200" y="1463040"/>
            <a:ext cx="11430000" cy="594360"/>
          </a:xfrm>
          <a:prstGeom prst="rect">
            <a:avLst/>
          </a:prstGeom>
          <a:noFill/>
        </p:spPr>
        <p:txBody>
          <a:bodyPr wrap="square">
            <a:spAutoFit/>
          </a:bodyPr>
          <a:lstStyle/>
          <a:p>
            <a:pPr algn="l"/>
            <a:r>
              <a:rPr sz="1000" b="0" i="0">
                <a:solidFill>
                  <a:srgbClr val="969696"/>
                </a:solidFill>
                <a:latin typeface="Arial"/>
              </a:rPr>
              <a:t>The asymmetry between the two halves is directly visible. The intact section (right) produces the expected double-fan pattern: two apartment clusters per floor, repeating nine times, converging at the staircase. The damaged section (left) produces a different structure: the green balcony slab nodes form a wider, sparser cloud at the periphery -- a typology that did not exist in the original building.</a:t>
            </a:r>
          </a:p>
        </p:txBody>
      </p:sp>
      <p:pic>
        <p:nvPicPr>
          <p:cNvPr id="7" name="Picture 6" descr="adjacency_all.png"/>
          <p:cNvPicPr>
            <a:picLocks noChangeAspect="1"/>
          </p:cNvPicPr>
          <p:nvPr/>
        </p:nvPicPr>
        <p:blipFill>
          <a:blip r:embed="rId2"/>
          <a:stretch>
            <a:fillRect/>
          </a:stretch>
        </p:blipFill>
        <p:spPr>
          <a:xfrm>
            <a:off x="274320" y="2148840"/>
            <a:ext cx="3767328" cy="2080220"/>
          </a:xfrm>
          <a:prstGeom prst="rect">
            <a:avLst/>
          </a:prstGeom>
        </p:spPr>
      </p:pic>
      <p:sp>
        <p:nvSpPr>
          <p:cNvPr id="8" name="TextBox 7"/>
          <p:cNvSpPr txBox="1"/>
          <p:nvPr/>
        </p:nvSpPr>
        <p:spPr>
          <a:xfrm>
            <a:off x="274320" y="6565392"/>
            <a:ext cx="3767328" cy="256032"/>
          </a:xfrm>
          <a:prstGeom prst="rect">
            <a:avLst/>
          </a:prstGeom>
          <a:noFill/>
        </p:spPr>
        <p:txBody>
          <a:bodyPr wrap="square">
            <a:spAutoFit/>
          </a:bodyPr>
          <a:lstStyle/>
          <a:p>
            <a:pPr algn="l"/>
            <a:r>
              <a:rPr sz="800" b="0" i="1">
                <a:solidFill>
                  <a:srgbClr val="626262"/>
                </a:solidFill>
                <a:latin typeface="Arial"/>
              </a:rPr>
              <a:t>On geometry</a:t>
            </a:r>
          </a:p>
        </p:txBody>
      </p:sp>
      <p:pic>
        <p:nvPicPr>
          <p:cNvPr id="9" name="Picture 8" descr="adjacency_all1.png"/>
          <p:cNvPicPr>
            <a:picLocks noChangeAspect="1"/>
          </p:cNvPicPr>
          <p:nvPr/>
        </p:nvPicPr>
        <p:blipFill>
          <a:blip r:embed="rId3"/>
          <a:stretch>
            <a:fillRect/>
          </a:stretch>
        </p:blipFill>
        <p:spPr>
          <a:xfrm>
            <a:off x="4178808" y="2148840"/>
            <a:ext cx="3767328" cy="2068337"/>
          </a:xfrm>
          <a:prstGeom prst="rect">
            <a:avLst/>
          </a:prstGeom>
        </p:spPr>
      </p:pic>
      <p:sp>
        <p:nvSpPr>
          <p:cNvPr id="10" name="TextBox 9"/>
          <p:cNvSpPr txBox="1"/>
          <p:nvPr/>
        </p:nvSpPr>
        <p:spPr>
          <a:xfrm>
            <a:off x="4178808" y="6565392"/>
            <a:ext cx="3767328" cy="256032"/>
          </a:xfrm>
          <a:prstGeom prst="rect">
            <a:avLst/>
          </a:prstGeom>
          <a:noFill/>
        </p:spPr>
        <p:txBody>
          <a:bodyPr wrap="square">
            <a:spAutoFit/>
          </a:bodyPr>
          <a:lstStyle/>
          <a:p>
            <a:pPr algn="l"/>
            <a:r>
              <a:rPr sz="800" b="0" i="1">
                <a:solidFill>
                  <a:srgbClr val="626262"/>
                </a:solidFill>
                <a:latin typeface="Arial"/>
              </a:rPr>
              <a:t>3D isolated -- balcony cluster (left) vs apartment fan (right)</a:t>
            </a:r>
          </a:p>
        </p:txBody>
      </p:sp>
      <p:pic>
        <p:nvPicPr>
          <p:cNvPr id="11" name="Picture 10" descr="adjacency_all2.png"/>
          <p:cNvPicPr>
            <a:picLocks noChangeAspect="1"/>
          </p:cNvPicPr>
          <p:nvPr/>
        </p:nvPicPr>
        <p:blipFill>
          <a:blip r:embed="rId4"/>
          <a:stretch>
            <a:fillRect/>
          </a:stretch>
        </p:blipFill>
        <p:spPr>
          <a:xfrm>
            <a:off x="8092440" y="2148840"/>
            <a:ext cx="3767328" cy="2024236"/>
          </a:xfrm>
          <a:prstGeom prst="rect">
            <a:avLst/>
          </a:prstGeom>
        </p:spPr>
      </p:pic>
      <p:sp>
        <p:nvSpPr>
          <p:cNvPr id="12" name="TextBox 11"/>
          <p:cNvSpPr txBox="1"/>
          <p:nvPr/>
        </p:nvSpPr>
        <p:spPr>
          <a:xfrm>
            <a:off x="8092440" y="6565392"/>
            <a:ext cx="3767328" cy="256032"/>
          </a:xfrm>
          <a:prstGeom prst="rect">
            <a:avLst/>
          </a:prstGeom>
          <a:noFill/>
        </p:spPr>
        <p:txBody>
          <a:bodyPr wrap="square">
            <a:spAutoFit/>
          </a:bodyPr>
          <a:lstStyle/>
          <a:p>
            <a:pPr algn="l"/>
            <a:r>
              <a:rPr sz="800" b="0" i="1">
                <a:solidFill>
                  <a:srgbClr val="626262"/>
                </a:solidFill>
                <a:latin typeface="Arial"/>
              </a:rPr>
              <a:t>Plan -- broken symmetry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6 -- COMBINED SECTION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Access Graph  g2 -- Both Sections</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237744"/>
          </a:xfrm>
          <a:prstGeom prst="rect">
            <a:avLst/>
          </a:prstGeom>
          <a:noFill/>
        </p:spPr>
        <p:txBody>
          <a:bodyPr wrap="square">
            <a:spAutoFit/>
          </a:bodyPr>
          <a:lstStyle/>
          <a:p>
            <a:pPr algn="l"/>
            <a:r>
              <a:rPr sz="1000" b="0" i="0">
                <a:solidFill>
                  <a:srgbClr val="969696"/>
                </a:solidFill>
                <a:latin typeface="Arial"/>
              </a:rPr>
              <a:t>596 nodes, 594 edges. The staircase landing is the only connection between the two sections.</a:t>
            </a:r>
          </a:p>
        </p:txBody>
      </p:sp>
      <p:sp>
        <p:nvSpPr>
          <p:cNvPr id="6" name="TextBox 5"/>
          <p:cNvSpPr txBox="1"/>
          <p:nvPr/>
        </p:nvSpPr>
        <p:spPr>
          <a:xfrm>
            <a:off x="457200" y="1463040"/>
            <a:ext cx="11430000" cy="749808"/>
          </a:xfrm>
          <a:prstGeom prst="rect">
            <a:avLst/>
          </a:prstGeom>
          <a:noFill/>
        </p:spPr>
        <p:txBody>
          <a:bodyPr wrap="square">
            <a:spAutoFit/>
          </a:bodyPr>
          <a:lstStyle/>
          <a:p>
            <a:pPr algn="l"/>
            <a:r>
              <a:rPr sz="1000" b="0" i="0">
                <a:solidFill>
                  <a:srgbClr val="969696"/>
                </a:solidFill>
                <a:latin typeface="Arial"/>
              </a:rPr>
              <a:t>The intact section (right) reads as a standard apartment tree: staircase branching to landings, landings to entrance doors, halls to rooms, rooms ending as leaves. The damaged section (left) carries the same branching logic but through different node types: surviving corridor nodes fan to balcony slab leaves, with stair-bridges at the original door positions. The lost apartment's topology is structurally intact -- the spatial relationships remain, even though the rooms are gone.</a:t>
            </a:r>
          </a:p>
        </p:txBody>
      </p:sp>
      <p:pic>
        <p:nvPicPr>
          <p:cNvPr id="7" name="Picture 6" descr="access_all.png"/>
          <p:cNvPicPr>
            <a:picLocks noChangeAspect="1"/>
          </p:cNvPicPr>
          <p:nvPr/>
        </p:nvPicPr>
        <p:blipFill>
          <a:blip r:embed="rId2"/>
          <a:stretch>
            <a:fillRect/>
          </a:stretch>
        </p:blipFill>
        <p:spPr>
          <a:xfrm>
            <a:off x="274320" y="2359152"/>
            <a:ext cx="3767328" cy="2070810"/>
          </a:xfrm>
          <a:prstGeom prst="rect">
            <a:avLst/>
          </a:prstGeom>
        </p:spPr>
      </p:pic>
      <p:sp>
        <p:nvSpPr>
          <p:cNvPr id="8" name="TextBox 7"/>
          <p:cNvSpPr txBox="1"/>
          <p:nvPr/>
        </p:nvSpPr>
        <p:spPr>
          <a:xfrm>
            <a:off x="274320" y="6565392"/>
            <a:ext cx="3767328" cy="256032"/>
          </a:xfrm>
          <a:prstGeom prst="rect">
            <a:avLst/>
          </a:prstGeom>
          <a:noFill/>
        </p:spPr>
        <p:txBody>
          <a:bodyPr wrap="square">
            <a:spAutoFit/>
          </a:bodyPr>
          <a:lstStyle/>
          <a:p>
            <a:pPr algn="l"/>
            <a:r>
              <a:rPr sz="800" b="0" i="1">
                <a:solidFill>
                  <a:srgbClr val="626262"/>
                </a:solidFill>
                <a:latin typeface="Arial"/>
              </a:rPr>
              <a:t>On geometry</a:t>
            </a:r>
          </a:p>
        </p:txBody>
      </p:sp>
      <p:pic>
        <p:nvPicPr>
          <p:cNvPr id="9" name="Picture 8" descr="access_all1.png"/>
          <p:cNvPicPr>
            <a:picLocks noChangeAspect="1"/>
          </p:cNvPicPr>
          <p:nvPr/>
        </p:nvPicPr>
        <p:blipFill>
          <a:blip r:embed="rId3"/>
          <a:stretch>
            <a:fillRect/>
          </a:stretch>
        </p:blipFill>
        <p:spPr>
          <a:xfrm>
            <a:off x="4178808" y="2359152"/>
            <a:ext cx="3767328" cy="2068178"/>
          </a:xfrm>
          <a:prstGeom prst="rect">
            <a:avLst/>
          </a:prstGeom>
        </p:spPr>
      </p:pic>
      <p:sp>
        <p:nvSpPr>
          <p:cNvPr id="10" name="TextBox 9"/>
          <p:cNvSpPr txBox="1"/>
          <p:nvPr/>
        </p:nvSpPr>
        <p:spPr>
          <a:xfrm>
            <a:off x="4178808" y="6565392"/>
            <a:ext cx="3767328" cy="256032"/>
          </a:xfrm>
          <a:prstGeom prst="rect">
            <a:avLst/>
          </a:prstGeom>
          <a:noFill/>
        </p:spPr>
        <p:txBody>
          <a:bodyPr wrap="square">
            <a:spAutoFit/>
          </a:bodyPr>
          <a:lstStyle/>
          <a:p>
            <a:pPr algn="l"/>
            <a:r>
              <a:rPr sz="800" b="0" i="1">
                <a:solidFill>
                  <a:srgbClr val="626262"/>
                </a:solidFill>
                <a:latin typeface="Arial"/>
              </a:rPr>
              <a:t>3D isolated -- corridors fan to balcony slab leaves</a:t>
            </a:r>
          </a:p>
        </p:txBody>
      </p:sp>
      <p:pic>
        <p:nvPicPr>
          <p:cNvPr id="11" name="Picture 10" descr="access_all2.png"/>
          <p:cNvPicPr>
            <a:picLocks noChangeAspect="1"/>
          </p:cNvPicPr>
          <p:nvPr/>
        </p:nvPicPr>
        <p:blipFill>
          <a:blip r:embed="rId4"/>
          <a:stretch>
            <a:fillRect/>
          </a:stretch>
        </p:blipFill>
        <p:spPr>
          <a:xfrm>
            <a:off x="8092440" y="2359152"/>
            <a:ext cx="3767328" cy="1991921"/>
          </a:xfrm>
          <a:prstGeom prst="rect">
            <a:avLst/>
          </a:prstGeom>
        </p:spPr>
      </p:pic>
      <p:sp>
        <p:nvSpPr>
          <p:cNvPr id="12" name="TextBox 11"/>
          <p:cNvSpPr txBox="1"/>
          <p:nvPr/>
        </p:nvSpPr>
        <p:spPr>
          <a:xfrm>
            <a:off x="8092440" y="6565392"/>
            <a:ext cx="3767328" cy="256032"/>
          </a:xfrm>
          <a:prstGeom prst="rect">
            <a:avLst/>
          </a:prstGeom>
          <a:noFill/>
        </p:spPr>
        <p:txBody>
          <a:bodyPr wrap="square">
            <a:spAutoFit/>
          </a:bodyPr>
          <a:lstStyle/>
          <a:p>
            <a:pPr algn="l"/>
            <a:r>
              <a:rPr sz="800" b="0" i="1">
                <a:solidFill>
                  <a:srgbClr val="626262"/>
                </a:solidFill>
                <a:latin typeface="Arial"/>
              </a:rPr>
              <a:t>Plan -- staircase at hourglass center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8 -- ML NODE CLASSIFICATION</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GraphSAGE -- Feature Design</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402336"/>
          </a:xfrm>
          <a:prstGeom prst="rect">
            <a:avLst/>
          </a:prstGeom>
          <a:noFill/>
        </p:spPr>
        <p:txBody>
          <a:bodyPr wrap="square">
            <a:spAutoFit/>
          </a:bodyPr>
          <a:lstStyle/>
          <a:p>
            <a:pPr algn="l"/>
            <a:r>
              <a:rPr sz="1000" b="0" i="0">
                <a:solidFill>
                  <a:srgbClr val="969696"/>
                </a:solidFill>
                <a:latin typeface="Arial"/>
              </a:rPr>
              <a:t>The classifier (pretrained on the Milan Spatial Dataset, ~1000 apartment plans) takes a 7-dimensional feature vector per node. No coordinates, no area, no geometry.</a:t>
            </a:r>
          </a:p>
        </p:txBody>
      </p:sp>
      <p:pic>
        <p:nvPicPr>
          <p:cNvPr id="6" name="Picture 5" descr="room labels.png"/>
          <p:cNvPicPr>
            <a:picLocks noChangeAspect="1"/>
          </p:cNvPicPr>
          <p:nvPr/>
        </p:nvPicPr>
        <p:blipFill>
          <a:blip r:embed="rId2"/>
          <a:stretch>
            <a:fillRect/>
          </a:stretch>
        </p:blipFill>
        <p:spPr>
          <a:xfrm>
            <a:off x="365760" y="1828800"/>
            <a:ext cx="6858000" cy="6739173"/>
          </a:xfrm>
          <a:prstGeom prst="rect">
            <a:avLst/>
          </a:prstGeom>
        </p:spPr>
      </p:pic>
      <p:sp>
        <p:nvSpPr>
          <p:cNvPr id="7" name="Rectangle 6"/>
          <p:cNvSpPr/>
          <p:nvPr/>
        </p:nvSpPr>
        <p:spPr>
          <a:xfrm>
            <a:off x="7571231" y="1828800"/>
            <a:ext cx="4279392" cy="477316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54112" y="1956816"/>
            <a:ext cx="4041648" cy="274320"/>
          </a:xfrm>
          <a:prstGeom prst="rect">
            <a:avLst/>
          </a:prstGeom>
          <a:noFill/>
        </p:spPr>
        <p:txBody>
          <a:bodyPr wrap="square">
            <a:spAutoFit/>
          </a:bodyPr>
          <a:lstStyle/>
          <a:p>
            <a:pPr algn="l"/>
            <a:r>
              <a:rPr sz="900" b="0" i="0">
                <a:solidFill>
                  <a:srgbClr val="969696"/>
                </a:solidFill>
                <a:latin typeface="Arial"/>
              </a:rPr>
              <a:t>Node feature vector  x  in  R^7</a:t>
            </a:r>
          </a:p>
        </p:txBody>
      </p:sp>
      <p:sp>
        <p:nvSpPr>
          <p:cNvPr id="9" name="TextBox 8"/>
          <p:cNvSpPr txBox="1"/>
          <p:nvPr/>
        </p:nvSpPr>
        <p:spPr>
          <a:xfrm>
            <a:off x="7754112" y="2331720"/>
            <a:ext cx="2834640" cy="219456"/>
          </a:xfrm>
          <a:prstGeom prst="rect">
            <a:avLst/>
          </a:prstGeom>
          <a:noFill/>
        </p:spPr>
        <p:txBody>
          <a:bodyPr wrap="square">
            <a:spAutoFit/>
          </a:bodyPr>
          <a:lstStyle/>
          <a:p>
            <a:pPr algn="l"/>
            <a:r>
              <a:rPr sz="800" b="1" i="0">
                <a:solidFill>
                  <a:srgbClr val="CCCCCC"/>
                </a:solidFill>
                <a:latin typeface="Arial"/>
              </a:rPr>
              <a:t>zoning_type_0</a:t>
            </a:r>
          </a:p>
        </p:txBody>
      </p:sp>
      <p:sp>
        <p:nvSpPr>
          <p:cNvPr id="10" name="TextBox 9"/>
          <p:cNvSpPr txBox="1"/>
          <p:nvPr/>
        </p:nvSpPr>
        <p:spPr>
          <a:xfrm>
            <a:off x="7754112" y="2551176"/>
            <a:ext cx="3931920" cy="201168"/>
          </a:xfrm>
          <a:prstGeom prst="rect">
            <a:avLst/>
          </a:prstGeom>
          <a:noFill/>
        </p:spPr>
        <p:txBody>
          <a:bodyPr wrap="square">
            <a:spAutoFit/>
          </a:bodyPr>
          <a:lstStyle/>
          <a:p>
            <a:pPr algn="l"/>
            <a:r>
              <a:rPr sz="850" b="0" i="0">
                <a:solidFill>
                  <a:srgbClr val="969696"/>
                </a:solidFill>
                <a:latin typeface="Arial"/>
              </a:rPr>
              <a:t>1 if private/static  (bedroom)</a:t>
            </a:r>
          </a:p>
        </p:txBody>
      </p:sp>
      <p:sp>
        <p:nvSpPr>
          <p:cNvPr id="11" name="TextBox 10"/>
          <p:cNvSpPr txBox="1"/>
          <p:nvPr/>
        </p:nvSpPr>
        <p:spPr>
          <a:xfrm>
            <a:off x="7754112" y="2807208"/>
            <a:ext cx="2834640" cy="219456"/>
          </a:xfrm>
          <a:prstGeom prst="rect">
            <a:avLst/>
          </a:prstGeom>
          <a:noFill/>
        </p:spPr>
        <p:txBody>
          <a:bodyPr wrap="square">
            <a:spAutoFit/>
          </a:bodyPr>
          <a:lstStyle/>
          <a:p>
            <a:pPr algn="l"/>
            <a:r>
              <a:rPr sz="800" b="1" i="0">
                <a:solidFill>
                  <a:srgbClr val="CCCCCC"/>
                </a:solidFill>
                <a:latin typeface="Arial"/>
              </a:rPr>
              <a:t>zoning_type_1</a:t>
            </a:r>
          </a:p>
        </p:txBody>
      </p:sp>
      <p:sp>
        <p:nvSpPr>
          <p:cNvPr id="12" name="TextBox 11"/>
          <p:cNvSpPr txBox="1"/>
          <p:nvPr/>
        </p:nvSpPr>
        <p:spPr>
          <a:xfrm>
            <a:off x="7754112" y="3026663"/>
            <a:ext cx="3931920" cy="201168"/>
          </a:xfrm>
          <a:prstGeom prst="rect">
            <a:avLst/>
          </a:prstGeom>
          <a:noFill/>
        </p:spPr>
        <p:txBody>
          <a:bodyPr wrap="square">
            <a:spAutoFit/>
          </a:bodyPr>
          <a:lstStyle/>
          <a:p>
            <a:pPr algn="l"/>
            <a:r>
              <a:rPr sz="850" b="0" i="0">
                <a:solidFill>
                  <a:srgbClr val="969696"/>
                </a:solidFill>
                <a:latin typeface="Arial"/>
              </a:rPr>
              <a:t>1 if living/dynamic  (kitchen, corridor, dining)</a:t>
            </a:r>
          </a:p>
        </p:txBody>
      </p:sp>
      <p:sp>
        <p:nvSpPr>
          <p:cNvPr id="13" name="TextBox 12"/>
          <p:cNvSpPr txBox="1"/>
          <p:nvPr/>
        </p:nvSpPr>
        <p:spPr>
          <a:xfrm>
            <a:off x="7754112" y="3282696"/>
            <a:ext cx="2834640" cy="219456"/>
          </a:xfrm>
          <a:prstGeom prst="rect">
            <a:avLst/>
          </a:prstGeom>
          <a:noFill/>
        </p:spPr>
        <p:txBody>
          <a:bodyPr wrap="square">
            <a:spAutoFit/>
          </a:bodyPr>
          <a:lstStyle/>
          <a:p>
            <a:pPr algn="l"/>
            <a:r>
              <a:rPr sz="800" b="1" i="0">
                <a:solidFill>
                  <a:srgbClr val="CCCCCC"/>
                </a:solidFill>
                <a:latin typeface="Arial"/>
              </a:rPr>
              <a:t>zoning_type_2</a:t>
            </a:r>
          </a:p>
        </p:txBody>
      </p:sp>
      <p:sp>
        <p:nvSpPr>
          <p:cNvPr id="14" name="TextBox 13"/>
          <p:cNvSpPr txBox="1"/>
          <p:nvPr/>
        </p:nvSpPr>
        <p:spPr>
          <a:xfrm>
            <a:off x="7754112" y="3502152"/>
            <a:ext cx="3931920" cy="201168"/>
          </a:xfrm>
          <a:prstGeom prst="rect">
            <a:avLst/>
          </a:prstGeom>
          <a:noFill/>
        </p:spPr>
        <p:txBody>
          <a:bodyPr wrap="square">
            <a:spAutoFit/>
          </a:bodyPr>
          <a:lstStyle/>
          <a:p>
            <a:pPr algn="l"/>
            <a:r>
              <a:rPr sz="850" b="0" i="0">
                <a:solidFill>
                  <a:srgbClr val="969696"/>
                </a:solidFill>
                <a:latin typeface="Arial"/>
              </a:rPr>
              <a:t>1 if service/functional  (bathroom, storeroom, stairs)</a:t>
            </a:r>
          </a:p>
        </p:txBody>
      </p:sp>
      <p:sp>
        <p:nvSpPr>
          <p:cNvPr id="15" name="TextBox 14"/>
          <p:cNvSpPr txBox="1"/>
          <p:nvPr/>
        </p:nvSpPr>
        <p:spPr>
          <a:xfrm>
            <a:off x="7754112" y="3758183"/>
            <a:ext cx="2834640" cy="219456"/>
          </a:xfrm>
          <a:prstGeom prst="rect">
            <a:avLst/>
          </a:prstGeom>
          <a:noFill/>
        </p:spPr>
        <p:txBody>
          <a:bodyPr wrap="square">
            <a:spAutoFit/>
          </a:bodyPr>
          <a:lstStyle/>
          <a:p>
            <a:pPr algn="l"/>
            <a:r>
              <a:rPr sz="800" b="1" i="0">
                <a:solidFill>
                  <a:srgbClr val="CCCCCC"/>
                </a:solidFill>
                <a:latin typeface="Arial"/>
              </a:rPr>
              <a:t>zoning_type_3</a:t>
            </a:r>
          </a:p>
        </p:txBody>
      </p:sp>
      <p:sp>
        <p:nvSpPr>
          <p:cNvPr id="16" name="TextBox 15"/>
          <p:cNvSpPr txBox="1"/>
          <p:nvPr/>
        </p:nvSpPr>
        <p:spPr>
          <a:xfrm>
            <a:off x="7754112" y="3977639"/>
            <a:ext cx="3931920" cy="201168"/>
          </a:xfrm>
          <a:prstGeom prst="rect">
            <a:avLst/>
          </a:prstGeom>
          <a:noFill/>
        </p:spPr>
        <p:txBody>
          <a:bodyPr wrap="square">
            <a:spAutoFit/>
          </a:bodyPr>
          <a:lstStyle/>
          <a:p>
            <a:pPr algn="l"/>
            <a:r>
              <a:rPr sz="850" b="0" i="0">
                <a:solidFill>
                  <a:srgbClr val="969696"/>
                </a:solidFill>
                <a:latin typeface="Arial"/>
              </a:rPr>
              <a:t>1 if outdoor  (balcony)</a:t>
            </a:r>
          </a:p>
        </p:txBody>
      </p:sp>
      <p:sp>
        <p:nvSpPr>
          <p:cNvPr id="17" name="TextBox 16"/>
          <p:cNvSpPr txBox="1"/>
          <p:nvPr/>
        </p:nvSpPr>
        <p:spPr>
          <a:xfrm>
            <a:off x="7754112" y="4233672"/>
            <a:ext cx="2834640" cy="219456"/>
          </a:xfrm>
          <a:prstGeom prst="rect">
            <a:avLst/>
          </a:prstGeom>
          <a:noFill/>
        </p:spPr>
        <p:txBody>
          <a:bodyPr wrap="square">
            <a:spAutoFit/>
          </a:bodyPr>
          <a:lstStyle/>
          <a:p>
            <a:pPr algn="l"/>
            <a:r>
              <a:rPr sz="800" b="1" i="0">
                <a:solidFill>
                  <a:srgbClr val="CCCCCC"/>
                </a:solidFill>
                <a:latin typeface="Arial"/>
              </a:rPr>
              <a:t>connectivity_0</a:t>
            </a:r>
          </a:p>
        </p:txBody>
      </p:sp>
      <p:sp>
        <p:nvSpPr>
          <p:cNvPr id="18" name="TextBox 17"/>
          <p:cNvSpPr txBox="1"/>
          <p:nvPr/>
        </p:nvSpPr>
        <p:spPr>
          <a:xfrm>
            <a:off x="7754112" y="4453128"/>
            <a:ext cx="3931920" cy="201168"/>
          </a:xfrm>
          <a:prstGeom prst="rect">
            <a:avLst/>
          </a:prstGeom>
          <a:noFill/>
        </p:spPr>
        <p:txBody>
          <a:bodyPr wrap="square">
            <a:spAutoFit/>
          </a:bodyPr>
          <a:lstStyle/>
          <a:p>
            <a:pPr algn="l"/>
            <a:r>
              <a:rPr sz="850" b="0" i="0">
                <a:solidFill>
                  <a:srgbClr val="969696"/>
                </a:solidFill>
                <a:latin typeface="Arial"/>
              </a:rPr>
              <a:t>fraction of edges that are passage thresholds</a:t>
            </a:r>
          </a:p>
        </p:txBody>
      </p:sp>
      <p:sp>
        <p:nvSpPr>
          <p:cNvPr id="19" name="TextBox 18"/>
          <p:cNvSpPr txBox="1"/>
          <p:nvPr/>
        </p:nvSpPr>
        <p:spPr>
          <a:xfrm>
            <a:off x="7754112" y="4709160"/>
            <a:ext cx="2834640" cy="219456"/>
          </a:xfrm>
          <a:prstGeom prst="rect">
            <a:avLst/>
          </a:prstGeom>
          <a:noFill/>
        </p:spPr>
        <p:txBody>
          <a:bodyPr wrap="square">
            <a:spAutoFit/>
          </a:bodyPr>
          <a:lstStyle/>
          <a:p>
            <a:pPr algn="l"/>
            <a:r>
              <a:rPr sz="800" b="1" i="0">
                <a:solidFill>
                  <a:srgbClr val="CCCCCC"/>
                </a:solidFill>
                <a:latin typeface="Arial"/>
              </a:rPr>
              <a:t>connectivity_1</a:t>
            </a:r>
          </a:p>
        </p:txBody>
      </p:sp>
      <p:sp>
        <p:nvSpPr>
          <p:cNvPr id="20" name="TextBox 19"/>
          <p:cNvSpPr txBox="1"/>
          <p:nvPr/>
        </p:nvSpPr>
        <p:spPr>
          <a:xfrm>
            <a:off x="7754112" y="4928616"/>
            <a:ext cx="3931920" cy="201168"/>
          </a:xfrm>
          <a:prstGeom prst="rect">
            <a:avLst/>
          </a:prstGeom>
          <a:noFill/>
        </p:spPr>
        <p:txBody>
          <a:bodyPr wrap="square">
            <a:spAutoFit/>
          </a:bodyPr>
          <a:lstStyle/>
          <a:p>
            <a:pPr algn="l"/>
            <a:r>
              <a:rPr sz="850" b="0" i="0">
                <a:solidFill>
                  <a:srgbClr val="969696"/>
                </a:solidFill>
                <a:latin typeface="Arial"/>
              </a:rPr>
              <a:t>fraction of edges that are room doors</a:t>
            </a:r>
          </a:p>
        </p:txBody>
      </p:sp>
      <p:sp>
        <p:nvSpPr>
          <p:cNvPr id="21" name="TextBox 20"/>
          <p:cNvSpPr txBox="1"/>
          <p:nvPr/>
        </p:nvSpPr>
        <p:spPr>
          <a:xfrm>
            <a:off x="7754112" y="5184648"/>
            <a:ext cx="2834640" cy="219456"/>
          </a:xfrm>
          <a:prstGeom prst="rect">
            <a:avLst/>
          </a:prstGeom>
          <a:noFill/>
        </p:spPr>
        <p:txBody>
          <a:bodyPr wrap="square">
            <a:spAutoFit/>
          </a:bodyPr>
          <a:lstStyle/>
          <a:p>
            <a:pPr algn="l"/>
            <a:r>
              <a:rPr sz="800" b="1" i="0">
                <a:solidFill>
                  <a:srgbClr val="CCCCCC"/>
                </a:solidFill>
                <a:latin typeface="Arial"/>
              </a:rPr>
              <a:t>connectivity_2</a:t>
            </a:r>
          </a:p>
        </p:txBody>
      </p:sp>
      <p:sp>
        <p:nvSpPr>
          <p:cNvPr id="22" name="TextBox 21"/>
          <p:cNvSpPr txBox="1"/>
          <p:nvPr/>
        </p:nvSpPr>
        <p:spPr>
          <a:xfrm>
            <a:off x="7754112" y="5404104"/>
            <a:ext cx="3931920" cy="201168"/>
          </a:xfrm>
          <a:prstGeom prst="rect">
            <a:avLst/>
          </a:prstGeom>
          <a:noFill/>
        </p:spPr>
        <p:txBody>
          <a:bodyPr wrap="square">
            <a:spAutoFit/>
          </a:bodyPr>
          <a:lstStyle/>
          <a:p>
            <a:pPr algn="l"/>
            <a:r>
              <a:rPr sz="850" b="0" i="0">
                <a:solidFill>
                  <a:srgbClr val="969696"/>
                </a:solidFill>
                <a:latin typeface="Arial"/>
              </a:rPr>
              <a:t>fraction of edges that are entrance doors</a:t>
            </a:r>
          </a:p>
        </p:txBody>
      </p:sp>
      <p:sp>
        <p:nvSpPr>
          <p:cNvPr id="23" name="TextBox 22"/>
          <p:cNvSpPr txBox="1"/>
          <p:nvPr/>
        </p:nvSpPr>
        <p:spPr>
          <a:xfrm>
            <a:off x="7754112" y="5742432"/>
            <a:ext cx="3931920" cy="749808"/>
          </a:xfrm>
          <a:prstGeom prst="rect">
            <a:avLst/>
          </a:prstGeom>
          <a:noFill/>
        </p:spPr>
        <p:txBody>
          <a:bodyPr wrap="square">
            <a:spAutoFit/>
          </a:bodyPr>
          <a:lstStyle/>
          <a:p>
            <a:pPr algn="l"/>
            <a:r>
              <a:rPr sz="850" b="0" i="0">
                <a:solidFill>
                  <a:srgbClr val="969696"/>
                </a:solidFill>
                <a:latin typeface="Arial"/>
              </a:rPr>
              <a:t>The four zoning features are one-hot. The three connectivity features are ratios computed from the edge set of each node. A corridor node in the damaged section is assigned zoning_type_1 = 1. Its connectivity features depend on which door types connect it to its neighbors.</a:t>
            </a:r>
          </a:p>
        </p:txBody>
      </p:sp>
      <p:pic>
        <p:nvPicPr>
          <p:cNvPr id="24" name="Picture 23" descr="legend.png"/>
          <p:cNvPicPr>
            <a:picLocks noChangeAspect="1"/>
          </p:cNvPicPr>
          <p:nvPr/>
        </p:nvPicPr>
        <p:blipFill>
          <a:blip r:embed="rId3"/>
          <a:stretch>
            <a:fillRect/>
          </a:stretch>
        </p:blipFill>
        <p:spPr>
          <a:xfrm>
            <a:off x="365760" y="5888736"/>
            <a:ext cx="6858000" cy="845574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8 -- BEFORE INFERENCE</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Assigned Labels</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457200"/>
          </a:xfrm>
          <a:prstGeom prst="rect">
            <a:avLst/>
          </a:prstGeom>
          <a:noFill/>
        </p:spPr>
        <p:txBody>
          <a:bodyPr wrap="square">
            <a:spAutoFit/>
          </a:bodyPr>
          <a:lstStyle/>
          <a:p>
            <a:pPr algn="l"/>
            <a:r>
              <a:rPr sz="1000" b="0" i="0">
                <a:solidFill>
                  <a:srgbClr val="969696"/>
                </a:solidFill>
                <a:latin typeface="Arial"/>
              </a:rPr>
              <a:t>Before the model runs, every node in the combined graph must have a label. The intact section nodes carry their real room types. The memorial nodes are assigned labels that encode the design intent.</a:t>
            </a:r>
          </a:p>
        </p:txBody>
      </p:sp>
      <p:sp>
        <p:nvSpPr>
          <p:cNvPr id="6" name="Rectangle 5"/>
          <p:cNvSpPr/>
          <p:nvPr/>
        </p:nvSpPr>
        <p:spPr>
          <a:xfrm>
            <a:off x="365760" y="1810512"/>
            <a:ext cx="11457432" cy="65836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993392"/>
            <a:ext cx="2697480" cy="274320"/>
          </a:xfrm>
          <a:prstGeom prst="rect">
            <a:avLst/>
          </a:prstGeom>
          <a:noFill/>
        </p:spPr>
        <p:txBody>
          <a:bodyPr wrap="square">
            <a:spAutoFit/>
          </a:bodyPr>
          <a:lstStyle/>
          <a:p>
            <a:pPr algn="l"/>
            <a:r>
              <a:rPr sz="1000" b="1" i="0">
                <a:solidFill>
                  <a:srgbClr val="CCCCCC"/>
                </a:solidFill>
                <a:latin typeface="Arial"/>
              </a:rPr>
              <a:t>162  surviving damaged rooms</a:t>
            </a:r>
          </a:p>
        </p:txBody>
      </p:sp>
      <p:sp>
        <p:nvSpPr>
          <p:cNvPr id="8" name="TextBox 7"/>
          <p:cNvSpPr txBox="1"/>
          <p:nvPr/>
        </p:nvSpPr>
        <p:spPr>
          <a:xfrm>
            <a:off x="3319272" y="1993392"/>
            <a:ext cx="1444752" cy="274320"/>
          </a:xfrm>
          <a:prstGeom prst="rect">
            <a:avLst/>
          </a:prstGeom>
          <a:noFill/>
        </p:spPr>
        <p:txBody>
          <a:bodyPr wrap="square">
            <a:spAutoFit/>
          </a:bodyPr>
          <a:lstStyle/>
          <a:p>
            <a:pPr algn="l"/>
            <a:r>
              <a:rPr sz="1000" b="1" i="0">
                <a:solidFill>
                  <a:srgbClr val="FFFFFF"/>
                </a:solidFill>
                <a:latin typeface="Arial"/>
              </a:rPr>
              <a:t>corridor</a:t>
            </a:r>
          </a:p>
        </p:txBody>
      </p:sp>
      <p:sp>
        <p:nvSpPr>
          <p:cNvPr id="9" name="TextBox 8"/>
          <p:cNvSpPr txBox="1"/>
          <p:nvPr/>
        </p:nvSpPr>
        <p:spPr>
          <a:xfrm>
            <a:off x="4864608" y="1993392"/>
            <a:ext cx="1810512" cy="274320"/>
          </a:xfrm>
          <a:prstGeom prst="rect">
            <a:avLst/>
          </a:prstGeom>
          <a:noFill/>
        </p:spPr>
        <p:txBody>
          <a:bodyPr wrap="square">
            <a:spAutoFit/>
          </a:bodyPr>
          <a:lstStyle/>
          <a:p>
            <a:pPr algn="l"/>
            <a:r>
              <a:rPr sz="950" b="0" i="0">
                <a:solidFill>
                  <a:srgbClr val="969696"/>
                </a:solidFill>
                <a:latin typeface="Arial"/>
              </a:rPr>
              <a:t>zoning [0,1,0,0]</a:t>
            </a:r>
          </a:p>
        </p:txBody>
      </p:sp>
      <p:sp>
        <p:nvSpPr>
          <p:cNvPr id="10" name="TextBox 9"/>
          <p:cNvSpPr txBox="1"/>
          <p:nvPr/>
        </p:nvSpPr>
        <p:spPr>
          <a:xfrm>
            <a:off x="6784848" y="1993392"/>
            <a:ext cx="4892040" cy="274320"/>
          </a:xfrm>
          <a:prstGeom prst="rect">
            <a:avLst/>
          </a:prstGeom>
          <a:noFill/>
        </p:spPr>
        <p:txBody>
          <a:bodyPr wrap="square">
            <a:spAutoFit/>
          </a:bodyPr>
          <a:lstStyle/>
          <a:p>
            <a:pPr algn="l"/>
            <a:r>
              <a:rPr sz="950" b="0" i="0">
                <a:solidFill>
                  <a:srgbClr val="969696"/>
                </a:solidFill>
                <a:latin typeface="Arial"/>
              </a:rPr>
              <a:t>Neutral placeholder. zoning_type_1 = 1. The model will predict the new function for each of these nodes.</a:t>
            </a:r>
          </a:p>
        </p:txBody>
      </p:sp>
      <p:sp>
        <p:nvSpPr>
          <p:cNvPr id="11" name="Rectangle 10"/>
          <p:cNvSpPr/>
          <p:nvPr/>
        </p:nvSpPr>
        <p:spPr>
          <a:xfrm>
            <a:off x="365760" y="2505456"/>
            <a:ext cx="11457432" cy="658368"/>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688336"/>
            <a:ext cx="2697480" cy="274320"/>
          </a:xfrm>
          <a:prstGeom prst="rect">
            <a:avLst/>
          </a:prstGeom>
          <a:noFill/>
        </p:spPr>
        <p:txBody>
          <a:bodyPr wrap="square">
            <a:spAutoFit/>
          </a:bodyPr>
          <a:lstStyle/>
          <a:p>
            <a:pPr algn="l"/>
            <a:r>
              <a:rPr sz="1000" b="1" i="0">
                <a:solidFill>
                  <a:srgbClr val="CCCCCC"/>
                </a:solidFill>
                <a:latin typeface="Arial"/>
              </a:rPr>
              <a:t>216  memorial slabs</a:t>
            </a:r>
          </a:p>
        </p:txBody>
      </p:sp>
      <p:sp>
        <p:nvSpPr>
          <p:cNvPr id="13" name="TextBox 12"/>
          <p:cNvSpPr txBox="1"/>
          <p:nvPr/>
        </p:nvSpPr>
        <p:spPr>
          <a:xfrm>
            <a:off x="3319272" y="2688336"/>
            <a:ext cx="1444752" cy="274320"/>
          </a:xfrm>
          <a:prstGeom prst="rect">
            <a:avLst/>
          </a:prstGeom>
          <a:noFill/>
        </p:spPr>
        <p:txBody>
          <a:bodyPr wrap="square">
            <a:spAutoFit/>
          </a:bodyPr>
          <a:lstStyle/>
          <a:p>
            <a:pPr algn="l"/>
            <a:r>
              <a:rPr sz="1000" b="1" i="0">
                <a:solidFill>
                  <a:srgbClr val="FFFFFF"/>
                </a:solidFill>
                <a:latin typeface="Arial"/>
              </a:rPr>
              <a:t>balcony</a:t>
            </a:r>
          </a:p>
        </p:txBody>
      </p:sp>
      <p:sp>
        <p:nvSpPr>
          <p:cNvPr id="14" name="TextBox 13"/>
          <p:cNvSpPr txBox="1"/>
          <p:nvPr/>
        </p:nvSpPr>
        <p:spPr>
          <a:xfrm>
            <a:off x="4864608" y="2688336"/>
            <a:ext cx="1810512" cy="274320"/>
          </a:xfrm>
          <a:prstGeom prst="rect">
            <a:avLst/>
          </a:prstGeom>
          <a:noFill/>
        </p:spPr>
        <p:txBody>
          <a:bodyPr wrap="square">
            <a:spAutoFit/>
          </a:bodyPr>
          <a:lstStyle/>
          <a:p>
            <a:pPr algn="l"/>
            <a:r>
              <a:rPr sz="950" b="0" i="0">
                <a:solidFill>
                  <a:srgbClr val="969696"/>
                </a:solidFill>
                <a:latin typeface="Arial"/>
              </a:rPr>
              <a:t>zoning [0,0,0,1]</a:t>
            </a:r>
          </a:p>
        </p:txBody>
      </p:sp>
      <p:sp>
        <p:nvSpPr>
          <p:cNvPr id="15" name="TextBox 14"/>
          <p:cNvSpPr txBox="1"/>
          <p:nvPr/>
        </p:nvSpPr>
        <p:spPr>
          <a:xfrm>
            <a:off x="6784848" y="2688336"/>
            <a:ext cx="4892040" cy="274320"/>
          </a:xfrm>
          <a:prstGeom prst="rect">
            <a:avLst/>
          </a:prstGeom>
          <a:noFill/>
        </p:spPr>
        <p:txBody>
          <a:bodyPr wrap="square">
            <a:spAutoFit/>
          </a:bodyPr>
          <a:lstStyle/>
          <a:p>
            <a:pPr algn="l"/>
            <a:r>
              <a:rPr sz="950" b="0" i="0">
                <a:solidFill>
                  <a:srgbClr val="969696"/>
                </a:solidFill>
                <a:latin typeface="Arial"/>
              </a:rPr>
              <a:t>Outdoor / semi-outdoor. Signals open space to neighboring nodes through the aggregation step.</a:t>
            </a:r>
          </a:p>
        </p:txBody>
      </p:sp>
      <p:sp>
        <p:nvSpPr>
          <p:cNvPr id="16" name="Rectangle 15"/>
          <p:cNvSpPr/>
          <p:nvPr/>
        </p:nvSpPr>
        <p:spPr>
          <a:xfrm>
            <a:off x="365760" y="3200400"/>
            <a:ext cx="11457432" cy="65836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383280"/>
            <a:ext cx="2697480" cy="274320"/>
          </a:xfrm>
          <a:prstGeom prst="rect">
            <a:avLst/>
          </a:prstGeom>
          <a:noFill/>
        </p:spPr>
        <p:txBody>
          <a:bodyPr wrap="square">
            <a:spAutoFit/>
          </a:bodyPr>
          <a:lstStyle/>
          <a:p>
            <a:pPr algn="l"/>
            <a:r>
              <a:rPr sz="1000" b="1" i="0">
                <a:solidFill>
                  <a:srgbClr val="CCCCCC"/>
                </a:solidFill>
                <a:latin typeface="Arial"/>
              </a:rPr>
              <a:t>2  step-bridges</a:t>
            </a:r>
          </a:p>
        </p:txBody>
      </p:sp>
      <p:sp>
        <p:nvSpPr>
          <p:cNvPr id="18" name="TextBox 17"/>
          <p:cNvSpPr txBox="1"/>
          <p:nvPr/>
        </p:nvSpPr>
        <p:spPr>
          <a:xfrm>
            <a:off x="3319272" y="3383280"/>
            <a:ext cx="1444752" cy="274320"/>
          </a:xfrm>
          <a:prstGeom prst="rect">
            <a:avLst/>
          </a:prstGeom>
          <a:noFill/>
        </p:spPr>
        <p:txBody>
          <a:bodyPr wrap="square">
            <a:spAutoFit/>
          </a:bodyPr>
          <a:lstStyle/>
          <a:p>
            <a:pPr algn="l"/>
            <a:r>
              <a:rPr sz="1000" b="1" i="0">
                <a:solidFill>
                  <a:srgbClr val="FFFFFF"/>
                </a:solidFill>
                <a:latin typeface="Arial"/>
              </a:rPr>
              <a:t>stairs</a:t>
            </a:r>
          </a:p>
        </p:txBody>
      </p:sp>
      <p:sp>
        <p:nvSpPr>
          <p:cNvPr id="19" name="TextBox 18"/>
          <p:cNvSpPr txBox="1"/>
          <p:nvPr/>
        </p:nvSpPr>
        <p:spPr>
          <a:xfrm>
            <a:off x="4864608" y="3383280"/>
            <a:ext cx="1810512" cy="274320"/>
          </a:xfrm>
          <a:prstGeom prst="rect">
            <a:avLst/>
          </a:prstGeom>
          <a:noFill/>
        </p:spPr>
        <p:txBody>
          <a:bodyPr wrap="square">
            <a:spAutoFit/>
          </a:bodyPr>
          <a:lstStyle/>
          <a:p>
            <a:pPr algn="l"/>
            <a:r>
              <a:rPr sz="950" b="0" i="0">
                <a:solidFill>
                  <a:srgbClr val="969696"/>
                </a:solidFill>
                <a:latin typeface="Arial"/>
              </a:rPr>
              <a:t>zoning [0,0,1,0]</a:t>
            </a:r>
          </a:p>
        </p:txBody>
      </p:sp>
      <p:sp>
        <p:nvSpPr>
          <p:cNvPr id="20" name="TextBox 19"/>
          <p:cNvSpPr txBox="1"/>
          <p:nvPr/>
        </p:nvSpPr>
        <p:spPr>
          <a:xfrm>
            <a:off x="6784848" y="3383280"/>
            <a:ext cx="4892040" cy="274320"/>
          </a:xfrm>
          <a:prstGeom prst="rect">
            <a:avLst/>
          </a:prstGeom>
          <a:noFill/>
        </p:spPr>
        <p:txBody>
          <a:bodyPr wrap="square">
            <a:spAutoFit/>
          </a:bodyPr>
          <a:lstStyle/>
          <a:p>
            <a:pPr algn="l"/>
            <a:r>
              <a:rPr sz="950" b="0" i="0">
                <a:solidFill>
                  <a:srgbClr val="969696"/>
                </a:solidFill>
                <a:latin typeface="Arial"/>
              </a:rPr>
              <a:t>Service / functional. Encodes the passage relationship between slabs at different heights.</a:t>
            </a:r>
          </a:p>
        </p:txBody>
      </p:sp>
      <p:pic>
        <p:nvPicPr>
          <p:cNvPr id="21" name="Picture 20" descr="existing.png"/>
          <p:cNvPicPr>
            <a:picLocks noChangeAspect="1"/>
          </p:cNvPicPr>
          <p:nvPr/>
        </p:nvPicPr>
        <p:blipFill>
          <a:blip r:embed="rId2"/>
          <a:stretch>
            <a:fillRect/>
          </a:stretch>
        </p:blipFill>
        <p:spPr>
          <a:xfrm>
            <a:off x="274320" y="3931920"/>
            <a:ext cx="5760720" cy="3069976"/>
          </a:xfrm>
          <a:prstGeom prst="rect">
            <a:avLst/>
          </a:prstGeom>
        </p:spPr>
      </p:pic>
      <p:pic>
        <p:nvPicPr>
          <p:cNvPr id="22" name="Picture 21" descr="existing1.png"/>
          <p:cNvPicPr>
            <a:picLocks noChangeAspect="1"/>
          </p:cNvPicPr>
          <p:nvPr/>
        </p:nvPicPr>
        <p:blipFill>
          <a:blip r:embed="rId3"/>
          <a:stretch>
            <a:fillRect/>
          </a:stretch>
        </p:blipFill>
        <p:spPr>
          <a:xfrm>
            <a:off x="6263640" y="3931920"/>
            <a:ext cx="5623560" cy="2940385"/>
          </a:xfrm>
          <a:prstGeom prst="rect">
            <a:avLst/>
          </a:prstGeom>
        </p:spPr>
      </p:pic>
      <p:sp>
        <p:nvSpPr>
          <p:cNvPr id="23" name="TextBox 22"/>
          <p:cNvSpPr txBox="1"/>
          <p:nvPr/>
        </p:nvSpPr>
        <p:spPr>
          <a:xfrm>
            <a:off x="274320" y="6565392"/>
            <a:ext cx="5760720" cy="256032"/>
          </a:xfrm>
          <a:prstGeom prst="rect">
            <a:avLst/>
          </a:prstGeom>
          <a:noFill/>
        </p:spPr>
        <p:txBody>
          <a:bodyPr wrap="square">
            <a:spAutoFit/>
          </a:bodyPr>
          <a:lstStyle/>
          <a:p>
            <a:pPr algn="l"/>
            <a:r>
              <a:rPr sz="800" b="0" i="1">
                <a:solidFill>
                  <a:srgbClr val="626262"/>
                </a:solidFill>
                <a:latin typeface="Arial"/>
              </a:rPr>
              <a:t>3D view -- yellow = corridor placeholder (162), green = balcony slabs (216)</a:t>
            </a:r>
          </a:p>
        </p:txBody>
      </p:sp>
      <p:sp>
        <p:nvSpPr>
          <p:cNvPr id="24" name="TextBox 23"/>
          <p:cNvSpPr txBox="1"/>
          <p:nvPr/>
        </p:nvSpPr>
        <p:spPr>
          <a:xfrm>
            <a:off x="6263640" y="6565392"/>
            <a:ext cx="5623560" cy="256032"/>
          </a:xfrm>
          <a:prstGeom prst="rect">
            <a:avLst/>
          </a:prstGeom>
          <a:noFill/>
        </p:spPr>
        <p:txBody>
          <a:bodyPr wrap="square">
            <a:spAutoFit/>
          </a:bodyPr>
          <a:lstStyle/>
          <a:p>
            <a:pPr algn="l"/>
            <a:r>
              <a:rPr sz="800" b="0" i="1">
                <a:solidFill>
                  <a:srgbClr val="626262"/>
                </a:solidFill>
                <a:latin typeface="Arial"/>
              </a:rPr>
              <a:t>Plan view -- the uniform assignment in the damaged section is explicit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8 -- ML CLASSIFICATION</a:t>
            </a:r>
          </a:p>
        </p:txBody>
      </p:sp>
      <p:sp>
        <p:nvSpPr>
          <p:cNvPr id="3" name="TextBox 2"/>
          <p:cNvSpPr txBox="1"/>
          <p:nvPr/>
        </p:nvSpPr>
        <p:spPr>
          <a:xfrm>
            <a:off x="457200" y="475488"/>
            <a:ext cx="9144000" cy="594360"/>
          </a:xfrm>
          <a:prstGeom prst="rect">
            <a:avLst/>
          </a:prstGeom>
          <a:noFill/>
        </p:spPr>
        <p:txBody>
          <a:bodyPr wrap="square">
            <a:spAutoFit/>
          </a:bodyPr>
          <a:lstStyle/>
          <a:p>
            <a:pPr algn="l"/>
            <a:r>
              <a:rPr sz="2800" b="1" i="0">
                <a:solidFill>
                  <a:srgbClr val="FFFFFF"/>
                </a:solidFill>
                <a:latin typeface="Arial"/>
              </a:rPr>
              <a:t>How GraphSAGE Classifies Nodes</a:t>
            </a:r>
          </a:p>
        </p:txBody>
      </p:sp>
      <p:sp>
        <p:nvSpPr>
          <p:cNvPr id="4" name="Rectangle 3"/>
          <p:cNvSpPr/>
          <p:nvPr/>
        </p:nvSpPr>
        <p:spPr>
          <a:xfrm>
            <a:off x="457200" y="1133856"/>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98448"/>
            <a:ext cx="5669280" cy="217627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63039"/>
            <a:ext cx="5303520" cy="320040"/>
          </a:xfrm>
          <a:prstGeom prst="rect">
            <a:avLst/>
          </a:prstGeom>
          <a:noFill/>
        </p:spPr>
        <p:txBody>
          <a:bodyPr wrap="square">
            <a:spAutoFit/>
          </a:bodyPr>
          <a:lstStyle/>
          <a:p>
            <a:pPr algn="l"/>
            <a:r>
              <a:rPr sz="1100" b="1" i="0">
                <a:solidFill>
                  <a:srgbClr val="FFFFFF"/>
                </a:solidFill>
                <a:latin typeface="Arial"/>
              </a:rPr>
              <a:t>1.  Neighborhood sampling</a:t>
            </a:r>
          </a:p>
        </p:txBody>
      </p:sp>
      <p:sp>
        <p:nvSpPr>
          <p:cNvPr id="7" name="TextBox 6"/>
          <p:cNvSpPr txBox="1"/>
          <p:nvPr/>
        </p:nvSpPr>
        <p:spPr>
          <a:xfrm>
            <a:off x="566928" y="1847088"/>
            <a:ext cx="5321808" cy="1554480"/>
          </a:xfrm>
          <a:prstGeom prst="rect">
            <a:avLst/>
          </a:prstGeom>
          <a:noFill/>
        </p:spPr>
        <p:txBody>
          <a:bodyPr wrap="square">
            <a:spAutoFit/>
          </a:bodyPr>
          <a:lstStyle/>
          <a:p>
            <a:pPr algn="l"/>
            <a:r>
              <a:rPr sz="1000" b="0" i="0">
                <a:solidFill>
                  <a:srgbClr val="969696"/>
                </a:solidFill>
                <a:latin typeface="Arial"/>
              </a:rPr>
              <a:t>For each node, GraphSAGE samples a fixed number of neighbors at each layer. In this graph: 1-hop neighbors are rooms directly connected by a door aperture.</a:t>
            </a:r>
          </a:p>
        </p:txBody>
      </p:sp>
      <p:sp>
        <p:nvSpPr>
          <p:cNvPr id="8" name="Rectangle 7"/>
          <p:cNvSpPr/>
          <p:nvPr/>
        </p:nvSpPr>
        <p:spPr>
          <a:xfrm>
            <a:off x="6291072" y="1298448"/>
            <a:ext cx="5669280" cy="217627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39"/>
            <a:ext cx="5303520" cy="320040"/>
          </a:xfrm>
          <a:prstGeom prst="rect">
            <a:avLst/>
          </a:prstGeom>
          <a:noFill/>
        </p:spPr>
        <p:txBody>
          <a:bodyPr wrap="square">
            <a:spAutoFit/>
          </a:bodyPr>
          <a:lstStyle/>
          <a:p>
            <a:pPr algn="l"/>
            <a:r>
              <a:rPr sz="1100" b="1" i="0">
                <a:solidFill>
                  <a:srgbClr val="FFFFFF"/>
                </a:solidFill>
                <a:latin typeface="Arial"/>
              </a:rPr>
              <a:t>2.  Feature aggregation</a:t>
            </a:r>
          </a:p>
        </p:txBody>
      </p:sp>
      <p:sp>
        <p:nvSpPr>
          <p:cNvPr id="10" name="TextBox 9"/>
          <p:cNvSpPr txBox="1"/>
          <p:nvPr/>
        </p:nvSpPr>
        <p:spPr>
          <a:xfrm>
            <a:off x="6492240" y="1847088"/>
            <a:ext cx="5321808" cy="1554480"/>
          </a:xfrm>
          <a:prstGeom prst="rect">
            <a:avLst/>
          </a:prstGeom>
          <a:noFill/>
        </p:spPr>
        <p:txBody>
          <a:bodyPr wrap="square">
            <a:spAutoFit/>
          </a:bodyPr>
          <a:lstStyle/>
          <a:p>
            <a:pPr algn="l"/>
            <a:r>
              <a:rPr sz="1000" b="0" i="0">
                <a:solidFill>
                  <a:srgbClr val="969696"/>
                </a:solidFill>
                <a:latin typeface="Arial"/>
              </a:rPr>
              <a:t>The sampled neighbors' feature vectors are aggregated (here: mean). The aggregated vector is concatenated with the node's own vector and passed through a learned linear transformation. This produces a new embedding for the node.</a:t>
            </a:r>
          </a:p>
        </p:txBody>
      </p:sp>
      <p:sp>
        <p:nvSpPr>
          <p:cNvPr id="11" name="Rectangle 10"/>
          <p:cNvSpPr/>
          <p:nvPr/>
        </p:nvSpPr>
        <p:spPr>
          <a:xfrm>
            <a:off x="365760" y="3657600"/>
            <a:ext cx="5669280" cy="217627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822191"/>
            <a:ext cx="5303520" cy="320040"/>
          </a:xfrm>
          <a:prstGeom prst="rect">
            <a:avLst/>
          </a:prstGeom>
          <a:noFill/>
        </p:spPr>
        <p:txBody>
          <a:bodyPr wrap="square">
            <a:spAutoFit/>
          </a:bodyPr>
          <a:lstStyle/>
          <a:p>
            <a:pPr algn="l"/>
            <a:r>
              <a:rPr sz="1100" b="1" i="0">
                <a:solidFill>
                  <a:srgbClr val="FFFFFF"/>
                </a:solidFill>
                <a:latin typeface="Arial"/>
              </a:rPr>
              <a:t>3.  Two-layer propagation</a:t>
            </a:r>
          </a:p>
        </p:txBody>
      </p:sp>
      <p:sp>
        <p:nvSpPr>
          <p:cNvPr id="13" name="TextBox 12"/>
          <p:cNvSpPr txBox="1"/>
          <p:nvPr/>
        </p:nvSpPr>
        <p:spPr>
          <a:xfrm>
            <a:off x="566928" y="4206240"/>
            <a:ext cx="5321808" cy="1554480"/>
          </a:xfrm>
          <a:prstGeom prst="rect">
            <a:avLst/>
          </a:prstGeom>
          <a:noFill/>
        </p:spPr>
        <p:txBody>
          <a:bodyPr wrap="square">
            <a:spAutoFit/>
          </a:bodyPr>
          <a:lstStyle/>
          <a:p>
            <a:pPr algn="l"/>
            <a:r>
              <a:rPr sz="1000" b="0" i="0">
                <a:solidFill>
                  <a:srgbClr val="969696"/>
                </a:solidFill>
                <a:latin typeface="Arial"/>
              </a:rPr>
              <a:t>The process runs twice (two GraphSAGE layers), so each node effectively sees its 2-hop neighborhood. In a typical apartment, 2 hops from a corridor reaches bedrooms and balconies -- the full local context of a room.</a:t>
            </a:r>
          </a:p>
        </p:txBody>
      </p:sp>
      <p:sp>
        <p:nvSpPr>
          <p:cNvPr id="14" name="Rectangle 13"/>
          <p:cNvSpPr/>
          <p:nvPr/>
        </p:nvSpPr>
        <p:spPr>
          <a:xfrm>
            <a:off x="6291072" y="3657600"/>
            <a:ext cx="5669280" cy="217627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822191"/>
            <a:ext cx="5303520" cy="320040"/>
          </a:xfrm>
          <a:prstGeom prst="rect">
            <a:avLst/>
          </a:prstGeom>
          <a:noFill/>
        </p:spPr>
        <p:txBody>
          <a:bodyPr wrap="square">
            <a:spAutoFit/>
          </a:bodyPr>
          <a:lstStyle/>
          <a:p>
            <a:pPr algn="l"/>
            <a:r>
              <a:rPr sz="1100" b="1" i="0">
                <a:solidFill>
                  <a:srgbClr val="FFFFFF"/>
                </a:solidFill>
                <a:latin typeface="Arial"/>
              </a:rPr>
              <a:t>4.  Classification</a:t>
            </a:r>
          </a:p>
        </p:txBody>
      </p:sp>
      <p:sp>
        <p:nvSpPr>
          <p:cNvPr id="16" name="TextBox 15"/>
          <p:cNvSpPr txBox="1"/>
          <p:nvPr/>
        </p:nvSpPr>
        <p:spPr>
          <a:xfrm>
            <a:off x="6492240" y="4206240"/>
            <a:ext cx="5321808" cy="1554480"/>
          </a:xfrm>
          <a:prstGeom prst="rect">
            <a:avLst/>
          </a:prstGeom>
          <a:noFill/>
        </p:spPr>
        <p:txBody>
          <a:bodyPr wrap="square">
            <a:spAutoFit/>
          </a:bodyPr>
          <a:lstStyle/>
          <a:p>
            <a:pPr algn="l"/>
            <a:r>
              <a:rPr sz="1000" b="0" i="0">
                <a:solidFill>
                  <a:srgbClr val="969696"/>
                </a:solidFill>
                <a:latin typeface="Arial"/>
              </a:rPr>
              <a:t>The final embedding is passed through a softmax layer that outputs a probability distribution over the 9 room types. The predicted label is the highest-probability class.</a:t>
            </a:r>
          </a:p>
        </p:txBody>
      </p:sp>
      <p:sp>
        <p:nvSpPr>
          <p:cNvPr id="17" name="TextBox 16"/>
          <p:cNvSpPr txBox="1"/>
          <p:nvPr/>
        </p:nvSpPr>
        <p:spPr>
          <a:xfrm>
            <a:off x="457200" y="6217920"/>
            <a:ext cx="11731752" cy="411480"/>
          </a:xfrm>
          <a:prstGeom prst="rect">
            <a:avLst/>
          </a:prstGeom>
          <a:noFill/>
        </p:spPr>
        <p:txBody>
          <a:bodyPr wrap="square">
            <a:spAutoFit/>
          </a:bodyPr>
          <a:lstStyle/>
          <a:p>
            <a:pPr algn="ctr"/>
            <a:r>
              <a:rPr sz="950" b="0" i="0">
                <a:solidFill>
                  <a:srgbClr val="969696"/>
                </a:solidFill>
                <a:latin typeface="Arial"/>
              </a:rPr>
              <a:t>The model was pretrained on MSD (Milan Spatial Dataset) and has not seen this building. It transfers learned connectivity patterns from real apartments to the memorial graph.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8 -- AFTER INFERENCE</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Predicted Functions</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475488"/>
          </a:xfrm>
          <a:prstGeom prst="rect">
            <a:avLst/>
          </a:prstGeom>
          <a:noFill/>
        </p:spPr>
        <p:txBody>
          <a:bodyPr wrap="square">
            <a:spAutoFit/>
          </a:bodyPr>
          <a:lstStyle/>
          <a:p>
            <a:pPr algn="l"/>
            <a:r>
              <a:rPr sz="1000" b="0" i="0">
                <a:solidFill>
                  <a:srgbClr val="969696"/>
                </a:solidFill>
                <a:latin typeface="Arial"/>
              </a:rPr>
              <a:t>After two-layer GraphSAGE aggregation, the corridor nodes in the damaged section carry updated embeddings that reflect their local neighborhood -- which now includes balcony slab nodes and stair-bridge nodes introduced by the design.</a:t>
            </a:r>
          </a:p>
        </p:txBody>
      </p:sp>
      <p:sp>
        <p:nvSpPr>
          <p:cNvPr id="6" name="TextBox 5"/>
          <p:cNvSpPr txBox="1"/>
          <p:nvPr/>
        </p:nvSpPr>
        <p:spPr>
          <a:xfrm>
            <a:off x="457200" y="1719072"/>
            <a:ext cx="11430000" cy="566928"/>
          </a:xfrm>
          <a:prstGeom prst="rect">
            <a:avLst/>
          </a:prstGeom>
          <a:noFill/>
        </p:spPr>
        <p:txBody>
          <a:bodyPr wrap="square">
            <a:spAutoFit/>
          </a:bodyPr>
          <a:lstStyle/>
          <a:p>
            <a:pPr algn="l"/>
            <a:r>
              <a:rPr sz="1000" b="0" i="0">
                <a:solidFill>
                  <a:srgbClr val="969696"/>
                </a:solidFill>
                <a:latin typeface="Arial"/>
              </a:rPr>
              <a:t>Corridor nodes at depth 2, with 2-3 door edges and at least one balcony neighbor, produce embeddings that the classifier maps to kitchen. The model's learned kitchen profile -- rooms with mixed door/outdoor connectivity at depth 2 -- matches the connectivity structure of these nodes in the combined graph. 72 of 162 corridor placeholders are reclassified.</a:t>
            </a:r>
          </a:p>
        </p:txBody>
      </p:sp>
      <p:pic>
        <p:nvPicPr>
          <p:cNvPr id="7" name="Picture 6" descr="predicted.png"/>
          <p:cNvPicPr>
            <a:picLocks noChangeAspect="1"/>
          </p:cNvPicPr>
          <p:nvPr/>
        </p:nvPicPr>
        <p:blipFill>
          <a:blip r:embed="rId2"/>
          <a:stretch>
            <a:fillRect/>
          </a:stretch>
        </p:blipFill>
        <p:spPr>
          <a:xfrm>
            <a:off x="274320" y="2423160"/>
            <a:ext cx="5760720" cy="3117637"/>
          </a:xfrm>
          <a:prstGeom prst="rect">
            <a:avLst/>
          </a:prstGeom>
        </p:spPr>
      </p:pic>
      <p:pic>
        <p:nvPicPr>
          <p:cNvPr id="8" name="Picture 7" descr="predicted1.png"/>
          <p:cNvPicPr>
            <a:picLocks noChangeAspect="1"/>
          </p:cNvPicPr>
          <p:nvPr/>
        </p:nvPicPr>
        <p:blipFill>
          <a:blip r:embed="rId3"/>
          <a:stretch>
            <a:fillRect/>
          </a:stretch>
        </p:blipFill>
        <p:spPr>
          <a:xfrm>
            <a:off x="6263640" y="2423160"/>
            <a:ext cx="5623560" cy="2998049"/>
          </a:xfrm>
          <a:prstGeom prst="rect">
            <a:avLst/>
          </a:prstGeom>
        </p:spPr>
      </p:pic>
      <p:sp>
        <p:nvSpPr>
          <p:cNvPr id="9" name="TextBox 8"/>
          <p:cNvSpPr txBox="1"/>
          <p:nvPr/>
        </p:nvSpPr>
        <p:spPr>
          <a:xfrm>
            <a:off x="274320" y="6565392"/>
            <a:ext cx="5760720" cy="256032"/>
          </a:xfrm>
          <a:prstGeom prst="rect">
            <a:avLst/>
          </a:prstGeom>
          <a:noFill/>
        </p:spPr>
        <p:txBody>
          <a:bodyPr wrap="square">
            <a:spAutoFit/>
          </a:bodyPr>
          <a:lstStyle/>
          <a:p>
            <a:pPr algn="l"/>
            <a:r>
              <a:rPr sz="800" b="0" i="1">
                <a:solidFill>
                  <a:srgbClr val="626262"/>
                </a:solidFill>
                <a:latin typeface="Arial"/>
              </a:rPr>
              <a:t>3D view -- cyan = kitchen nodes in the damaged section</a:t>
            </a:r>
          </a:p>
        </p:txBody>
      </p:sp>
      <p:sp>
        <p:nvSpPr>
          <p:cNvPr id="10" name="TextBox 9"/>
          <p:cNvSpPr txBox="1"/>
          <p:nvPr/>
        </p:nvSpPr>
        <p:spPr>
          <a:xfrm>
            <a:off x="6263640" y="6565392"/>
            <a:ext cx="5623560" cy="256032"/>
          </a:xfrm>
          <a:prstGeom prst="rect">
            <a:avLst/>
          </a:prstGeom>
          <a:noFill/>
        </p:spPr>
        <p:txBody>
          <a:bodyPr wrap="square">
            <a:spAutoFit/>
          </a:bodyPr>
          <a:lstStyle/>
          <a:p>
            <a:pPr algn="l"/>
            <a:r>
              <a:rPr sz="800" b="0" i="1">
                <a:solidFill>
                  <a:srgbClr val="626262"/>
                </a:solidFill>
                <a:latin typeface="Arial"/>
              </a:rPr>
              <a:t>Plan view -- kitchen predictions concentrate near the staircase hub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8 -- RESULTS</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Predictions for 162 Surviving Rooms</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61872"/>
            <a:ext cx="3547872" cy="303580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71600"/>
            <a:ext cx="3200400" cy="987552"/>
          </a:xfrm>
          <a:prstGeom prst="rect">
            <a:avLst/>
          </a:prstGeom>
          <a:noFill/>
        </p:spPr>
        <p:txBody>
          <a:bodyPr wrap="square">
            <a:spAutoFit/>
          </a:bodyPr>
          <a:lstStyle/>
          <a:p>
            <a:pPr algn="l"/>
            <a:r>
              <a:rPr sz="6400" b="1" i="0">
                <a:solidFill>
                  <a:srgbClr val="969696"/>
                </a:solidFill>
                <a:latin typeface="Arial"/>
              </a:rPr>
              <a:t>90</a:t>
            </a:r>
          </a:p>
        </p:txBody>
      </p:sp>
      <p:sp>
        <p:nvSpPr>
          <p:cNvPr id="7" name="TextBox 6"/>
          <p:cNvSpPr txBox="1"/>
          <p:nvPr/>
        </p:nvSpPr>
        <p:spPr>
          <a:xfrm>
            <a:off x="566928" y="2359152"/>
            <a:ext cx="3200400" cy="347472"/>
          </a:xfrm>
          <a:prstGeom prst="rect">
            <a:avLst/>
          </a:prstGeom>
          <a:noFill/>
        </p:spPr>
        <p:txBody>
          <a:bodyPr wrap="square">
            <a:spAutoFit/>
          </a:bodyPr>
          <a:lstStyle/>
          <a:p>
            <a:pPr algn="l"/>
            <a:r>
              <a:rPr sz="1400" b="1" i="0">
                <a:solidFill>
                  <a:srgbClr val="FFFFFF"/>
                </a:solidFill>
                <a:latin typeface="Arial"/>
              </a:rPr>
              <a:t>corridor</a:t>
            </a:r>
          </a:p>
        </p:txBody>
      </p:sp>
      <p:sp>
        <p:nvSpPr>
          <p:cNvPr id="8" name="TextBox 7"/>
          <p:cNvSpPr txBox="1"/>
          <p:nvPr/>
        </p:nvSpPr>
        <p:spPr>
          <a:xfrm>
            <a:off x="566928" y="2779776"/>
            <a:ext cx="3291840" cy="1426464"/>
          </a:xfrm>
          <a:prstGeom prst="rect">
            <a:avLst/>
          </a:prstGeom>
          <a:noFill/>
        </p:spPr>
        <p:txBody>
          <a:bodyPr wrap="square">
            <a:spAutoFit/>
          </a:bodyPr>
          <a:lstStyle/>
          <a:p>
            <a:pPr algn="l"/>
            <a:r>
              <a:rPr sz="1000" b="0" i="0">
                <a:solidFill>
                  <a:srgbClr val="969696"/>
                </a:solidFill>
                <a:latin typeface="Arial"/>
              </a:rPr>
              <a:t>Rooms at depth 3 or greater. Low degree -- typically 1-2 door edges. Neighbors are other corridor or balcony nodes, without the mixed connectivity that would shift the embedding toward kitchen. The classifier keeps them as circulation.</a:t>
            </a:r>
          </a:p>
        </p:txBody>
      </p:sp>
      <p:sp>
        <p:nvSpPr>
          <p:cNvPr id="9" name="Rectangle 8"/>
          <p:cNvSpPr/>
          <p:nvPr/>
        </p:nvSpPr>
        <p:spPr>
          <a:xfrm>
            <a:off x="4133087" y="1261872"/>
            <a:ext cx="3547872" cy="303580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34256" y="1371600"/>
            <a:ext cx="3200400" cy="987552"/>
          </a:xfrm>
          <a:prstGeom prst="rect">
            <a:avLst/>
          </a:prstGeom>
          <a:noFill/>
        </p:spPr>
        <p:txBody>
          <a:bodyPr wrap="square">
            <a:spAutoFit/>
          </a:bodyPr>
          <a:lstStyle/>
          <a:p>
            <a:pPr algn="l"/>
            <a:r>
              <a:rPr sz="6400" b="1" i="0">
                <a:solidFill>
                  <a:srgbClr val="CCCCCC"/>
                </a:solidFill>
                <a:latin typeface="Arial"/>
              </a:rPr>
              <a:t>63</a:t>
            </a:r>
          </a:p>
        </p:txBody>
      </p:sp>
      <p:sp>
        <p:nvSpPr>
          <p:cNvPr id="11" name="TextBox 10"/>
          <p:cNvSpPr txBox="1"/>
          <p:nvPr/>
        </p:nvSpPr>
        <p:spPr>
          <a:xfrm>
            <a:off x="4334256" y="2359152"/>
            <a:ext cx="3200400" cy="347472"/>
          </a:xfrm>
          <a:prstGeom prst="rect">
            <a:avLst/>
          </a:prstGeom>
          <a:noFill/>
        </p:spPr>
        <p:txBody>
          <a:bodyPr wrap="square">
            <a:spAutoFit/>
          </a:bodyPr>
          <a:lstStyle/>
          <a:p>
            <a:pPr algn="l"/>
            <a:r>
              <a:rPr sz="1400" b="1" i="0">
                <a:solidFill>
                  <a:srgbClr val="FFFFFF"/>
                </a:solidFill>
                <a:latin typeface="Arial"/>
              </a:rPr>
              <a:t>kitchen</a:t>
            </a:r>
          </a:p>
        </p:txBody>
      </p:sp>
      <p:sp>
        <p:nvSpPr>
          <p:cNvPr id="12" name="TextBox 11"/>
          <p:cNvSpPr txBox="1"/>
          <p:nvPr/>
        </p:nvSpPr>
        <p:spPr>
          <a:xfrm>
            <a:off x="4334256" y="2779776"/>
            <a:ext cx="3291840" cy="1426464"/>
          </a:xfrm>
          <a:prstGeom prst="rect">
            <a:avLst/>
          </a:prstGeom>
          <a:noFill/>
        </p:spPr>
        <p:txBody>
          <a:bodyPr wrap="square">
            <a:spAutoFit/>
          </a:bodyPr>
          <a:lstStyle/>
          <a:p>
            <a:pPr algn="l"/>
            <a:r>
              <a:rPr sz="1000" b="0" i="0">
                <a:solidFill>
                  <a:srgbClr val="969696"/>
                </a:solidFill>
                <a:latin typeface="Arial"/>
              </a:rPr>
              <a:t>Rooms at depth 2, with 2-3 door edges and at least one direct balcony neighbor. The connectivity_1 (door ratio) and zoning_type_1 features, combined with the aggregated outdoor signal from the balcony nodes, produce an embedding the model assigns to kitchen.</a:t>
            </a:r>
          </a:p>
        </p:txBody>
      </p:sp>
      <p:sp>
        <p:nvSpPr>
          <p:cNvPr id="13" name="Rectangle 12"/>
          <p:cNvSpPr/>
          <p:nvPr/>
        </p:nvSpPr>
        <p:spPr>
          <a:xfrm>
            <a:off x="7900416" y="1261872"/>
            <a:ext cx="3858768" cy="3035808"/>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01583" y="1371600"/>
            <a:ext cx="3474720" cy="987552"/>
          </a:xfrm>
          <a:prstGeom prst="rect">
            <a:avLst/>
          </a:prstGeom>
          <a:noFill/>
        </p:spPr>
        <p:txBody>
          <a:bodyPr wrap="square">
            <a:spAutoFit/>
          </a:bodyPr>
          <a:lstStyle/>
          <a:p>
            <a:pPr algn="l"/>
            <a:r>
              <a:rPr sz="6400" b="1" i="0">
                <a:solidFill>
                  <a:srgbClr val="CCCCCC"/>
                </a:solidFill>
                <a:latin typeface="Arial"/>
              </a:rPr>
              <a:t>9</a:t>
            </a:r>
          </a:p>
        </p:txBody>
      </p:sp>
      <p:sp>
        <p:nvSpPr>
          <p:cNvPr id="15" name="TextBox 14"/>
          <p:cNvSpPr txBox="1"/>
          <p:nvPr/>
        </p:nvSpPr>
        <p:spPr>
          <a:xfrm>
            <a:off x="8101583" y="2359152"/>
            <a:ext cx="3474720" cy="347472"/>
          </a:xfrm>
          <a:prstGeom prst="rect">
            <a:avLst/>
          </a:prstGeom>
          <a:noFill/>
        </p:spPr>
        <p:txBody>
          <a:bodyPr wrap="square">
            <a:spAutoFit/>
          </a:bodyPr>
          <a:lstStyle/>
          <a:p>
            <a:pPr algn="l"/>
            <a:r>
              <a:rPr sz="1400" b="1" i="0">
                <a:solidFill>
                  <a:srgbClr val="FFFFFF"/>
                </a:solidFill>
                <a:latin typeface="Arial"/>
              </a:rPr>
              <a:t>livingroom</a:t>
            </a:r>
          </a:p>
        </p:txBody>
      </p:sp>
      <p:sp>
        <p:nvSpPr>
          <p:cNvPr id="16" name="TextBox 15"/>
          <p:cNvSpPr txBox="1"/>
          <p:nvPr/>
        </p:nvSpPr>
        <p:spPr>
          <a:xfrm>
            <a:off x="8101583" y="2779776"/>
            <a:ext cx="3584448" cy="1426464"/>
          </a:xfrm>
          <a:prstGeom prst="rect">
            <a:avLst/>
          </a:prstGeom>
          <a:noFill/>
        </p:spPr>
        <p:txBody>
          <a:bodyPr wrap="square">
            <a:spAutoFit/>
          </a:bodyPr>
          <a:lstStyle/>
          <a:p>
            <a:pPr algn="l"/>
            <a:r>
              <a:rPr sz="1000" b="0" i="0">
                <a:solidFill>
                  <a:srgbClr val="969696"/>
                </a:solidFill>
                <a:latin typeface="Arial"/>
              </a:rPr>
              <a:t>Rooms with a single door edge leading to a larger corridor or balcony node. Lower connectivity_1 ratio, higher degree on the balcony side. The model interprets this single-opening-to-open-space pattern as livingroom.</a:t>
            </a:r>
          </a:p>
        </p:txBody>
      </p:sp>
      <p:sp>
        <p:nvSpPr>
          <p:cNvPr id="17" name="Rectangle 16"/>
          <p:cNvSpPr/>
          <p:nvPr/>
        </p:nvSpPr>
        <p:spPr>
          <a:xfrm>
            <a:off x="365760" y="4462272"/>
            <a:ext cx="11457432" cy="1170432"/>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572000"/>
            <a:ext cx="5486400" cy="256032"/>
          </a:xfrm>
          <a:prstGeom prst="rect">
            <a:avLst/>
          </a:prstGeom>
          <a:noFill/>
        </p:spPr>
        <p:txBody>
          <a:bodyPr wrap="square">
            <a:spAutoFit/>
          </a:bodyPr>
          <a:lstStyle/>
          <a:p>
            <a:pPr algn="l"/>
            <a:r>
              <a:rPr sz="900" b="0" i="0">
                <a:solidFill>
                  <a:srgbClr val="969696"/>
                </a:solidFill>
                <a:latin typeface="Arial"/>
              </a:rPr>
              <a:t>What the result means</a:t>
            </a:r>
          </a:p>
        </p:txBody>
      </p:sp>
      <p:sp>
        <p:nvSpPr>
          <p:cNvPr id="19" name="TextBox 18"/>
          <p:cNvSpPr txBox="1"/>
          <p:nvPr/>
        </p:nvSpPr>
        <p:spPr>
          <a:xfrm>
            <a:off x="548640" y="4846320"/>
            <a:ext cx="11109960" cy="731520"/>
          </a:xfrm>
          <a:prstGeom prst="rect">
            <a:avLst/>
          </a:prstGeom>
          <a:noFill/>
        </p:spPr>
        <p:txBody>
          <a:bodyPr wrap="square">
            <a:spAutoFit/>
          </a:bodyPr>
          <a:lstStyle/>
          <a:p>
            <a:pPr algn="l"/>
            <a:r>
              <a:rPr sz="1000" b="0" i="0">
                <a:solidFill>
                  <a:srgbClr val="CCCCCC"/>
                </a:solidFill>
                <a:latin typeface="Arial"/>
              </a:rPr>
              <a:t>The memorial slabs were labelled balcony because they are open, unenclosed surfaces. That label carried an outdoor zoning signal into the feature vectors of every adjacent corridor node via the aggregation step. The classifier read that signal and assigned kitchen -- the room type most often adjacent to a balcony in the MSD training data. The design choice (slab = balcony) directly produced the ML result (corridor --&gt; kitchen).</a:t>
            </a:r>
          </a:p>
        </p:txBody>
      </p:sp>
      <p:pic>
        <p:nvPicPr>
          <p:cNvPr id="20" name="Picture 19" descr="affected_block_comparison.png"/>
          <p:cNvPicPr>
            <a:picLocks noChangeAspect="1"/>
          </p:cNvPicPr>
          <p:nvPr/>
        </p:nvPicPr>
        <p:blipFill>
          <a:blip r:embed="rId2"/>
          <a:stretch>
            <a:fillRect/>
          </a:stretch>
        </p:blipFill>
        <p:spPr>
          <a:xfrm>
            <a:off x="365760" y="5760720"/>
            <a:ext cx="11457432" cy="510357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PHASE 8 -- RESULTS DETAIL</a:t>
            </a:r>
          </a:p>
        </p:txBody>
      </p:sp>
      <p:sp>
        <p:nvSpPr>
          <p:cNvPr id="3" name="TextBox 2"/>
          <p:cNvSpPr txBox="1"/>
          <p:nvPr/>
        </p:nvSpPr>
        <p:spPr>
          <a:xfrm>
            <a:off x="457200" y="493776"/>
            <a:ext cx="11430000" cy="822960"/>
          </a:xfrm>
          <a:prstGeom prst="rect">
            <a:avLst/>
          </a:prstGeom>
          <a:noFill/>
        </p:spPr>
        <p:txBody>
          <a:bodyPr wrap="square">
            <a:spAutoFit/>
          </a:bodyPr>
          <a:lstStyle/>
          <a:p>
            <a:pPr algn="l"/>
            <a:r>
              <a:rPr sz="2800" b="1" i="0">
                <a:solidFill>
                  <a:srgbClr val="FFFFFF"/>
                </a:solidFill>
                <a:latin typeface="Arial"/>
              </a:rPr>
              <a:t>Floor-by-Floor Prediction</a:t>
            </a:r>
          </a:p>
        </p:txBody>
      </p:sp>
      <p:sp>
        <p:nvSpPr>
          <p:cNvPr id="4" name="Rectangle 3"/>
          <p:cNvSpPr/>
          <p:nvPr/>
        </p:nvSpPr>
        <p:spPr>
          <a:xfrm>
            <a:off x="457200" y="135331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274320"/>
          </a:xfrm>
          <a:prstGeom prst="rect">
            <a:avLst/>
          </a:prstGeom>
          <a:noFill/>
        </p:spPr>
        <p:txBody>
          <a:bodyPr wrap="square">
            <a:spAutoFit/>
          </a:bodyPr>
          <a:lstStyle/>
          <a:p>
            <a:pPr algn="l"/>
            <a:r>
              <a:rPr sz="1000" b="0" i="0">
                <a:solidFill>
                  <a:srgbClr val="969696"/>
                </a:solidFill>
                <a:latin typeface="Arial"/>
              </a:rPr>
              <a:t>Each row is one floor. Each dot is one room. Left: assigned placeholder labels. Right: ML-predicted functions.</a:t>
            </a:r>
          </a:p>
        </p:txBody>
      </p:sp>
      <p:sp>
        <p:nvSpPr>
          <p:cNvPr id="6" name="TextBox 5"/>
          <p:cNvSpPr txBox="1"/>
          <p:nvPr/>
        </p:nvSpPr>
        <p:spPr>
          <a:xfrm>
            <a:off x="457200" y="1508760"/>
            <a:ext cx="11430000" cy="502920"/>
          </a:xfrm>
          <a:prstGeom prst="rect">
            <a:avLst/>
          </a:prstGeom>
          <a:noFill/>
        </p:spPr>
        <p:txBody>
          <a:bodyPr wrap="square">
            <a:spAutoFit/>
          </a:bodyPr>
          <a:lstStyle/>
          <a:p>
            <a:pPr algn="l"/>
            <a:r>
              <a:rPr sz="1000" b="0" i="0">
                <a:solidFill>
                  <a:srgbClr val="969696"/>
                </a:solidFill>
                <a:latin typeface="Arial"/>
              </a:rPr>
              <a:t>Kitchen reclassification concentrates on floors where corridor nodes have direct balcony connections -- floors where the memorial slabs are most densely distributed. Rooms at depth 3 and beyond (further from the staircase) remain corridor. The prediction is not uniform: it follows the graph structure floor by floor.</a:t>
            </a:r>
          </a:p>
        </p:txBody>
      </p:sp>
      <p:pic>
        <p:nvPicPr>
          <p:cNvPr id="7" name="Picture 6" descr="affected_block_prediction.png"/>
          <p:cNvPicPr>
            <a:picLocks noChangeAspect="1"/>
          </p:cNvPicPr>
          <p:nvPr/>
        </p:nvPicPr>
        <p:blipFill>
          <a:blip r:embed="rId2"/>
          <a:stretch>
            <a:fillRect/>
          </a:stretch>
        </p:blipFill>
        <p:spPr>
          <a:xfrm>
            <a:off x="365760" y="2139696"/>
            <a:ext cx="11457432" cy="4797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SYNTHESIS</a:t>
            </a:r>
          </a:p>
        </p:txBody>
      </p:sp>
      <p:sp>
        <p:nvSpPr>
          <p:cNvPr id="3" name="TextBox 2"/>
          <p:cNvSpPr txBox="1"/>
          <p:nvPr/>
        </p:nvSpPr>
        <p:spPr>
          <a:xfrm>
            <a:off x="457200" y="475488"/>
            <a:ext cx="9144000" cy="594360"/>
          </a:xfrm>
          <a:prstGeom prst="rect">
            <a:avLst/>
          </a:prstGeom>
          <a:noFill/>
        </p:spPr>
        <p:txBody>
          <a:bodyPr wrap="square">
            <a:spAutoFit/>
          </a:bodyPr>
          <a:lstStyle/>
          <a:p>
            <a:pPr algn="l"/>
            <a:r>
              <a:rPr sz="2800" b="1" i="0">
                <a:solidFill>
                  <a:srgbClr val="FFFFFF"/>
                </a:solidFill>
                <a:latin typeface="Arial"/>
              </a:rPr>
              <a:t>Graph Analysis as Design Driver</a:t>
            </a:r>
          </a:p>
        </p:txBody>
      </p:sp>
      <p:sp>
        <p:nvSpPr>
          <p:cNvPr id="4" name="Rectangle 3"/>
          <p:cNvSpPr/>
          <p:nvPr/>
        </p:nvSpPr>
        <p:spPr>
          <a:xfrm>
            <a:off x="457200" y="117043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16736"/>
            <a:ext cx="11430000" cy="402336"/>
          </a:xfrm>
          <a:prstGeom prst="rect">
            <a:avLst/>
          </a:prstGeom>
          <a:noFill/>
        </p:spPr>
        <p:txBody>
          <a:bodyPr wrap="square">
            <a:spAutoFit/>
          </a:bodyPr>
          <a:lstStyle/>
          <a:p>
            <a:pPr algn="l"/>
            <a:r>
              <a:rPr sz="1100" b="0" i="0">
                <a:solidFill>
                  <a:srgbClr val="CCCCCC"/>
                </a:solidFill>
                <a:latin typeface="Arial"/>
              </a:rPr>
              <a:t>The analysis does not document the design. The graph generates the form, and the form -- re-embedded in the graph -- changes the ML result.</a:t>
            </a:r>
          </a:p>
        </p:txBody>
      </p:sp>
      <p:sp>
        <p:nvSpPr>
          <p:cNvPr id="6" name="Rectangle 5"/>
          <p:cNvSpPr/>
          <p:nvPr/>
        </p:nvSpPr>
        <p:spPr>
          <a:xfrm>
            <a:off x="1933956" y="1901952"/>
            <a:ext cx="1901952" cy="1463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98548" y="1993392"/>
            <a:ext cx="365760" cy="256032"/>
          </a:xfrm>
          <a:prstGeom prst="rect">
            <a:avLst/>
          </a:prstGeom>
          <a:noFill/>
        </p:spPr>
        <p:txBody>
          <a:bodyPr wrap="square">
            <a:spAutoFit/>
          </a:bodyPr>
          <a:lstStyle/>
          <a:p>
            <a:pPr algn="l"/>
            <a:r>
              <a:rPr sz="1100" b="1" i="0">
                <a:solidFill>
                  <a:srgbClr val="969696"/>
                </a:solidFill>
                <a:latin typeface="Arial"/>
              </a:rPr>
              <a:t>1</a:t>
            </a:r>
          </a:p>
        </p:txBody>
      </p:sp>
      <p:sp>
        <p:nvSpPr>
          <p:cNvPr id="8" name="TextBox 7"/>
          <p:cNvSpPr txBox="1"/>
          <p:nvPr/>
        </p:nvSpPr>
        <p:spPr>
          <a:xfrm>
            <a:off x="2098548" y="2267712"/>
            <a:ext cx="1700784" cy="402336"/>
          </a:xfrm>
          <a:prstGeom prst="rect">
            <a:avLst/>
          </a:prstGeom>
          <a:noFill/>
        </p:spPr>
        <p:txBody>
          <a:bodyPr wrap="square">
            <a:spAutoFit/>
          </a:bodyPr>
          <a:lstStyle/>
          <a:p>
            <a:pPr algn="l"/>
            <a:r>
              <a:rPr sz="1000" b="1" i="0">
                <a:solidFill>
                  <a:srgbClr val="FFFFFF"/>
                </a:solidFill>
                <a:latin typeface="Arial"/>
              </a:rPr>
              <a:t>Build g2 from intact section</a:t>
            </a:r>
          </a:p>
        </p:txBody>
      </p:sp>
      <p:sp>
        <p:nvSpPr>
          <p:cNvPr id="9" name="TextBox 8"/>
          <p:cNvSpPr txBox="1"/>
          <p:nvPr/>
        </p:nvSpPr>
        <p:spPr>
          <a:xfrm>
            <a:off x="2098548" y="2724912"/>
            <a:ext cx="1700784" cy="594360"/>
          </a:xfrm>
          <a:prstGeom prst="rect">
            <a:avLst/>
          </a:prstGeom>
          <a:noFill/>
        </p:spPr>
        <p:txBody>
          <a:bodyPr wrap="square">
            <a:spAutoFit/>
          </a:bodyPr>
          <a:lstStyle/>
          <a:p>
            <a:pPr algn="l"/>
            <a:r>
              <a:rPr sz="850" b="0" i="0">
                <a:solidFill>
                  <a:srgbClr val="969696"/>
                </a:solidFill>
                <a:latin typeface="Arial"/>
              </a:rPr>
              <a:t>TopologicPy creates the access graph from door apertures only. This is the graph that reflects actual movement paths.</a:t>
            </a:r>
          </a:p>
        </p:txBody>
      </p:sp>
      <p:sp>
        <p:nvSpPr>
          <p:cNvPr id="10" name="Right Arrow 9"/>
          <p:cNvSpPr/>
          <p:nvPr/>
        </p:nvSpPr>
        <p:spPr>
          <a:xfrm>
            <a:off x="3872484" y="2532888"/>
            <a:ext cx="164591" cy="201168"/>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73652" y="1901952"/>
            <a:ext cx="1901952" cy="1463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38244" y="1993392"/>
            <a:ext cx="365760" cy="256032"/>
          </a:xfrm>
          <a:prstGeom prst="rect">
            <a:avLst/>
          </a:prstGeom>
          <a:noFill/>
        </p:spPr>
        <p:txBody>
          <a:bodyPr wrap="square">
            <a:spAutoFit/>
          </a:bodyPr>
          <a:lstStyle/>
          <a:p>
            <a:pPr algn="l"/>
            <a:r>
              <a:rPr sz="1100" b="1" i="0">
                <a:solidFill>
                  <a:srgbClr val="969696"/>
                </a:solidFill>
                <a:latin typeface="Arial"/>
              </a:rPr>
              <a:t>2</a:t>
            </a:r>
          </a:p>
        </p:txBody>
      </p:sp>
      <p:sp>
        <p:nvSpPr>
          <p:cNvPr id="13" name="TextBox 12"/>
          <p:cNvSpPr txBox="1"/>
          <p:nvPr/>
        </p:nvSpPr>
        <p:spPr>
          <a:xfrm>
            <a:off x="4238244" y="2267712"/>
            <a:ext cx="1700784" cy="402336"/>
          </a:xfrm>
          <a:prstGeom prst="rect">
            <a:avLst/>
          </a:prstGeom>
          <a:noFill/>
        </p:spPr>
        <p:txBody>
          <a:bodyPr wrap="square">
            <a:spAutoFit/>
          </a:bodyPr>
          <a:lstStyle/>
          <a:p>
            <a:pPr algn="l"/>
            <a:r>
              <a:rPr sz="1000" b="1" i="0">
                <a:solidFill>
                  <a:srgbClr val="FFFFFF"/>
                </a:solidFill>
                <a:latin typeface="Arial"/>
              </a:rPr>
              <a:t>BFS depth per room</a:t>
            </a:r>
          </a:p>
        </p:txBody>
      </p:sp>
      <p:sp>
        <p:nvSpPr>
          <p:cNvPr id="14" name="TextBox 13"/>
          <p:cNvSpPr txBox="1"/>
          <p:nvPr/>
        </p:nvSpPr>
        <p:spPr>
          <a:xfrm>
            <a:off x="4238244" y="2724912"/>
            <a:ext cx="1700784" cy="594360"/>
          </a:xfrm>
          <a:prstGeom prst="rect">
            <a:avLst/>
          </a:prstGeom>
          <a:noFill/>
        </p:spPr>
        <p:txBody>
          <a:bodyPr wrap="square">
            <a:spAutoFit/>
          </a:bodyPr>
          <a:lstStyle/>
          <a:p>
            <a:pPr algn="l"/>
            <a:r>
              <a:rPr sz="850" b="0" i="0">
                <a:solidFill>
                  <a:srgbClr val="969696"/>
                </a:solidFill>
                <a:latin typeface="Arial"/>
              </a:rPr>
              <a:t>NetworkX BFS from the staircase landing. Hop count on g2 gives the topological distance for each room.</a:t>
            </a:r>
          </a:p>
        </p:txBody>
      </p:sp>
      <p:sp>
        <p:nvSpPr>
          <p:cNvPr id="15" name="Right Arrow 14"/>
          <p:cNvSpPr/>
          <p:nvPr/>
        </p:nvSpPr>
        <p:spPr>
          <a:xfrm>
            <a:off x="6012180" y="2532888"/>
            <a:ext cx="164591" cy="201168"/>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1901952"/>
            <a:ext cx="1901952" cy="1463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7940" y="1993392"/>
            <a:ext cx="365760" cy="256032"/>
          </a:xfrm>
          <a:prstGeom prst="rect">
            <a:avLst/>
          </a:prstGeom>
          <a:noFill/>
        </p:spPr>
        <p:txBody>
          <a:bodyPr wrap="square">
            <a:spAutoFit/>
          </a:bodyPr>
          <a:lstStyle/>
          <a:p>
            <a:pPr algn="l"/>
            <a:r>
              <a:rPr sz="1100" b="1" i="0">
                <a:solidFill>
                  <a:srgbClr val="969696"/>
                </a:solidFill>
                <a:latin typeface="Arial"/>
              </a:rPr>
              <a:t>3</a:t>
            </a:r>
          </a:p>
        </p:txBody>
      </p:sp>
      <p:sp>
        <p:nvSpPr>
          <p:cNvPr id="18" name="TextBox 17"/>
          <p:cNvSpPr txBox="1"/>
          <p:nvPr/>
        </p:nvSpPr>
        <p:spPr>
          <a:xfrm>
            <a:off x="6377940" y="2267712"/>
            <a:ext cx="1700784" cy="402336"/>
          </a:xfrm>
          <a:prstGeom prst="rect">
            <a:avLst/>
          </a:prstGeom>
          <a:noFill/>
        </p:spPr>
        <p:txBody>
          <a:bodyPr wrap="square">
            <a:spAutoFit/>
          </a:bodyPr>
          <a:lstStyle/>
          <a:p>
            <a:pPr algn="l"/>
            <a:r>
              <a:rPr sz="1000" b="1" i="0">
                <a:solidFill>
                  <a:srgbClr val="FFFFFF"/>
                </a:solidFill>
                <a:latin typeface="Arial"/>
              </a:rPr>
              <a:t>Depth --&gt; slab height</a:t>
            </a:r>
          </a:p>
        </p:txBody>
      </p:sp>
      <p:sp>
        <p:nvSpPr>
          <p:cNvPr id="19" name="TextBox 18"/>
          <p:cNvSpPr txBox="1"/>
          <p:nvPr/>
        </p:nvSpPr>
        <p:spPr>
          <a:xfrm>
            <a:off x="6377940" y="2724912"/>
            <a:ext cx="1700784" cy="594360"/>
          </a:xfrm>
          <a:prstGeom prst="rect">
            <a:avLst/>
          </a:prstGeom>
          <a:noFill/>
        </p:spPr>
        <p:txBody>
          <a:bodyPr wrap="square">
            <a:spAutoFit/>
          </a:bodyPr>
          <a:lstStyle/>
          <a:p>
            <a:pPr algn="l"/>
            <a:r>
              <a:rPr sz="850" b="0" i="0">
                <a:solidFill>
                  <a:srgbClr val="969696"/>
                </a:solidFill>
                <a:latin typeface="Arial"/>
              </a:rPr>
              <a:t>slab Z = -step x depth drives the Rhino model. The graph metric becomes the vertical dimension of the memorial.</a:t>
            </a:r>
          </a:p>
        </p:txBody>
      </p:sp>
      <p:sp>
        <p:nvSpPr>
          <p:cNvPr id="20" name="Rectangle 19"/>
          <p:cNvSpPr/>
          <p:nvPr/>
        </p:nvSpPr>
        <p:spPr>
          <a:xfrm>
            <a:off x="1933956" y="3602736"/>
            <a:ext cx="1901952" cy="1463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98548" y="3694176"/>
            <a:ext cx="365760" cy="256032"/>
          </a:xfrm>
          <a:prstGeom prst="rect">
            <a:avLst/>
          </a:prstGeom>
          <a:noFill/>
        </p:spPr>
        <p:txBody>
          <a:bodyPr wrap="square">
            <a:spAutoFit/>
          </a:bodyPr>
          <a:lstStyle/>
          <a:p>
            <a:pPr algn="l"/>
            <a:r>
              <a:rPr sz="1100" b="1" i="0">
                <a:solidFill>
                  <a:srgbClr val="969696"/>
                </a:solidFill>
                <a:latin typeface="Arial"/>
              </a:rPr>
              <a:t>4</a:t>
            </a:r>
          </a:p>
        </p:txBody>
      </p:sp>
      <p:sp>
        <p:nvSpPr>
          <p:cNvPr id="22" name="TextBox 21"/>
          <p:cNvSpPr txBox="1"/>
          <p:nvPr/>
        </p:nvSpPr>
        <p:spPr>
          <a:xfrm>
            <a:off x="2098548" y="3968496"/>
            <a:ext cx="1700784" cy="402336"/>
          </a:xfrm>
          <a:prstGeom prst="rect">
            <a:avLst/>
          </a:prstGeom>
          <a:noFill/>
        </p:spPr>
        <p:txBody>
          <a:bodyPr wrap="square">
            <a:spAutoFit/>
          </a:bodyPr>
          <a:lstStyle/>
          <a:p>
            <a:pPr algn="l"/>
            <a:r>
              <a:rPr sz="1000" b="1" i="0">
                <a:solidFill>
                  <a:srgbClr val="FFFFFF"/>
                </a:solidFill>
                <a:latin typeface="Arial"/>
              </a:rPr>
              <a:t>Encode memorial as graph nodes</a:t>
            </a:r>
          </a:p>
        </p:txBody>
      </p:sp>
      <p:sp>
        <p:nvSpPr>
          <p:cNvPr id="23" name="TextBox 22"/>
          <p:cNvSpPr txBox="1"/>
          <p:nvPr/>
        </p:nvSpPr>
        <p:spPr>
          <a:xfrm>
            <a:off x="2098548" y="4425696"/>
            <a:ext cx="1700784" cy="594360"/>
          </a:xfrm>
          <a:prstGeom prst="rect">
            <a:avLst/>
          </a:prstGeom>
          <a:noFill/>
        </p:spPr>
        <p:txBody>
          <a:bodyPr wrap="square">
            <a:spAutoFit/>
          </a:bodyPr>
          <a:lstStyle/>
          <a:p>
            <a:pPr algn="l"/>
            <a:r>
              <a:rPr sz="850" b="0" i="0">
                <a:solidFill>
                  <a:srgbClr val="969696"/>
                </a:solidFill>
                <a:latin typeface="Arial"/>
              </a:rPr>
              <a:t>Slabs labelled balcony. Bridges labelled stairs. The design decisions are written as node feature vectors.</a:t>
            </a:r>
          </a:p>
        </p:txBody>
      </p:sp>
      <p:sp>
        <p:nvSpPr>
          <p:cNvPr id="24" name="Right Arrow 23"/>
          <p:cNvSpPr/>
          <p:nvPr/>
        </p:nvSpPr>
        <p:spPr>
          <a:xfrm>
            <a:off x="3872484" y="4233672"/>
            <a:ext cx="164591" cy="201168"/>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073652" y="3602736"/>
            <a:ext cx="1901952" cy="1463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38244" y="3694176"/>
            <a:ext cx="365760" cy="256032"/>
          </a:xfrm>
          <a:prstGeom prst="rect">
            <a:avLst/>
          </a:prstGeom>
          <a:noFill/>
        </p:spPr>
        <p:txBody>
          <a:bodyPr wrap="square">
            <a:spAutoFit/>
          </a:bodyPr>
          <a:lstStyle/>
          <a:p>
            <a:pPr algn="l"/>
            <a:r>
              <a:rPr sz="1100" b="1" i="0">
                <a:solidFill>
                  <a:srgbClr val="969696"/>
                </a:solidFill>
                <a:latin typeface="Arial"/>
              </a:rPr>
              <a:t>5</a:t>
            </a:r>
          </a:p>
        </p:txBody>
      </p:sp>
      <p:sp>
        <p:nvSpPr>
          <p:cNvPr id="27" name="TextBox 26"/>
          <p:cNvSpPr txBox="1"/>
          <p:nvPr/>
        </p:nvSpPr>
        <p:spPr>
          <a:xfrm>
            <a:off x="4238244" y="3968496"/>
            <a:ext cx="1700784" cy="402336"/>
          </a:xfrm>
          <a:prstGeom prst="rect">
            <a:avLst/>
          </a:prstGeom>
          <a:noFill/>
        </p:spPr>
        <p:txBody>
          <a:bodyPr wrap="square">
            <a:spAutoFit/>
          </a:bodyPr>
          <a:lstStyle/>
          <a:p>
            <a:pPr algn="l"/>
            <a:r>
              <a:rPr sz="1000" b="1" i="0">
                <a:solidFill>
                  <a:srgbClr val="FFFFFF"/>
                </a:solidFill>
                <a:latin typeface="Arial"/>
              </a:rPr>
              <a:t>GraphSAGE aggregation</a:t>
            </a:r>
          </a:p>
        </p:txBody>
      </p:sp>
      <p:sp>
        <p:nvSpPr>
          <p:cNvPr id="28" name="TextBox 27"/>
          <p:cNvSpPr txBox="1"/>
          <p:nvPr/>
        </p:nvSpPr>
        <p:spPr>
          <a:xfrm>
            <a:off x="4238244" y="4425696"/>
            <a:ext cx="1700784" cy="594360"/>
          </a:xfrm>
          <a:prstGeom prst="rect">
            <a:avLst/>
          </a:prstGeom>
          <a:noFill/>
        </p:spPr>
        <p:txBody>
          <a:bodyPr wrap="square">
            <a:spAutoFit/>
          </a:bodyPr>
          <a:lstStyle/>
          <a:p>
            <a:pPr algn="l"/>
            <a:r>
              <a:rPr sz="850" b="0" i="0">
                <a:solidFill>
                  <a:srgbClr val="969696"/>
                </a:solidFill>
                <a:latin typeface="Arial"/>
              </a:rPr>
              <a:t>Balcony nodes propagate their outdoor zoning signal into adjacent corridor nodes through the aggregation step.</a:t>
            </a:r>
          </a:p>
        </p:txBody>
      </p:sp>
      <p:sp>
        <p:nvSpPr>
          <p:cNvPr id="29" name="Right Arrow 28"/>
          <p:cNvSpPr/>
          <p:nvPr/>
        </p:nvSpPr>
        <p:spPr>
          <a:xfrm>
            <a:off x="6012180" y="4233672"/>
            <a:ext cx="164591" cy="201168"/>
          </a:xfrm>
          <a:prstGeom prst="rightArrow">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3348" y="3602736"/>
            <a:ext cx="1901952" cy="1463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7940" y="3694176"/>
            <a:ext cx="365760" cy="256032"/>
          </a:xfrm>
          <a:prstGeom prst="rect">
            <a:avLst/>
          </a:prstGeom>
          <a:noFill/>
        </p:spPr>
        <p:txBody>
          <a:bodyPr wrap="square">
            <a:spAutoFit/>
          </a:bodyPr>
          <a:lstStyle/>
          <a:p>
            <a:pPr algn="l"/>
            <a:r>
              <a:rPr sz="1100" b="1" i="0">
                <a:solidFill>
                  <a:srgbClr val="969696"/>
                </a:solidFill>
                <a:latin typeface="Arial"/>
              </a:rPr>
              <a:t>6</a:t>
            </a:r>
          </a:p>
        </p:txBody>
      </p:sp>
      <p:sp>
        <p:nvSpPr>
          <p:cNvPr id="32" name="TextBox 31"/>
          <p:cNvSpPr txBox="1"/>
          <p:nvPr/>
        </p:nvSpPr>
        <p:spPr>
          <a:xfrm>
            <a:off x="6377940" y="3968496"/>
            <a:ext cx="1700784" cy="402336"/>
          </a:xfrm>
          <a:prstGeom prst="rect">
            <a:avLst/>
          </a:prstGeom>
          <a:noFill/>
        </p:spPr>
        <p:txBody>
          <a:bodyPr wrap="square">
            <a:spAutoFit/>
          </a:bodyPr>
          <a:lstStyle/>
          <a:p>
            <a:pPr algn="l"/>
            <a:r>
              <a:rPr sz="1000" b="1" i="0">
                <a:solidFill>
                  <a:srgbClr val="FFFFFF"/>
                </a:solidFill>
                <a:latin typeface="Arial"/>
              </a:rPr>
              <a:t>63 corridor --&gt; kitchen</a:t>
            </a:r>
          </a:p>
        </p:txBody>
      </p:sp>
      <p:sp>
        <p:nvSpPr>
          <p:cNvPr id="33" name="TextBox 32"/>
          <p:cNvSpPr txBox="1"/>
          <p:nvPr/>
        </p:nvSpPr>
        <p:spPr>
          <a:xfrm>
            <a:off x="6377940" y="4425696"/>
            <a:ext cx="1700784" cy="594360"/>
          </a:xfrm>
          <a:prstGeom prst="rect">
            <a:avLst/>
          </a:prstGeom>
          <a:noFill/>
        </p:spPr>
        <p:txBody>
          <a:bodyPr wrap="square">
            <a:spAutoFit/>
          </a:bodyPr>
          <a:lstStyle/>
          <a:p>
            <a:pPr algn="l"/>
            <a:r>
              <a:rPr sz="850" b="0" i="0">
                <a:solidFill>
                  <a:srgbClr val="969696"/>
                </a:solidFill>
                <a:latin typeface="Arial"/>
              </a:rPr>
              <a:t>The classifier reads the updated embeddings. The balcony signal shifted 63 corridor nodes into the kitchen class. The memorial has the connectivity profile of a habitable apartment.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elev1.png"/>
          <p:cNvPicPr>
            <a:picLocks noChangeAspect="1"/>
          </p:cNvPicPr>
          <p:nvPr/>
        </p:nvPicPr>
        <p:blipFill>
          <a:blip r:embed="rId2"/>
          <a:stretch>
            <a:fillRect/>
          </a:stretch>
        </p:blipFill>
        <p:spPr>
          <a:xfrm>
            <a:off x="182880" y="594360"/>
            <a:ext cx="11823192" cy="8867394"/>
          </a:xfrm>
          <a:prstGeom prst="rect">
            <a:avLst/>
          </a:prstGeom>
        </p:spPr>
      </p:pic>
      <p:sp>
        <p:nvSpPr>
          <p:cNvPr id="3" name="Rectangle 2"/>
          <p:cNvSpPr/>
          <p:nvPr/>
        </p:nvSpPr>
        <p:spPr>
          <a:xfrm>
            <a:off x="0" y="0"/>
            <a:ext cx="12188952" cy="566928"/>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53035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5486400" cy="201168"/>
          </a:xfrm>
          <a:prstGeom prst="rect">
            <a:avLst/>
          </a:prstGeom>
          <a:noFill/>
        </p:spPr>
        <p:txBody>
          <a:bodyPr wrap="square">
            <a:spAutoFit/>
          </a:bodyPr>
          <a:lstStyle/>
          <a:p>
            <a:pPr algn="l"/>
            <a:r>
              <a:rPr sz="700" b="0" i="0">
                <a:solidFill>
                  <a:srgbClr val="626262"/>
                </a:solidFill>
                <a:latin typeface="Arial"/>
              </a:rPr>
              <a:t>RESULT</a:t>
            </a:r>
          </a:p>
        </p:txBody>
      </p:sp>
      <p:sp>
        <p:nvSpPr>
          <p:cNvPr id="6" name="TextBox 5"/>
          <p:cNvSpPr txBox="1"/>
          <p:nvPr/>
        </p:nvSpPr>
        <p:spPr>
          <a:xfrm>
            <a:off x="457200" y="274320"/>
            <a:ext cx="5486400" cy="228600"/>
          </a:xfrm>
          <a:prstGeom prst="rect">
            <a:avLst/>
          </a:prstGeom>
          <a:noFill/>
        </p:spPr>
        <p:txBody>
          <a:bodyPr wrap="square">
            <a:spAutoFit/>
          </a:bodyPr>
          <a:lstStyle/>
          <a:p>
            <a:pPr algn="l"/>
            <a:r>
              <a:rPr sz="1600" b="1" i="0">
                <a:solidFill>
                  <a:srgbClr val="FFFFFF"/>
                </a:solidFill>
                <a:latin typeface="Arial"/>
              </a:rPr>
              <a:t>The Memorial</a:t>
            </a:r>
          </a:p>
        </p:txBody>
      </p:sp>
      <p:sp>
        <p:nvSpPr>
          <p:cNvPr id="7" name="Rectangle 6"/>
          <p:cNvSpPr/>
          <p:nvPr/>
        </p:nvSpPr>
        <p:spPr>
          <a:xfrm>
            <a:off x="0" y="6309360"/>
            <a:ext cx="12188952" cy="54864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382512"/>
            <a:ext cx="11731752" cy="320040"/>
          </a:xfrm>
          <a:prstGeom prst="rect">
            <a:avLst/>
          </a:prstGeom>
          <a:noFill/>
        </p:spPr>
        <p:txBody>
          <a:bodyPr wrap="square">
            <a:spAutoFit/>
          </a:bodyPr>
          <a:lstStyle/>
          <a:p>
            <a:pPr algn="ctr"/>
            <a:r>
              <a:rPr sz="1000" b="0" i="0">
                <a:solidFill>
                  <a:srgbClr val="969696"/>
                </a:solidFill>
                <a:latin typeface="Arial"/>
              </a:rPr>
              <a:t>Graph analysis translated into architectural form.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EXISTING CONDITION</a:t>
            </a:r>
          </a:p>
        </p:txBody>
      </p:sp>
      <p:sp>
        <p:nvSpPr>
          <p:cNvPr id="3" name="TextBox 2"/>
          <p:cNvSpPr txBox="1"/>
          <p:nvPr/>
        </p:nvSpPr>
        <p:spPr>
          <a:xfrm>
            <a:off x="457200" y="475488"/>
            <a:ext cx="6400800" cy="548640"/>
          </a:xfrm>
          <a:prstGeom prst="rect">
            <a:avLst/>
          </a:prstGeom>
          <a:noFill/>
        </p:spPr>
        <p:txBody>
          <a:bodyPr wrap="square">
            <a:spAutoFit/>
          </a:bodyPr>
          <a:lstStyle/>
          <a:p>
            <a:pPr algn="l"/>
            <a:r>
              <a:rPr sz="2600" b="1" i="0">
                <a:solidFill>
                  <a:srgbClr val="FFFFFF"/>
                </a:solidFill>
                <a:latin typeface="Arial"/>
              </a:rPr>
              <a:t>Existing Plan</a:t>
            </a:r>
          </a:p>
        </p:txBody>
      </p:sp>
      <p:sp>
        <p:nvSpPr>
          <p:cNvPr id="4" name="Rectangle 3"/>
          <p:cNvSpPr/>
          <p:nvPr/>
        </p:nvSpPr>
        <p:spPr>
          <a:xfrm>
            <a:off x="457200" y="107899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8229600" cy="384048"/>
          </a:xfrm>
          <a:prstGeom prst="rect">
            <a:avLst/>
          </a:prstGeom>
          <a:noFill/>
        </p:spPr>
        <p:txBody>
          <a:bodyPr wrap="square">
            <a:spAutoFit/>
          </a:bodyPr>
          <a:lstStyle/>
          <a:p>
            <a:pPr algn="l"/>
            <a:r>
              <a:rPr sz="1000" b="0" i="0">
                <a:solidFill>
                  <a:srgbClr val="969696"/>
                </a:solidFill>
                <a:latin typeface="Arial"/>
              </a:rPr>
              <a:t>The 87-02 section after the strike: intact half (right), destroyed half (left). The staircase core at center connects to a void.</a:t>
            </a:r>
          </a:p>
        </p:txBody>
      </p:sp>
      <p:pic>
        <p:nvPicPr>
          <p:cNvPr id="6" name="Picture 5" descr="plan_existing2.png"/>
          <p:cNvPicPr>
            <a:picLocks noChangeAspect="1"/>
          </p:cNvPicPr>
          <p:nvPr/>
        </p:nvPicPr>
        <p:blipFill>
          <a:blip r:embed="rId2"/>
          <a:stretch>
            <a:fillRect/>
          </a:stretch>
        </p:blipFill>
        <p:spPr>
          <a:xfrm>
            <a:off x="274320" y="1719072"/>
            <a:ext cx="11640312" cy="873023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PROPOSAL</a:t>
            </a:r>
          </a:p>
        </p:txBody>
      </p:sp>
      <p:sp>
        <p:nvSpPr>
          <p:cNvPr id="3" name="TextBox 2"/>
          <p:cNvSpPr txBox="1"/>
          <p:nvPr/>
        </p:nvSpPr>
        <p:spPr>
          <a:xfrm>
            <a:off x="457200" y="475488"/>
            <a:ext cx="8229600" cy="548640"/>
          </a:xfrm>
          <a:prstGeom prst="rect">
            <a:avLst/>
          </a:prstGeom>
          <a:noFill/>
        </p:spPr>
        <p:txBody>
          <a:bodyPr wrap="square">
            <a:spAutoFit/>
          </a:bodyPr>
          <a:lstStyle/>
          <a:p>
            <a:pPr algn="l"/>
            <a:r>
              <a:rPr sz="2600" b="1" i="0">
                <a:solidFill>
                  <a:srgbClr val="FFFFFF"/>
                </a:solidFill>
                <a:latin typeface="Arial"/>
              </a:rPr>
              <a:t>Proposed Plan -- Memorial Slabs</a:t>
            </a:r>
          </a:p>
        </p:txBody>
      </p:sp>
      <p:sp>
        <p:nvSpPr>
          <p:cNvPr id="4" name="Rectangle 3"/>
          <p:cNvSpPr/>
          <p:nvPr/>
        </p:nvSpPr>
        <p:spPr>
          <a:xfrm>
            <a:off x="457200" y="107899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475488"/>
          </a:xfrm>
          <a:prstGeom prst="rect">
            <a:avLst/>
          </a:prstGeom>
          <a:noFill/>
        </p:spPr>
        <p:txBody>
          <a:bodyPr wrap="square">
            <a:spAutoFit/>
          </a:bodyPr>
          <a:lstStyle/>
          <a:p>
            <a:pPr algn="l"/>
            <a:r>
              <a:rPr sz="1000" b="0" i="0">
                <a:solidFill>
                  <a:srgbClr val="969696"/>
                </a:solidFill>
                <a:latin typeface="Arial"/>
              </a:rPr>
              <a:t>Each destroyed room returns as a slab at the room's original footprint, shrunk inward by the wall thickness. Z-height = -step x BFS depth from entrance. The promenade descends from the landing as graph depth increases.</a:t>
            </a:r>
          </a:p>
        </p:txBody>
      </p:sp>
      <p:pic>
        <p:nvPicPr>
          <p:cNvPr id="6" name="Picture 5" descr="plan_proposed_1.png"/>
          <p:cNvPicPr>
            <a:picLocks noChangeAspect="1"/>
          </p:cNvPicPr>
          <p:nvPr/>
        </p:nvPicPr>
        <p:blipFill>
          <a:blip r:embed="rId2"/>
          <a:stretch>
            <a:fillRect/>
          </a:stretch>
        </p:blipFill>
        <p:spPr>
          <a:xfrm>
            <a:off x="274320" y="1828800"/>
            <a:ext cx="11640312" cy="873023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PROPOSAL -- DETAIL</a:t>
            </a:r>
          </a:p>
        </p:txBody>
      </p:sp>
      <p:sp>
        <p:nvSpPr>
          <p:cNvPr id="3" name="TextBox 2"/>
          <p:cNvSpPr txBox="1"/>
          <p:nvPr/>
        </p:nvSpPr>
        <p:spPr>
          <a:xfrm>
            <a:off x="457200" y="475488"/>
            <a:ext cx="8686800" cy="548640"/>
          </a:xfrm>
          <a:prstGeom prst="rect">
            <a:avLst/>
          </a:prstGeom>
          <a:noFill/>
        </p:spPr>
        <p:txBody>
          <a:bodyPr wrap="square">
            <a:spAutoFit/>
          </a:bodyPr>
          <a:lstStyle/>
          <a:p>
            <a:pPr algn="l"/>
            <a:r>
              <a:rPr sz="2600" b="1" i="0">
                <a:solidFill>
                  <a:srgbClr val="FFFFFF"/>
                </a:solidFill>
                <a:latin typeface="Arial"/>
              </a:rPr>
              <a:t>Proposed Plan -- With Step-Bridges</a:t>
            </a:r>
          </a:p>
        </p:txBody>
      </p:sp>
      <p:sp>
        <p:nvSpPr>
          <p:cNvPr id="4" name="Rectangle 3"/>
          <p:cNvSpPr/>
          <p:nvPr/>
        </p:nvSpPr>
        <p:spPr>
          <a:xfrm>
            <a:off x="457200" y="107899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502920"/>
          </a:xfrm>
          <a:prstGeom prst="rect">
            <a:avLst/>
          </a:prstGeom>
          <a:noFill/>
        </p:spPr>
        <p:txBody>
          <a:bodyPr wrap="square">
            <a:spAutoFit/>
          </a:bodyPr>
          <a:lstStyle/>
          <a:p>
            <a:pPr algn="l"/>
            <a:r>
              <a:rPr sz="1000" b="0" i="0">
                <a:solidFill>
                  <a:srgbClr val="969696"/>
                </a:solidFill>
                <a:latin typeface="Arial"/>
              </a:rPr>
              <a:t>Two connected slabs at different depths sit at different Z levels. The door position between them in the original plan becomes the step. The step height equals one step unit, because adjacent rooms differ by exactly one BFS hop. Slab edges at non-door positions are left open -- the gap is the missing wall.</a:t>
            </a:r>
          </a:p>
        </p:txBody>
      </p:sp>
      <p:pic>
        <p:nvPicPr>
          <p:cNvPr id="6" name="Picture 5" descr="plan_proposed_2.1.png"/>
          <p:cNvPicPr>
            <a:picLocks noChangeAspect="1"/>
          </p:cNvPicPr>
          <p:nvPr/>
        </p:nvPicPr>
        <p:blipFill>
          <a:blip r:embed="rId2"/>
          <a:stretch>
            <a:fillRect/>
          </a:stretch>
        </p:blipFill>
        <p:spPr>
          <a:xfrm>
            <a:off x="274320" y="1828800"/>
            <a:ext cx="11640312" cy="873023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RESULT -- AXONOMETRY</a:t>
            </a:r>
          </a:p>
        </p:txBody>
      </p:sp>
      <p:sp>
        <p:nvSpPr>
          <p:cNvPr id="3" name="TextBox 2"/>
          <p:cNvSpPr txBox="1"/>
          <p:nvPr/>
        </p:nvSpPr>
        <p:spPr>
          <a:xfrm>
            <a:off x="457200" y="475488"/>
            <a:ext cx="8686800" cy="548640"/>
          </a:xfrm>
          <a:prstGeom prst="rect">
            <a:avLst/>
          </a:prstGeom>
          <a:noFill/>
        </p:spPr>
        <p:txBody>
          <a:bodyPr wrap="square">
            <a:spAutoFit/>
          </a:bodyPr>
          <a:lstStyle/>
          <a:p>
            <a:pPr algn="l"/>
            <a:r>
              <a:rPr sz="2600" b="1" i="0">
                <a:solidFill>
                  <a:srgbClr val="FFFFFF"/>
                </a:solidFill>
                <a:latin typeface="Arial"/>
              </a:rPr>
              <a:t>Memorial Intervention in Context</a:t>
            </a:r>
          </a:p>
        </p:txBody>
      </p:sp>
      <p:sp>
        <p:nvSpPr>
          <p:cNvPr id="4" name="Rectangle 3"/>
          <p:cNvSpPr/>
          <p:nvPr/>
        </p:nvSpPr>
        <p:spPr>
          <a:xfrm>
            <a:off x="457200" y="107899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11430000" cy="411480"/>
          </a:xfrm>
          <a:prstGeom prst="rect">
            <a:avLst/>
          </a:prstGeom>
          <a:noFill/>
        </p:spPr>
        <p:txBody>
          <a:bodyPr wrap="square">
            <a:spAutoFit/>
          </a:bodyPr>
          <a:lstStyle/>
          <a:p>
            <a:pPr algn="l"/>
            <a:r>
              <a:rPr sz="1000" b="0" i="0">
                <a:solidFill>
                  <a:srgbClr val="969696"/>
                </a:solidFill>
                <a:latin typeface="Arial"/>
              </a:rPr>
              <a:t>The depth-mapped slabs step down into the gap. The intact section is unchanged. The staircase at center now leads into a descending spatial sequence that traces the access graph of the lost apartment.</a:t>
            </a:r>
          </a:p>
        </p:txBody>
      </p:sp>
      <p:pic>
        <p:nvPicPr>
          <p:cNvPr id="6" name="Picture 5" descr="axon3.1.png"/>
          <p:cNvPicPr>
            <a:picLocks noChangeAspect="1"/>
          </p:cNvPicPr>
          <p:nvPr/>
        </p:nvPicPr>
        <p:blipFill>
          <a:blip r:embed="rId2"/>
          <a:stretch>
            <a:fillRect/>
          </a:stretch>
        </p:blipFill>
        <p:spPr>
          <a:xfrm>
            <a:off x="274320" y="1737360"/>
            <a:ext cx="5760720" cy="4320540"/>
          </a:xfrm>
          <a:prstGeom prst="rect">
            <a:avLst/>
          </a:prstGeom>
        </p:spPr>
      </p:pic>
      <p:pic>
        <p:nvPicPr>
          <p:cNvPr id="7" name="Picture 6" descr="axon3.2.png"/>
          <p:cNvPicPr>
            <a:picLocks noChangeAspect="1"/>
          </p:cNvPicPr>
          <p:nvPr/>
        </p:nvPicPr>
        <p:blipFill>
          <a:blip r:embed="rId3"/>
          <a:stretch>
            <a:fillRect/>
          </a:stretch>
        </p:blipFill>
        <p:spPr>
          <a:xfrm>
            <a:off x="6263640" y="1737360"/>
            <a:ext cx="5650992" cy="423824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RESULT -- MEMORIAL</a:t>
            </a:r>
          </a:p>
        </p:txBody>
      </p:sp>
      <p:sp>
        <p:nvSpPr>
          <p:cNvPr id="3" name="TextBox 2"/>
          <p:cNvSpPr txBox="1"/>
          <p:nvPr/>
        </p:nvSpPr>
        <p:spPr>
          <a:xfrm>
            <a:off x="457200" y="475488"/>
            <a:ext cx="6400800" cy="548640"/>
          </a:xfrm>
          <a:prstGeom prst="rect">
            <a:avLst/>
          </a:prstGeom>
          <a:noFill/>
        </p:spPr>
        <p:txBody>
          <a:bodyPr wrap="square">
            <a:spAutoFit/>
          </a:bodyPr>
          <a:lstStyle/>
          <a:p>
            <a:pPr algn="l"/>
            <a:r>
              <a:rPr sz="2800" b="1" i="0">
                <a:solidFill>
                  <a:srgbClr val="FFFFFF"/>
                </a:solidFill>
                <a:latin typeface="Arial"/>
              </a:rPr>
              <a:t>The Intervention</a:t>
            </a:r>
          </a:p>
        </p:txBody>
      </p:sp>
      <p:sp>
        <p:nvSpPr>
          <p:cNvPr id="4" name="Rectangle 3"/>
          <p:cNvSpPr/>
          <p:nvPr/>
        </p:nvSpPr>
        <p:spPr>
          <a:xfrm>
            <a:off x="457200" y="1078992"/>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7008"/>
            <a:ext cx="9601200" cy="411480"/>
          </a:xfrm>
          <a:prstGeom prst="rect">
            <a:avLst/>
          </a:prstGeom>
          <a:noFill/>
        </p:spPr>
        <p:txBody>
          <a:bodyPr wrap="square">
            <a:spAutoFit/>
          </a:bodyPr>
          <a:lstStyle/>
          <a:p>
            <a:pPr algn="l"/>
            <a:r>
              <a:rPr sz="1000" b="0" i="0">
                <a:solidFill>
                  <a:srgbClr val="969696"/>
                </a:solidFill>
                <a:latin typeface="Arial"/>
              </a:rPr>
              <a:t>Slabs at depth-mapped Z heights. Gaps between slab edges at non-door positions = the vanished walls. Bridges at door positions connecting slabs at adjacent depths.</a:t>
            </a:r>
          </a:p>
        </p:txBody>
      </p:sp>
      <p:pic>
        <p:nvPicPr>
          <p:cNvPr id="6" name="Picture 5" descr="axon4.png"/>
          <p:cNvPicPr>
            <a:picLocks noChangeAspect="1"/>
          </p:cNvPicPr>
          <p:nvPr/>
        </p:nvPicPr>
        <p:blipFill>
          <a:blip r:embed="rId2"/>
          <a:stretch>
            <a:fillRect/>
          </a:stretch>
        </p:blipFill>
        <p:spPr>
          <a:xfrm>
            <a:off x="1371600" y="1737360"/>
            <a:ext cx="9445752" cy="708431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pic>
        <p:nvPicPr>
          <p:cNvPr id="2" name="Picture 1" descr="axon6.png"/>
          <p:cNvPicPr>
            <a:picLocks noChangeAspect="1"/>
          </p:cNvPicPr>
          <p:nvPr/>
        </p:nvPicPr>
        <p:blipFill>
          <a:blip r:embed="rId2"/>
          <a:stretch>
            <a:fillRect/>
          </a:stretch>
        </p:blipFill>
        <p:spPr>
          <a:xfrm>
            <a:off x="0" y="0"/>
            <a:ext cx="12188952" cy="9141714"/>
          </a:xfrm>
          <a:prstGeom prst="rect">
            <a:avLst/>
          </a:prstGeom>
        </p:spPr>
      </p:pic>
      <p:sp>
        <p:nvSpPr>
          <p:cNvPr id="3" name="Rectangle 2"/>
          <p:cNvSpPr/>
          <p:nvPr/>
        </p:nvSpPr>
        <p:spPr>
          <a:xfrm>
            <a:off x="0" y="0"/>
            <a:ext cx="12188952" cy="1115568"/>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5486400" cy="201168"/>
          </a:xfrm>
          <a:prstGeom prst="rect">
            <a:avLst/>
          </a:prstGeom>
          <a:noFill/>
        </p:spPr>
        <p:txBody>
          <a:bodyPr wrap="square">
            <a:spAutoFit/>
          </a:bodyPr>
          <a:lstStyle/>
          <a:p>
            <a:pPr algn="l"/>
            <a:r>
              <a:rPr sz="700" b="0" i="0">
                <a:solidFill>
                  <a:srgbClr val="626262"/>
                </a:solidFill>
                <a:latin typeface="Arial"/>
              </a:rPr>
              <a:t>RESULT -- FACADE</a:t>
            </a:r>
          </a:p>
        </p:txBody>
      </p:sp>
      <p:sp>
        <p:nvSpPr>
          <p:cNvPr id="5" name="TextBox 4"/>
          <p:cNvSpPr txBox="1"/>
          <p:nvPr/>
        </p:nvSpPr>
        <p:spPr>
          <a:xfrm>
            <a:off x="457200" y="457200"/>
            <a:ext cx="9144000" cy="530352"/>
          </a:xfrm>
          <a:prstGeom prst="rect">
            <a:avLst/>
          </a:prstGeom>
          <a:noFill/>
        </p:spPr>
        <p:txBody>
          <a:bodyPr wrap="square">
            <a:spAutoFit/>
          </a:bodyPr>
          <a:lstStyle/>
          <a:p>
            <a:pPr algn="l"/>
            <a:r>
              <a:rPr sz="2400" b="1" i="0">
                <a:solidFill>
                  <a:srgbClr val="FFFFFF"/>
                </a:solidFill>
                <a:latin typeface="Arial"/>
              </a:rPr>
              <a:t>The Memorial Seen from the Street</a:t>
            </a:r>
          </a:p>
        </p:txBody>
      </p:sp>
      <p:sp>
        <p:nvSpPr>
          <p:cNvPr id="6" name="Rectangle 5"/>
          <p:cNvSpPr/>
          <p:nvPr/>
        </p:nvSpPr>
        <p:spPr>
          <a:xfrm>
            <a:off x="457200" y="1024128"/>
            <a:ext cx="11731752"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5961888"/>
            <a:ext cx="12188952" cy="896112"/>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108192"/>
            <a:ext cx="11731752" cy="548640"/>
          </a:xfrm>
          <a:prstGeom prst="rect">
            <a:avLst/>
          </a:prstGeom>
          <a:noFill/>
        </p:spPr>
        <p:txBody>
          <a:bodyPr wrap="square">
            <a:spAutoFit/>
          </a:bodyPr>
          <a:lstStyle/>
          <a:p>
            <a:pPr algn="ctr"/>
            <a:r>
              <a:rPr sz="1400" b="0" i="1">
                <a:solidFill>
                  <a:srgbClr val="CCCCCC"/>
                </a:solidFill>
                <a:latin typeface="Arial"/>
              </a:rPr>
              <a:t>The promenade is the access graph of the lost apartment, made walkable.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