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8895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juWbMgLy27qPUajeaLp1E52U2S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1c54a733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f1c54a733f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1792288" y="612775"/>
            <a:ext cx="5486400" cy="4114800"/>
          </a:xfrm>
          <a:prstGeom prst="rect">
            <a:avLst/>
          </a:prstGeom>
          <a:noFill/>
          <a:ln>
            <a:noFill/>
          </a:ln>
        </p:spPr>
      </p:sp>
      <p:sp>
        <p:nvSpPr>
          <p:cNvPr id="64" name="Google Shape;64;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16.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4.png"/><Relationship Id="rId5"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83" name="Shape 83"/>
        <p:cNvGrpSpPr/>
        <p:nvPr/>
      </p:nvGrpSpPr>
      <p:grpSpPr>
        <a:xfrm>
          <a:off x="0" y="0"/>
          <a:ext cx="0" cy="0"/>
          <a:chOff x="0" y="0"/>
          <a:chExt cx="0" cy="0"/>
        </a:xfrm>
      </p:grpSpPr>
      <p:pic>
        <p:nvPicPr>
          <p:cNvPr descr="elev1.png" id="84" name="Google Shape;84;g3f1c54a733f_1_0"/>
          <p:cNvPicPr preferRelativeResize="0"/>
          <p:nvPr/>
        </p:nvPicPr>
        <p:blipFill rotWithShape="1">
          <a:blip r:embed="rId3">
            <a:alphaModFix/>
          </a:blip>
          <a:srcRect b="0" l="-5507" r="0" t="0"/>
          <a:stretch/>
        </p:blipFill>
        <p:spPr>
          <a:xfrm>
            <a:off x="-679000" y="-300675"/>
            <a:ext cx="12282301" cy="8730225"/>
          </a:xfrm>
          <a:prstGeom prst="rect">
            <a:avLst/>
          </a:prstGeom>
          <a:noFill/>
          <a:ln>
            <a:noFill/>
          </a:ln>
        </p:spPr>
      </p:pic>
      <p:sp>
        <p:nvSpPr>
          <p:cNvPr id="85" name="Google Shape;85;g3f1c54a733f_1_0"/>
          <p:cNvSpPr txBox="1"/>
          <p:nvPr/>
        </p:nvSpPr>
        <p:spPr>
          <a:xfrm>
            <a:off x="548640" y="1600200"/>
            <a:ext cx="53034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50" u="none" cap="none" strike="noStrike">
                <a:solidFill>
                  <a:srgbClr val="999999"/>
                </a:solidFill>
                <a:latin typeface="Arial"/>
                <a:ea typeface="Arial"/>
                <a:cs typeface="Arial"/>
                <a:sym typeface="Arial"/>
              </a:rPr>
              <a:t>GRAPH MACHINE LEARNING</a:t>
            </a:r>
            <a:endParaRPr sz="2000"/>
          </a:p>
        </p:txBody>
      </p:sp>
      <p:sp>
        <p:nvSpPr>
          <p:cNvPr id="86" name="Google Shape;86;g3f1c54a733f_1_0"/>
          <p:cNvSpPr txBox="1"/>
          <p:nvPr/>
        </p:nvSpPr>
        <p:spPr>
          <a:xfrm>
            <a:off x="548640" y="2572256"/>
            <a:ext cx="53034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chemeClr val="dk1"/>
                </a:solidFill>
                <a:latin typeface="Arial"/>
                <a:ea typeface="Arial"/>
                <a:cs typeface="Arial"/>
                <a:sym typeface="Arial"/>
              </a:rPr>
              <a:t>Memorial</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in Topology</a:t>
            </a:r>
            <a:endParaRPr>
              <a:solidFill>
                <a:schemeClr val="dk1"/>
              </a:solidFill>
            </a:endParaRPr>
          </a:p>
        </p:txBody>
      </p:sp>
      <p:sp>
        <p:nvSpPr>
          <p:cNvPr id="87" name="Google Shape;87;g3f1c54a733f_1_0"/>
          <p:cNvSpPr txBox="1"/>
          <p:nvPr/>
        </p:nvSpPr>
        <p:spPr>
          <a:xfrm>
            <a:off x="548640" y="3868710"/>
            <a:ext cx="5303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CCCCCC"/>
                </a:solidFill>
                <a:latin typeface="Arial"/>
                <a:ea typeface="Arial"/>
                <a:cs typeface="Arial"/>
                <a:sym typeface="Arial"/>
              </a:rPr>
              <a:t>A Reading of Wartime Loss in Kyiv</a:t>
            </a:r>
            <a:endParaRPr/>
          </a:p>
        </p:txBody>
      </p:sp>
      <p:sp>
        <p:nvSpPr>
          <p:cNvPr id="88" name="Google Shape;88;g3f1c54a733f_1_0"/>
          <p:cNvSpPr/>
          <p:nvPr/>
        </p:nvSpPr>
        <p:spPr>
          <a:xfrm>
            <a:off x="548640" y="4389120"/>
            <a:ext cx="5394900" cy="12600"/>
          </a:xfrm>
          <a:prstGeom prst="rect">
            <a:avLst/>
          </a:prstGeom>
          <a:solidFill>
            <a:srgbClr val="383838"/>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g3f1c54a733f_1_0"/>
          <p:cNvSpPr txBox="1"/>
          <p:nvPr/>
        </p:nvSpPr>
        <p:spPr>
          <a:xfrm>
            <a:off x="548640" y="4572000"/>
            <a:ext cx="53034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Marina Osmolovska</a:t>
            </a:r>
            <a:endParaRPr/>
          </a:p>
        </p:txBody>
      </p:sp>
      <p:sp>
        <p:nvSpPr>
          <p:cNvPr id="90" name="Google Shape;90;g3f1c54a733f_1_0"/>
          <p:cNvSpPr txBox="1"/>
          <p:nvPr/>
        </p:nvSpPr>
        <p:spPr>
          <a:xfrm>
            <a:off x="548640" y="4937760"/>
            <a:ext cx="53034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999999"/>
                </a:solidFill>
              </a:rPr>
              <a:t>IAAC </a:t>
            </a:r>
            <a:r>
              <a:rPr b="0" i="0" lang="en-US" sz="1100" u="none" cap="none" strike="noStrike">
                <a:solidFill>
                  <a:srgbClr val="999999"/>
                </a:solidFill>
                <a:latin typeface="Arial"/>
                <a:ea typeface="Arial"/>
                <a:cs typeface="Arial"/>
                <a:sym typeface="Arial"/>
              </a:rPr>
              <a:t>MaCAD 2025</a:t>
            </a:r>
            <a:r>
              <a:rPr lang="en-US" sz="1100">
                <a:solidFill>
                  <a:srgbClr val="999999"/>
                </a:solidFill>
              </a:rPr>
              <a:t>/</a:t>
            </a:r>
            <a:r>
              <a:rPr b="0" i="0" lang="en-US" sz="1100" u="none" cap="none" strike="noStrike">
                <a:solidFill>
                  <a:srgbClr val="999999"/>
                </a:solidFill>
                <a:latin typeface="Arial"/>
                <a:ea typeface="Arial"/>
                <a:cs typeface="Arial"/>
                <a:sym typeface="Arial"/>
              </a:rPr>
              <a:t>26  ·  Semester 3</a:t>
            </a:r>
            <a:endParaRPr sz="1600"/>
          </a:p>
        </p:txBody>
      </p:sp>
      <p:sp>
        <p:nvSpPr>
          <p:cNvPr id="91" name="Google Shape;91;g3f1c54a733f_1_0"/>
          <p:cNvSpPr txBox="1"/>
          <p:nvPr/>
        </p:nvSpPr>
        <p:spPr>
          <a:xfrm>
            <a:off x="548640" y="5168445"/>
            <a:ext cx="5303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99999"/>
                </a:solidFill>
                <a:latin typeface="Arial"/>
                <a:ea typeface="Arial"/>
                <a:cs typeface="Arial"/>
                <a:sym typeface="Arial"/>
              </a:rPr>
              <a:t>Buildings as Graphs</a:t>
            </a:r>
            <a:br>
              <a:rPr b="0" i="0" lang="en-US" sz="1100" u="none" cap="none" strike="noStrike">
                <a:solidFill>
                  <a:srgbClr val="999999"/>
                </a:solidFill>
                <a:latin typeface="Arial"/>
                <a:ea typeface="Arial"/>
                <a:cs typeface="Arial"/>
                <a:sym typeface="Arial"/>
              </a:rPr>
            </a:br>
            <a:r>
              <a:rPr lang="en-US" sz="1100">
                <a:solidFill>
                  <a:srgbClr val="999999"/>
                </a:solidFill>
              </a:rPr>
              <a:t>Wassim Jabi | </a:t>
            </a:r>
            <a:r>
              <a:rPr b="0" i="0" lang="en-US" sz="1100" u="none" cap="none" strike="noStrike">
                <a:solidFill>
                  <a:srgbClr val="999999"/>
                </a:solidFill>
                <a:latin typeface="Arial"/>
                <a:ea typeface="Arial"/>
                <a:cs typeface="Arial"/>
                <a:sym typeface="Arial"/>
              </a:rPr>
              <a:t>O</a:t>
            </a:r>
            <a:r>
              <a:rPr lang="en-US" sz="1100">
                <a:solidFill>
                  <a:srgbClr val="999999"/>
                </a:solidFill>
              </a:rPr>
              <a:t>lga Poletkina</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 name="Shape 95"/>
        <p:cNvGrpSpPr/>
        <p:nvPr/>
      </p:nvGrpSpPr>
      <p:grpSpPr>
        <a:xfrm>
          <a:off x="0" y="0"/>
          <a:ext cx="0" cy="0"/>
          <a:chOff x="0" y="0"/>
          <a:chExt cx="0" cy="0"/>
        </a:xfrm>
      </p:grpSpPr>
      <p:pic>
        <p:nvPicPr>
          <p:cNvPr descr="plan_existing2.png" id="96" name="Google Shape;96;p2"/>
          <p:cNvPicPr preferRelativeResize="0"/>
          <p:nvPr/>
        </p:nvPicPr>
        <p:blipFill rotWithShape="1">
          <a:blip r:embed="rId3">
            <a:alphaModFix/>
          </a:blip>
          <a:srcRect b="0" l="0" r="0" t="0"/>
          <a:stretch/>
        </p:blipFill>
        <p:spPr>
          <a:xfrm>
            <a:off x="0" y="950600"/>
            <a:ext cx="11812198" cy="8859149"/>
          </a:xfrm>
          <a:prstGeom prst="rect">
            <a:avLst/>
          </a:prstGeom>
          <a:noFill/>
          <a:ln>
            <a:noFill/>
          </a:ln>
        </p:spPr>
      </p:pic>
      <p:sp>
        <p:nvSpPr>
          <p:cNvPr id="97" name="Google Shape;97;p2"/>
          <p:cNvSpPr txBox="1"/>
          <p:nvPr/>
        </p:nvSpPr>
        <p:spPr>
          <a:xfrm>
            <a:off x="457200" y="292608"/>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CONTEXT</a:t>
            </a:r>
            <a:endParaRPr/>
          </a:p>
        </p:txBody>
      </p:sp>
      <p:sp>
        <p:nvSpPr>
          <p:cNvPr id="98" name="Google Shape;98;p2"/>
          <p:cNvSpPr txBox="1"/>
          <p:nvPr/>
        </p:nvSpPr>
        <p:spPr>
          <a:xfrm>
            <a:off x="457200" y="530352"/>
            <a:ext cx="45720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FFFFF"/>
                </a:solidFill>
                <a:latin typeface="Arial"/>
                <a:ea typeface="Arial"/>
                <a:cs typeface="Arial"/>
                <a:sym typeface="Arial"/>
              </a:rPr>
              <a:t>The Building</a:t>
            </a:r>
            <a:endParaRPr/>
          </a:p>
        </p:txBody>
      </p:sp>
      <p:sp>
        <p:nvSpPr>
          <p:cNvPr id="99" name="Google Shape;99;p2"/>
          <p:cNvSpPr/>
          <p:nvPr/>
        </p:nvSpPr>
        <p:spPr>
          <a:xfrm>
            <a:off x="457200" y="1243584"/>
            <a:ext cx="4389120"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2"/>
          <p:cNvSpPr txBox="1"/>
          <p:nvPr/>
        </p:nvSpPr>
        <p:spPr>
          <a:xfrm>
            <a:off x="457200" y="1389900"/>
            <a:ext cx="48900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CCCCC"/>
                </a:solidFill>
                <a:latin typeface="Arial"/>
                <a:ea typeface="Arial"/>
                <a:cs typeface="Arial"/>
                <a:sym typeface="Arial"/>
              </a:rPr>
              <a:t>87-02 Soviet panel block-section. Nine storeys, two apartments per floor, mirrored around a single staircase core. A standard type mass-produced across the USSR from the 1960s onward.</a:t>
            </a:r>
            <a:endParaRPr/>
          </a:p>
        </p:txBody>
      </p:sp>
      <p:sp>
        <p:nvSpPr>
          <p:cNvPr id="101" name="Google Shape;101;p2"/>
          <p:cNvSpPr txBox="1"/>
          <p:nvPr/>
        </p:nvSpPr>
        <p:spPr>
          <a:xfrm>
            <a:off x="457200" y="2084825"/>
            <a:ext cx="48900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CCCCC"/>
                </a:solidFill>
                <a:latin typeface="Arial"/>
                <a:ea typeface="Arial"/>
                <a:cs typeface="Arial"/>
                <a:sym typeface="Arial"/>
              </a:rPr>
              <a:t>A rocket strike destroyed the right half of one such section in Kyiv. The staircase survived. The apartments on one side did not. The stair now opens onto a concrete void.</a:t>
            </a:r>
            <a:endParaRPr/>
          </a:p>
        </p:txBody>
      </p:sp>
      <p:sp>
        <p:nvSpPr>
          <p:cNvPr id="102" name="Google Shape;102;p2"/>
          <p:cNvSpPr/>
          <p:nvPr/>
        </p:nvSpPr>
        <p:spPr>
          <a:xfrm>
            <a:off x="457200" y="2798064"/>
            <a:ext cx="4389120"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457200" y="2810781"/>
            <a:ext cx="4389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882288"/>
                </a:solidFill>
                <a:latin typeface="Arial"/>
                <a:ea typeface="Arial"/>
                <a:cs typeface="Arial"/>
                <a:sym typeface="Arial"/>
              </a:rPr>
              <a:t>The surviving stair leads,</a:t>
            </a:r>
            <a:br>
              <a:rPr b="1" i="0" lang="en-US" sz="1600" u="none" cap="none" strike="noStrike">
                <a:solidFill>
                  <a:srgbClr val="882288"/>
                </a:solidFill>
                <a:latin typeface="Arial"/>
                <a:ea typeface="Arial"/>
                <a:cs typeface="Arial"/>
                <a:sym typeface="Arial"/>
              </a:rPr>
            </a:br>
            <a:r>
              <a:rPr b="1" i="0" lang="en-US" sz="1600" u="none" cap="none" strike="noStrike">
                <a:solidFill>
                  <a:srgbClr val="882288"/>
                </a:solidFill>
                <a:latin typeface="Arial"/>
                <a:ea typeface="Arial"/>
                <a:cs typeface="Arial"/>
                <a:sym typeface="Arial"/>
              </a:rPr>
              <a:t>in graph terms, to nothing.</a:t>
            </a:r>
            <a:endParaRPr>
              <a:solidFill>
                <a:srgbClr val="882288"/>
              </a:solidFill>
            </a:endParaRPr>
          </a:p>
        </p:txBody>
      </p:sp>
      <p:sp>
        <p:nvSpPr>
          <p:cNvPr id="104" name="Google Shape;104;p2"/>
          <p:cNvSpPr txBox="1"/>
          <p:nvPr/>
        </p:nvSpPr>
        <p:spPr>
          <a:xfrm>
            <a:off x="457200" y="3429000"/>
            <a:ext cx="48900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69696"/>
                </a:solidFill>
                <a:latin typeface="Arial"/>
                <a:ea typeface="Arial"/>
                <a:cs typeface="Arial"/>
                <a:sym typeface="Arial"/>
              </a:rPr>
              <a:t>The project reads the lost apartment as a spatial graph and uses that graph to generate a memorial form. Each room that no longer exists is given back a floor slab, positioned by the room's topological distance from the entrance.</a:t>
            </a:r>
            <a:endParaRPr/>
          </a:p>
        </p:txBody>
      </p:sp>
      <p:sp>
        <p:nvSpPr>
          <p:cNvPr id="105" name="Google Shape;105;p2"/>
          <p:cNvSpPr txBox="1"/>
          <p:nvPr/>
        </p:nvSpPr>
        <p:spPr>
          <a:xfrm>
            <a:off x="7134475" y="6096375"/>
            <a:ext cx="36576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B07858"/>
                </a:solidFill>
              </a:rPr>
              <a:t>existing plan</a:t>
            </a:r>
            <a:endParaRPr sz="800"/>
          </a:p>
        </p:txBody>
      </p:sp>
      <p:pic>
        <p:nvPicPr>
          <p:cNvPr id="106" name="Google Shape;106;p2" title="adjacency2.png"/>
          <p:cNvPicPr preferRelativeResize="0"/>
          <p:nvPr/>
        </p:nvPicPr>
        <p:blipFill rotWithShape="1">
          <a:blip r:embed="rId4">
            <a:alphaModFix/>
          </a:blip>
          <a:srcRect b="6250" l="4136" r="1870" t="11405"/>
          <a:stretch/>
        </p:blipFill>
        <p:spPr>
          <a:xfrm>
            <a:off x="5737600" y="1256900"/>
            <a:ext cx="6451350" cy="3055900"/>
          </a:xfrm>
          <a:prstGeom prst="rect">
            <a:avLst/>
          </a:prstGeom>
          <a:noFill/>
          <a:ln>
            <a:noFill/>
          </a:ln>
        </p:spPr>
      </p:pic>
      <p:sp>
        <p:nvSpPr>
          <p:cNvPr id="107" name="Google Shape;107;p2"/>
          <p:cNvSpPr txBox="1"/>
          <p:nvPr/>
        </p:nvSpPr>
        <p:spPr>
          <a:xfrm>
            <a:off x="7134475" y="6096375"/>
            <a:ext cx="36576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B07858"/>
                </a:solidFill>
              </a:rPr>
              <a:t>existing plan</a:t>
            </a:r>
            <a:endParaRPr sz="800"/>
          </a:p>
        </p:txBody>
      </p:sp>
      <p:sp>
        <p:nvSpPr>
          <p:cNvPr id="108" name="Google Shape;108;p2"/>
          <p:cNvSpPr txBox="1"/>
          <p:nvPr/>
        </p:nvSpPr>
        <p:spPr>
          <a:xfrm>
            <a:off x="7134475" y="4066500"/>
            <a:ext cx="36576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B07858"/>
                </a:solidFill>
              </a:rPr>
              <a:t>existing typical block adjacency graph</a:t>
            </a:r>
            <a:endParaRPr sz="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112" name="Shape 112"/>
        <p:cNvGrpSpPr/>
        <p:nvPr/>
      </p:nvGrpSpPr>
      <p:grpSpPr>
        <a:xfrm>
          <a:off x="0" y="0"/>
          <a:ext cx="0" cy="0"/>
          <a:chOff x="0" y="0"/>
          <a:chExt cx="0" cy="0"/>
        </a:xfrm>
      </p:grpSpPr>
      <p:sp>
        <p:nvSpPr>
          <p:cNvPr id="113" name="Google Shape;113;p4"/>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WORKFLOW</a:t>
            </a:r>
            <a:endParaRPr/>
          </a:p>
        </p:txBody>
      </p:sp>
      <p:sp>
        <p:nvSpPr>
          <p:cNvPr id="114" name="Google Shape;114;p4"/>
          <p:cNvSpPr txBox="1"/>
          <p:nvPr/>
        </p:nvSpPr>
        <p:spPr>
          <a:xfrm>
            <a:off x="457200" y="475488"/>
            <a:ext cx="7315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Roboto"/>
                <a:ea typeface="Roboto"/>
                <a:cs typeface="Roboto"/>
                <a:sym typeface="Roboto"/>
              </a:rPr>
              <a:t>Analysis Pipeline</a:t>
            </a:r>
            <a:endParaRPr>
              <a:latin typeface="Roboto"/>
              <a:ea typeface="Roboto"/>
              <a:cs typeface="Roboto"/>
              <a:sym typeface="Roboto"/>
            </a:endParaRPr>
          </a:p>
        </p:txBody>
      </p:sp>
      <p:sp>
        <p:nvSpPr>
          <p:cNvPr id="115" name="Google Shape;115;p4"/>
          <p:cNvSpPr/>
          <p:nvPr/>
        </p:nvSpPr>
        <p:spPr>
          <a:xfrm>
            <a:off x="457200" y="1115568"/>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4"/>
          <p:cNvSpPr/>
          <p:nvPr/>
        </p:nvSpPr>
        <p:spPr>
          <a:xfrm>
            <a:off x="822959" y="1335024"/>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4"/>
          <p:cNvSpPr txBox="1"/>
          <p:nvPr/>
        </p:nvSpPr>
        <p:spPr>
          <a:xfrm>
            <a:off x="1005839" y="1426464"/>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01</a:t>
            </a:r>
            <a:endParaRPr/>
          </a:p>
        </p:txBody>
      </p:sp>
      <p:sp>
        <p:nvSpPr>
          <p:cNvPr id="118" name="Google Shape;118;p4"/>
          <p:cNvSpPr txBox="1"/>
          <p:nvPr/>
        </p:nvSpPr>
        <p:spPr>
          <a:xfrm>
            <a:off x="1005839" y="1719072"/>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Rhino Geometry</a:t>
            </a:r>
            <a:endParaRPr/>
          </a:p>
        </p:txBody>
      </p:sp>
      <p:sp>
        <p:nvSpPr>
          <p:cNvPr id="119" name="Google Shape;119;p4"/>
          <p:cNvSpPr txBox="1"/>
          <p:nvPr/>
        </p:nvSpPr>
        <p:spPr>
          <a:xfrm>
            <a:off x="1005839" y="2084831"/>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Closed room solids</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Door aperture faces</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exported as OBJ</a:t>
            </a:r>
            <a:endParaRPr/>
          </a:p>
        </p:txBody>
      </p:sp>
      <p:sp>
        <p:nvSpPr>
          <p:cNvPr id="120" name="Google Shape;120;p4"/>
          <p:cNvSpPr/>
          <p:nvPr/>
        </p:nvSpPr>
        <p:spPr>
          <a:xfrm>
            <a:off x="3255263" y="1929384"/>
            <a:ext cx="246887" cy="201168"/>
          </a:xfrm>
          <a:prstGeom prst="rightArrow">
            <a:avLst>
              <a:gd fmla="val 50000" name="adj1"/>
              <a:gd fmla="val 50000" name="adj2"/>
            </a:avLst>
          </a:prstGeom>
          <a:solidFill>
            <a:srgbClr val="8822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4"/>
          <p:cNvSpPr/>
          <p:nvPr/>
        </p:nvSpPr>
        <p:spPr>
          <a:xfrm>
            <a:off x="3538728" y="1335024"/>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4"/>
          <p:cNvSpPr txBox="1"/>
          <p:nvPr/>
        </p:nvSpPr>
        <p:spPr>
          <a:xfrm>
            <a:off x="3721608" y="1426464"/>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02</a:t>
            </a:r>
            <a:endParaRPr/>
          </a:p>
        </p:txBody>
      </p:sp>
      <p:sp>
        <p:nvSpPr>
          <p:cNvPr id="123" name="Google Shape;123;p4"/>
          <p:cNvSpPr txBox="1"/>
          <p:nvPr/>
        </p:nvSpPr>
        <p:spPr>
          <a:xfrm>
            <a:off x="3721608" y="1719072"/>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CellComplex</a:t>
            </a:r>
            <a:endParaRPr/>
          </a:p>
        </p:txBody>
      </p:sp>
      <p:sp>
        <p:nvSpPr>
          <p:cNvPr id="124" name="Google Shape;124;p4"/>
          <p:cNvSpPr txBox="1"/>
          <p:nvPr/>
        </p:nvSpPr>
        <p:spPr>
          <a:xfrm>
            <a:off x="3721608" y="2084831"/>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TopologicPy reads OBJ</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Builds 3D cell adjacency</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from shared faces</a:t>
            </a:r>
            <a:endParaRPr/>
          </a:p>
        </p:txBody>
      </p:sp>
      <p:sp>
        <p:nvSpPr>
          <p:cNvPr id="125" name="Google Shape;125;p4"/>
          <p:cNvSpPr/>
          <p:nvPr/>
        </p:nvSpPr>
        <p:spPr>
          <a:xfrm>
            <a:off x="5971032" y="1929384"/>
            <a:ext cx="246887" cy="201168"/>
          </a:xfrm>
          <a:prstGeom prst="rightArrow">
            <a:avLst>
              <a:gd fmla="val 50000" name="adj1"/>
              <a:gd fmla="val 50000" name="adj2"/>
            </a:avLst>
          </a:prstGeom>
          <a:solidFill>
            <a:srgbClr val="8822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4"/>
          <p:cNvSpPr/>
          <p:nvPr/>
        </p:nvSpPr>
        <p:spPr>
          <a:xfrm>
            <a:off x="6254496" y="1335024"/>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6437376" y="1426464"/>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03</a:t>
            </a:r>
            <a:endParaRPr/>
          </a:p>
        </p:txBody>
      </p:sp>
      <p:sp>
        <p:nvSpPr>
          <p:cNvPr id="128" name="Google Shape;128;p4"/>
          <p:cNvSpPr txBox="1"/>
          <p:nvPr/>
        </p:nvSpPr>
        <p:spPr>
          <a:xfrm>
            <a:off x="6437376" y="1719072"/>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Graph Construction</a:t>
            </a:r>
            <a:endParaRPr/>
          </a:p>
        </p:txBody>
      </p:sp>
      <p:sp>
        <p:nvSpPr>
          <p:cNvPr id="129" name="Google Shape;129;p4"/>
          <p:cNvSpPr txBox="1"/>
          <p:nvPr/>
        </p:nvSpPr>
        <p:spPr>
          <a:xfrm>
            <a:off x="6437376" y="2084831"/>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g1: adjacency (all faces)</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g2: access (doors only)</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Both built from same CellComplex</a:t>
            </a:r>
            <a:endParaRPr/>
          </a:p>
        </p:txBody>
      </p:sp>
      <p:sp>
        <p:nvSpPr>
          <p:cNvPr id="130" name="Google Shape;130;p4"/>
          <p:cNvSpPr/>
          <p:nvPr/>
        </p:nvSpPr>
        <p:spPr>
          <a:xfrm>
            <a:off x="8686800" y="1929384"/>
            <a:ext cx="246887" cy="201168"/>
          </a:xfrm>
          <a:prstGeom prst="rightArrow">
            <a:avLst>
              <a:gd fmla="val 50000" name="adj1"/>
              <a:gd fmla="val 50000" name="adj2"/>
            </a:avLst>
          </a:prstGeom>
          <a:solidFill>
            <a:srgbClr val="8822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4"/>
          <p:cNvSpPr/>
          <p:nvPr/>
        </p:nvSpPr>
        <p:spPr>
          <a:xfrm>
            <a:off x="8970264" y="1335024"/>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4"/>
          <p:cNvSpPr txBox="1"/>
          <p:nvPr/>
        </p:nvSpPr>
        <p:spPr>
          <a:xfrm>
            <a:off x="9153144" y="1426464"/>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04</a:t>
            </a:r>
            <a:endParaRPr/>
          </a:p>
        </p:txBody>
      </p:sp>
      <p:sp>
        <p:nvSpPr>
          <p:cNvPr id="133" name="Google Shape;133;p4"/>
          <p:cNvSpPr txBox="1"/>
          <p:nvPr/>
        </p:nvSpPr>
        <p:spPr>
          <a:xfrm>
            <a:off x="9153144" y="1719072"/>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BFS Depth Analysis</a:t>
            </a:r>
            <a:endParaRPr/>
          </a:p>
        </p:txBody>
      </p:sp>
      <p:sp>
        <p:nvSpPr>
          <p:cNvPr id="134" name="Google Shape;134;p4"/>
          <p:cNvSpPr txBox="1"/>
          <p:nvPr/>
        </p:nvSpPr>
        <p:spPr>
          <a:xfrm>
            <a:off x="9153144" y="2084831"/>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NetworkX BFS on g2</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Hop count from staircase</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landingper room</a:t>
            </a:r>
            <a:endParaRPr/>
          </a:p>
        </p:txBody>
      </p:sp>
      <p:sp>
        <p:nvSpPr>
          <p:cNvPr id="135" name="Google Shape;135;p4"/>
          <p:cNvSpPr/>
          <p:nvPr/>
        </p:nvSpPr>
        <p:spPr>
          <a:xfrm>
            <a:off x="10067544" y="2779776"/>
            <a:ext cx="201168" cy="493776"/>
          </a:xfrm>
          <a:prstGeom prst="downArrow">
            <a:avLst>
              <a:gd fmla="val 50000" name="adj1"/>
              <a:gd fmla="val 50000" name="adj2"/>
            </a:avLst>
          </a:prstGeom>
          <a:solidFill>
            <a:srgbClr val="8822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4"/>
          <p:cNvSpPr/>
          <p:nvPr/>
        </p:nvSpPr>
        <p:spPr>
          <a:xfrm>
            <a:off x="8970264" y="3310128"/>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4"/>
          <p:cNvSpPr txBox="1"/>
          <p:nvPr/>
        </p:nvSpPr>
        <p:spPr>
          <a:xfrm>
            <a:off x="9153144" y="3401568"/>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05</a:t>
            </a:r>
            <a:endParaRPr/>
          </a:p>
        </p:txBody>
      </p:sp>
      <p:sp>
        <p:nvSpPr>
          <p:cNvPr id="138" name="Google Shape;138;p4"/>
          <p:cNvSpPr txBox="1"/>
          <p:nvPr/>
        </p:nvSpPr>
        <p:spPr>
          <a:xfrm>
            <a:off x="9153144" y="3694176"/>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Slab Formula</a:t>
            </a:r>
            <a:endParaRPr/>
          </a:p>
        </p:txBody>
      </p:sp>
      <p:sp>
        <p:nvSpPr>
          <p:cNvPr id="139" name="Google Shape;139;p4"/>
          <p:cNvSpPr txBox="1"/>
          <p:nvPr/>
        </p:nvSpPr>
        <p:spPr>
          <a:xfrm>
            <a:off x="9153144" y="4059936"/>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slab Z = -step x depth</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Rhino: memorial slabs</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 step-bridges at doors</a:t>
            </a:r>
            <a:endParaRPr/>
          </a:p>
        </p:txBody>
      </p:sp>
      <p:sp>
        <p:nvSpPr>
          <p:cNvPr id="140" name="Google Shape;140;p4"/>
          <p:cNvSpPr/>
          <p:nvPr/>
        </p:nvSpPr>
        <p:spPr>
          <a:xfrm>
            <a:off x="8686800" y="3904487"/>
            <a:ext cx="246887" cy="201168"/>
          </a:xfrm>
          <a:prstGeom prst="leftArrow">
            <a:avLst>
              <a:gd fmla="val 50000" name="adj1"/>
              <a:gd fmla="val 50000" name="adj2"/>
            </a:avLst>
          </a:prstGeom>
          <a:solidFill>
            <a:srgbClr val="8822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4"/>
          <p:cNvSpPr/>
          <p:nvPr/>
        </p:nvSpPr>
        <p:spPr>
          <a:xfrm>
            <a:off x="6254496" y="3310128"/>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4"/>
          <p:cNvSpPr txBox="1"/>
          <p:nvPr/>
        </p:nvSpPr>
        <p:spPr>
          <a:xfrm>
            <a:off x="6437376" y="3401568"/>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06</a:t>
            </a:r>
            <a:endParaRPr/>
          </a:p>
        </p:txBody>
      </p:sp>
      <p:sp>
        <p:nvSpPr>
          <p:cNvPr id="143" name="Google Shape;143;p4"/>
          <p:cNvSpPr txBox="1"/>
          <p:nvPr/>
        </p:nvSpPr>
        <p:spPr>
          <a:xfrm>
            <a:off x="6437376" y="3694176"/>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Combined Graph</a:t>
            </a:r>
            <a:endParaRPr/>
          </a:p>
        </p:txBody>
      </p:sp>
      <p:sp>
        <p:nvSpPr>
          <p:cNvPr id="144" name="Google Shape;144;p4"/>
          <p:cNvSpPr txBox="1"/>
          <p:nvPr/>
        </p:nvSpPr>
        <p:spPr>
          <a:xfrm>
            <a:off x="6437376" y="4059936"/>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Intact section +</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damaged block +</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memorial in one CellComplex</a:t>
            </a:r>
            <a:endParaRPr/>
          </a:p>
        </p:txBody>
      </p:sp>
      <p:sp>
        <p:nvSpPr>
          <p:cNvPr id="145" name="Google Shape;145;p4"/>
          <p:cNvSpPr/>
          <p:nvPr/>
        </p:nvSpPr>
        <p:spPr>
          <a:xfrm>
            <a:off x="5971032" y="3904487"/>
            <a:ext cx="246887" cy="201168"/>
          </a:xfrm>
          <a:prstGeom prst="leftArrow">
            <a:avLst>
              <a:gd fmla="val 50000" name="adj1"/>
              <a:gd fmla="val 50000" name="adj2"/>
            </a:avLst>
          </a:prstGeom>
          <a:solidFill>
            <a:srgbClr val="8822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4"/>
          <p:cNvSpPr/>
          <p:nvPr/>
        </p:nvSpPr>
        <p:spPr>
          <a:xfrm>
            <a:off x="3538728" y="3310128"/>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4"/>
          <p:cNvSpPr txBox="1"/>
          <p:nvPr/>
        </p:nvSpPr>
        <p:spPr>
          <a:xfrm>
            <a:off x="3721608" y="3401568"/>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07</a:t>
            </a:r>
            <a:endParaRPr/>
          </a:p>
        </p:txBody>
      </p:sp>
      <p:sp>
        <p:nvSpPr>
          <p:cNvPr id="148" name="Google Shape;148;p4"/>
          <p:cNvSpPr txBox="1"/>
          <p:nvPr/>
        </p:nvSpPr>
        <p:spPr>
          <a:xfrm>
            <a:off x="3721608" y="3694176"/>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Feature Encoding</a:t>
            </a:r>
            <a:endParaRPr/>
          </a:p>
        </p:txBody>
      </p:sp>
      <p:sp>
        <p:nvSpPr>
          <p:cNvPr id="149" name="Google Shape;149;p4"/>
          <p:cNvSpPr txBox="1"/>
          <p:nvPr/>
        </p:nvSpPr>
        <p:spPr>
          <a:xfrm>
            <a:off x="3721608" y="4059936"/>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7-dim node vector</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4 zoning one-hot</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3 door-type ratios</a:t>
            </a:r>
            <a:endParaRPr/>
          </a:p>
        </p:txBody>
      </p:sp>
      <p:sp>
        <p:nvSpPr>
          <p:cNvPr id="150" name="Google Shape;150;p4"/>
          <p:cNvSpPr/>
          <p:nvPr/>
        </p:nvSpPr>
        <p:spPr>
          <a:xfrm>
            <a:off x="3255263" y="3904487"/>
            <a:ext cx="246887" cy="201168"/>
          </a:xfrm>
          <a:prstGeom prst="leftArrow">
            <a:avLst>
              <a:gd fmla="val 50000" name="adj1"/>
              <a:gd fmla="val 50000" name="adj2"/>
            </a:avLst>
          </a:prstGeom>
          <a:solidFill>
            <a:srgbClr val="8822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4"/>
          <p:cNvSpPr/>
          <p:nvPr/>
        </p:nvSpPr>
        <p:spPr>
          <a:xfrm>
            <a:off x="822959" y="3310128"/>
            <a:ext cx="2395728" cy="138988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4"/>
          <p:cNvSpPr txBox="1"/>
          <p:nvPr/>
        </p:nvSpPr>
        <p:spPr>
          <a:xfrm>
            <a:off x="1005839" y="3401568"/>
            <a:ext cx="21671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626262"/>
                </a:solidFill>
                <a:latin typeface="Arial"/>
                <a:ea typeface="Arial"/>
                <a:cs typeface="Arial"/>
                <a:sym typeface="Arial"/>
              </a:rPr>
              <a:t>08</a:t>
            </a:r>
            <a:endParaRPr/>
          </a:p>
        </p:txBody>
      </p:sp>
      <p:sp>
        <p:nvSpPr>
          <p:cNvPr id="153" name="Google Shape;153;p4"/>
          <p:cNvSpPr txBox="1"/>
          <p:nvPr/>
        </p:nvSpPr>
        <p:spPr>
          <a:xfrm>
            <a:off x="1005839" y="3694176"/>
            <a:ext cx="2167128"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ML Prediction</a:t>
            </a:r>
            <a:endParaRPr/>
          </a:p>
        </p:txBody>
      </p:sp>
      <p:sp>
        <p:nvSpPr>
          <p:cNvPr id="154" name="Google Shape;154;p4"/>
          <p:cNvSpPr txBox="1"/>
          <p:nvPr/>
        </p:nvSpPr>
        <p:spPr>
          <a:xfrm>
            <a:off x="1005839" y="4059936"/>
            <a:ext cx="2167128"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Pretrained GraphSAGE</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(MSD dataset)</a:t>
            </a:r>
            <a:br>
              <a:rPr b="0" i="0" lang="en-US" sz="850" u="none" cap="none" strike="noStrike">
                <a:solidFill>
                  <a:srgbClr val="969696"/>
                </a:solidFill>
                <a:latin typeface="Arial"/>
                <a:ea typeface="Arial"/>
                <a:cs typeface="Arial"/>
                <a:sym typeface="Arial"/>
              </a:rPr>
            </a:br>
            <a:r>
              <a:rPr b="0" i="0" lang="en-US" sz="850" u="none" cap="none" strike="noStrike">
                <a:solidFill>
                  <a:srgbClr val="969696"/>
                </a:solidFill>
                <a:latin typeface="Arial"/>
                <a:ea typeface="Arial"/>
                <a:cs typeface="Arial"/>
                <a:sym typeface="Arial"/>
              </a:rPr>
              <a:t>new room function per node</a:t>
            </a:r>
            <a:endParaRPr/>
          </a:p>
        </p:txBody>
      </p:sp>
      <p:sp>
        <p:nvSpPr>
          <p:cNvPr id="155" name="Google Shape;155;p4"/>
          <p:cNvSpPr txBox="1"/>
          <p:nvPr/>
        </p:nvSpPr>
        <p:spPr>
          <a:xfrm>
            <a:off x="822959" y="4864608"/>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950" u="none" cap="none" strike="noStrike">
                <a:solidFill>
                  <a:srgbClr val="CCCCCC"/>
                </a:solidFill>
                <a:latin typeface="Arial"/>
                <a:ea typeface="Arial"/>
                <a:cs typeface="Arial"/>
                <a:sym typeface="Arial"/>
              </a:rPr>
              <a:t>Output: 90 corridor  +  63 kitchen  +  9 livingroom  --  predicted new functions for 162 surviving rooms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159" name="Shape 159"/>
        <p:cNvGrpSpPr/>
        <p:nvPr/>
      </p:nvGrpSpPr>
      <p:grpSpPr>
        <a:xfrm>
          <a:off x="0" y="0"/>
          <a:ext cx="0" cy="0"/>
          <a:chOff x="0" y="0"/>
          <a:chExt cx="0" cy="0"/>
        </a:xfrm>
      </p:grpSpPr>
      <p:sp>
        <p:nvSpPr>
          <p:cNvPr id="160" name="Google Shape;160;p3"/>
          <p:cNvSpPr txBox="1"/>
          <p:nvPr/>
        </p:nvSpPr>
        <p:spPr>
          <a:xfrm>
            <a:off x="457200" y="274320"/>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THE PROPOSAL</a:t>
            </a:r>
            <a:endParaRPr/>
          </a:p>
        </p:txBody>
      </p:sp>
      <p:sp>
        <p:nvSpPr>
          <p:cNvPr id="161" name="Google Shape;161;p3"/>
          <p:cNvSpPr txBox="1"/>
          <p:nvPr/>
        </p:nvSpPr>
        <p:spPr>
          <a:xfrm>
            <a:off x="457200" y="512064"/>
            <a:ext cx="10972800" cy="777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FFFFFF"/>
                </a:solidFill>
                <a:latin typeface="Arial"/>
                <a:ea typeface="Arial"/>
                <a:cs typeface="Arial"/>
                <a:sym typeface="Arial"/>
              </a:rPr>
              <a:t>Memorial in Topology</a:t>
            </a:r>
            <a:endParaRPr/>
          </a:p>
        </p:txBody>
      </p:sp>
      <p:sp>
        <p:nvSpPr>
          <p:cNvPr id="162" name="Google Shape;162;p3"/>
          <p:cNvSpPr/>
          <p:nvPr/>
        </p:nvSpPr>
        <p:spPr>
          <a:xfrm>
            <a:off x="457200" y="1371600"/>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3"/>
          <p:cNvSpPr/>
          <p:nvPr/>
        </p:nvSpPr>
        <p:spPr>
          <a:xfrm>
            <a:off x="365760" y="1508760"/>
            <a:ext cx="5394960" cy="495604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3"/>
          <p:cNvSpPr txBox="1"/>
          <p:nvPr/>
        </p:nvSpPr>
        <p:spPr>
          <a:xfrm>
            <a:off x="566928" y="1627632"/>
            <a:ext cx="502920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69696"/>
                </a:solidFill>
                <a:latin typeface="Arial"/>
                <a:ea typeface="Arial"/>
                <a:cs typeface="Arial"/>
                <a:sym typeface="Arial"/>
              </a:rPr>
              <a:t>Depth logic</a:t>
            </a:r>
            <a:endParaRPr/>
          </a:p>
        </p:txBody>
      </p:sp>
      <p:sp>
        <p:nvSpPr>
          <p:cNvPr id="165" name="Google Shape;165;p3"/>
          <p:cNvSpPr txBox="1"/>
          <p:nvPr/>
        </p:nvSpPr>
        <p:spPr>
          <a:xfrm>
            <a:off x="566928" y="1975104"/>
            <a:ext cx="5102352" cy="8686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CCCCC"/>
                </a:solidFill>
                <a:latin typeface="Arial"/>
                <a:ea typeface="Arial"/>
                <a:cs typeface="Arial"/>
                <a:sym typeface="Arial"/>
              </a:rPr>
              <a:t>The access graph of the damaged section encodes which rooms were adjacent via which door. BFS hop count from the staircase landing assigns a depth to each room on that graph. That depth maps directly to a vertical offset: slab Z = -step * depth.</a:t>
            </a:r>
            <a:endParaRPr/>
          </a:p>
        </p:txBody>
      </p:sp>
      <p:sp>
        <p:nvSpPr>
          <p:cNvPr id="166" name="Google Shape;166;p3"/>
          <p:cNvSpPr txBox="1"/>
          <p:nvPr/>
        </p:nvSpPr>
        <p:spPr>
          <a:xfrm>
            <a:off x="566928" y="2926080"/>
            <a:ext cx="5102352" cy="8686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CCCCC"/>
                </a:solidFill>
                <a:latin typeface="Arial"/>
                <a:ea typeface="Arial"/>
                <a:cs typeface="Arial"/>
                <a:sym typeface="Arial"/>
              </a:rPr>
              <a:t>A room at depth 1 -- the apartment hall, directly behind the entrance door -- returns as a slab flush with the landing. A room at depth 3 -- a bedroom, a balcony -- sits three steps below. The further from the entrance, the lower the slab.</a:t>
            </a:r>
            <a:endParaRPr/>
          </a:p>
        </p:txBody>
      </p:sp>
      <p:sp>
        <p:nvSpPr>
          <p:cNvPr id="167" name="Google Shape;167;p3"/>
          <p:cNvSpPr txBox="1"/>
          <p:nvPr/>
        </p:nvSpPr>
        <p:spPr>
          <a:xfrm>
            <a:off x="566928" y="3913632"/>
            <a:ext cx="5102352" cy="7132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69696"/>
                </a:solidFill>
                <a:latin typeface="Arial"/>
                <a:ea typeface="Arial"/>
                <a:cs typeface="Arial"/>
                <a:sym typeface="Arial"/>
              </a:rPr>
              <a:t>In the damaged block, depth ranges from 0 to 12. The promenade descends through 13 levels, each level corresponding to one door crossing in the original apartment.</a:t>
            </a:r>
            <a:endParaRPr/>
          </a:p>
        </p:txBody>
      </p:sp>
      <p:sp>
        <p:nvSpPr>
          <p:cNvPr id="168" name="Google Shape;168;p3"/>
          <p:cNvSpPr txBox="1"/>
          <p:nvPr/>
        </p:nvSpPr>
        <p:spPr>
          <a:xfrm>
            <a:off x="566928" y="4846320"/>
            <a:ext cx="5102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882288"/>
                </a:solidFill>
                <a:latin typeface="Arial"/>
                <a:ea typeface="Arial"/>
                <a:cs typeface="Arial"/>
                <a:sym typeface="Arial"/>
              </a:rPr>
              <a:t>slab  Z  =  -step  x  depth</a:t>
            </a:r>
            <a:endParaRPr>
              <a:solidFill>
                <a:srgbClr val="882288"/>
              </a:solidFill>
            </a:endParaRPr>
          </a:p>
        </p:txBody>
      </p:sp>
      <p:sp>
        <p:nvSpPr>
          <p:cNvPr id="169" name="Google Shape;169;p3"/>
          <p:cNvSpPr/>
          <p:nvPr/>
        </p:nvSpPr>
        <p:spPr>
          <a:xfrm>
            <a:off x="6053328" y="1508760"/>
            <a:ext cx="5760720" cy="495604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3"/>
          <p:cNvSpPr txBox="1"/>
          <p:nvPr/>
        </p:nvSpPr>
        <p:spPr>
          <a:xfrm>
            <a:off x="6254496" y="1627632"/>
            <a:ext cx="53949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969696"/>
                </a:solidFill>
                <a:latin typeface="Arial"/>
                <a:ea typeface="Arial"/>
                <a:cs typeface="Arial"/>
                <a:sym typeface="Arial"/>
              </a:rPr>
              <a:t>Bridge logic</a:t>
            </a:r>
            <a:endParaRPr/>
          </a:p>
        </p:txBody>
      </p:sp>
      <p:sp>
        <p:nvSpPr>
          <p:cNvPr id="171" name="Google Shape;171;p3"/>
          <p:cNvSpPr txBox="1"/>
          <p:nvPr/>
        </p:nvSpPr>
        <p:spPr>
          <a:xfrm>
            <a:off x="6254500" y="1975100"/>
            <a:ext cx="53949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CCCCC"/>
                </a:solidFill>
                <a:latin typeface="Arial"/>
                <a:ea typeface="Arial"/>
                <a:cs typeface="Arial"/>
                <a:sym typeface="Arial"/>
              </a:rPr>
              <a:t>Two connected rooms at different depths sit at different slab heights. The door that connected them in the original apartment marks the position of a step-bridge. The height of that step equals the height difference between the two slabs -- which equals one step unit, because adjacent rooms differ by exactly one BFS hop.</a:t>
            </a:r>
            <a:endParaRPr/>
          </a:p>
        </p:txBody>
      </p:sp>
      <p:sp>
        <p:nvSpPr>
          <p:cNvPr id="172" name="Google Shape;172;p3"/>
          <p:cNvSpPr txBox="1"/>
          <p:nvPr/>
        </p:nvSpPr>
        <p:spPr>
          <a:xfrm>
            <a:off x="6254500" y="3090675"/>
            <a:ext cx="53142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CCCCCC"/>
                </a:solidFill>
                <a:latin typeface="Arial"/>
                <a:ea typeface="Arial"/>
                <a:cs typeface="Arial"/>
                <a:sym typeface="Arial"/>
              </a:rPr>
              <a:t>Where two rooms shared a face that was not a door, the gap between slab edges is left open. The opening is the missing wall.</a:t>
            </a:r>
            <a:endParaRPr/>
          </a:p>
        </p:txBody>
      </p:sp>
      <p:sp>
        <p:nvSpPr>
          <p:cNvPr id="173" name="Google Shape;173;p3"/>
          <p:cNvSpPr txBox="1"/>
          <p:nvPr/>
        </p:nvSpPr>
        <p:spPr>
          <a:xfrm>
            <a:off x="6254500" y="3886200"/>
            <a:ext cx="5394900" cy="6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69696"/>
                </a:solidFill>
                <a:latin typeface="Arial"/>
                <a:ea typeface="Arial"/>
                <a:cs typeface="Arial"/>
                <a:sym typeface="Arial"/>
              </a:rPr>
              <a:t>Slab perimeters are shrunk inward by the missing wall thickness. The gap between adjacent slab edges equals that wall dimension. The original room dimensions are still readable in the plan.</a:t>
            </a:r>
            <a:endParaRPr/>
          </a:p>
        </p:txBody>
      </p:sp>
      <p:sp>
        <p:nvSpPr>
          <p:cNvPr id="174" name="Google Shape;174;p3"/>
          <p:cNvSpPr txBox="1"/>
          <p:nvPr/>
        </p:nvSpPr>
        <p:spPr>
          <a:xfrm>
            <a:off x="6254496" y="4681728"/>
            <a:ext cx="557784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969696"/>
                </a:solidFill>
                <a:latin typeface="Arial"/>
                <a:ea typeface="Arial"/>
                <a:cs typeface="Arial"/>
                <a:sym typeface="Arial"/>
              </a:rPr>
              <a:t>The step-bridges are encoded as stairs nodes in the combined graph. The memorial slabs are encoded as balcony nodes. Both are read by the ML model as part of the spatial context when it predicts what the surviving rooms become.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8" name="Shape 178"/>
        <p:cNvGrpSpPr/>
        <p:nvPr/>
      </p:nvGrpSpPr>
      <p:grpSpPr>
        <a:xfrm>
          <a:off x="0" y="0"/>
          <a:ext cx="0" cy="0"/>
          <a:chOff x="0" y="0"/>
          <a:chExt cx="0" cy="0"/>
        </a:xfrm>
      </p:grpSpPr>
      <p:sp>
        <p:nvSpPr>
          <p:cNvPr id="179" name="Google Shape;179;p5"/>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3 -- INTACT SECTION</a:t>
            </a:r>
            <a:endParaRPr/>
          </a:p>
        </p:txBody>
      </p:sp>
      <p:sp>
        <p:nvSpPr>
          <p:cNvPr id="180" name="Google Shape;180;p5"/>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Adjacency Graph  g1</a:t>
            </a:r>
            <a:endParaRPr/>
          </a:p>
        </p:txBody>
      </p:sp>
      <p:sp>
        <p:nvSpPr>
          <p:cNvPr id="181" name="Google Shape;181;p5"/>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5"/>
          <p:cNvSpPr txBox="1"/>
          <p:nvPr/>
        </p:nvSpPr>
        <p:spPr>
          <a:xfrm>
            <a:off x="457200" y="1207008"/>
            <a:ext cx="114300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direct = True  --  every shared face creates an edge, including floors and ceilings between storeys.</a:t>
            </a:r>
            <a:endParaRPr/>
          </a:p>
        </p:txBody>
      </p:sp>
      <p:sp>
        <p:nvSpPr>
          <p:cNvPr id="183" name="Google Shape;183;p5"/>
          <p:cNvSpPr txBox="1"/>
          <p:nvPr/>
        </p:nvSpPr>
        <p:spPr>
          <a:xfrm>
            <a:off x="457200" y="1481328"/>
            <a:ext cx="1143000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staircase box touches every floor slab in the building; in g1 it connects to every room above and below it, making it an enormous hub. A bedroom on floor 3 has a direct edge to the bedroom on floor 4 through the shared slab. g1 is used for geometry inspection only -- its connectivity is structurally misleading for analysis.</a:t>
            </a:r>
            <a:endParaRPr/>
          </a:p>
        </p:txBody>
      </p:sp>
      <p:pic>
        <p:nvPicPr>
          <p:cNvPr descr="adjacency1.png" id="184" name="Google Shape;184;p5"/>
          <p:cNvPicPr preferRelativeResize="0"/>
          <p:nvPr/>
        </p:nvPicPr>
        <p:blipFill rotWithShape="1">
          <a:blip r:embed="rId3">
            <a:alphaModFix/>
          </a:blip>
          <a:srcRect b="3975" l="27518" r="25825" t="4433"/>
          <a:stretch/>
        </p:blipFill>
        <p:spPr>
          <a:xfrm>
            <a:off x="560200" y="2127000"/>
            <a:ext cx="3276226" cy="3515675"/>
          </a:xfrm>
          <a:prstGeom prst="rect">
            <a:avLst/>
          </a:prstGeom>
          <a:noFill/>
          <a:ln>
            <a:noFill/>
          </a:ln>
        </p:spPr>
      </p:pic>
      <p:sp>
        <p:nvSpPr>
          <p:cNvPr id="185" name="Google Shape;185;p5"/>
          <p:cNvSpPr txBox="1"/>
          <p:nvPr/>
        </p:nvSpPr>
        <p:spPr>
          <a:xfrm>
            <a:off x="804596" y="6306617"/>
            <a:ext cx="3767400" cy="21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3D isolated -- dense through-slab edges</a:t>
            </a:r>
            <a:endParaRPr/>
          </a:p>
        </p:txBody>
      </p:sp>
      <p:pic>
        <p:nvPicPr>
          <p:cNvPr descr="adjacency2.png" id="186" name="Google Shape;186;p5"/>
          <p:cNvPicPr preferRelativeResize="0"/>
          <p:nvPr/>
        </p:nvPicPr>
        <p:blipFill rotWithShape="1">
          <a:blip r:embed="rId4">
            <a:alphaModFix/>
          </a:blip>
          <a:srcRect b="7970" l="5457" r="3435" t="9090"/>
          <a:stretch/>
        </p:blipFill>
        <p:spPr>
          <a:xfrm>
            <a:off x="4802925" y="2127000"/>
            <a:ext cx="7084276" cy="3486828"/>
          </a:xfrm>
          <a:prstGeom prst="rect">
            <a:avLst/>
          </a:prstGeom>
          <a:noFill/>
          <a:ln>
            <a:noFill/>
          </a:ln>
        </p:spPr>
      </p:pic>
      <p:sp>
        <p:nvSpPr>
          <p:cNvPr id="187" name="Google Shape;187;p5"/>
          <p:cNvSpPr txBox="1"/>
          <p:nvPr/>
        </p:nvSpPr>
        <p:spPr>
          <a:xfrm>
            <a:off x="6245352" y="6306617"/>
            <a:ext cx="3767400" cy="21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Plan -- repeating double fan, 9 floors collapsed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1" name="Shape 191"/>
        <p:cNvGrpSpPr/>
        <p:nvPr/>
      </p:nvGrpSpPr>
      <p:grpSpPr>
        <a:xfrm>
          <a:off x="0" y="0"/>
          <a:ext cx="0" cy="0"/>
          <a:chOff x="0" y="0"/>
          <a:chExt cx="0" cy="0"/>
        </a:xfrm>
      </p:grpSpPr>
      <p:pic>
        <p:nvPicPr>
          <p:cNvPr id="192" name="Google Shape;192;p6" title="access_all1.png"/>
          <p:cNvPicPr preferRelativeResize="0"/>
          <p:nvPr/>
        </p:nvPicPr>
        <p:blipFill rotWithShape="1">
          <a:blip r:embed="rId3">
            <a:alphaModFix/>
          </a:blip>
          <a:srcRect b="2663" l="12303" r="7805" t="10877"/>
          <a:stretch/>
        </p:blipFill>
        <p:spPr>
          <a:xfrm>
            <a:off x="3624417" y="1874775"/>
            <a:ext cx="8137557" cy="4834576"/>
          </a:xfrm>
          <a:prstGeom prst="rect">
            <a:avLst/>
          </a:prstGeom>
          <a:noFill/>
          <a:ln>
            <a:noFill/>
          </a:ln>
        </p:spPr>
      </p:pic>
      <p:sp>
        <p:nvSpPr>
          <p:cNvPr id="193" name="Google Shape;193;p6"/>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3 -- INTACT SECTION</a:t>
            </a:r>
            <a:endParaRPr/>
          </a:p>
        </p:txBody>
      </p:sp>
      <p:sp>
        <p:nvSpPr>
          <p:cNvPr id="194" name="Google Shape;194;p6"/>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Access Graph  g2</a:t>
            </a:r>
            <a:endParaRPr/>
          </a:p>
        </p:txBody>
      </p:sp>
      <p:sp>
        <p:nvSpPr>
          <p:cNvPr id="195" name="Google Shape;195;p6"/>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6"/>
          <p:cNvSpPr txBox="1"/>
          <p:nvPr/>
        </p:nvSpPr>
        <p:spPr>
          <a:xfrm>
            <a:off x="457200" y="1207008"/>
            <a:ext cx="114300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direct = False,  viaSharedApertures = True  --  only door aperture faces create edges.</a:t>
            </a:r>
            <a:endParaRPr/>
          </a:p>
        </p:txBody>
      </p:sp>
      <p:sp>
        <p:nvSpPr>
          <p:cNvPr id="197" name="Google Shape;197;p6"/>
          <p:cNvSpPr txBox="1"/>
          <p:nvPr/>
        </p:nvSpPr>
        <p:spPr>
          <a:xfrm>
            <a:off x="457200" y="1481328"/>
            <a:ext cx="11430000" cy="7498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door OBJ files tag each aperture face by type: entrance door, room door, or passage threshold. Only these faces produce edges. Through-slab connections disappear entirely. Bedrooms and bathrooms become leaf nodes with a single incident edge. The staircase connects only to its landings. g2 represents the movement graph -- the paths a person can actually walk. This is the graph used for BFS depth analysis, slab height computation, feature encoding, and ML training.</a:t>
            </a:r>
            <a:endParaRPr/>
          </a:p>
        </p:txBody>
      </p:sp>
      <p:sp>
        <p:nvSpPr>
          <p:cNvPr id="198" name="Google Shape;198;p6"/>
          <p:cNvSpPr txBox="1"/>
          <p:nvPr/>
        </p:nvSpPr>
        <p:spPr>
          <a:xfrm>
            <a:off x="365760" y="6565392"/>
            <a:ext cx="91440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g2 on geometry -- node colors = room type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202" name="Shape 202"/>
        <p:cNvGrpSpPr/>
        <p:nvPr/>
      </p:nvGrpSpPr>
      <p:grpSpPr>
        <a:xfrm>
          <a:off x="0" y="0"/>
          <a:ext cx="0" cy="0"/>
          <a:chOff x="0" y="0"/>
          <a:chExt cx="0" cy="0"/>
        </a:xfrm>
      </p:grpSpPr>
      <p:sp>
        <p:nvSpPr>
          <p:cNvPr id="203" name="Google Shape;203;p7"/>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4 -- SPATIAL ANALYSIS</a:t>
            </a:r>
            <a:endParaRPr/>
          </a:p>
        </p:txBody>
      </p:sp>
      <p:sp>
        <p:nvSpPr>
          <p:cNvPr id="204" name="Google Shape;204;p7"/>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Depth from Entrance</a:t>
            </a:r>
            <a:endParaRPr/>
          </a:p>
        </p:txBody>
      </p:sp>
      <p:sp>
        <p:nvSpPr>
          <p:cNvPr id="205" name="Google Shape;205;p7"/>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7"/>
          <p:cNvSpPr txBox="1"/>
          <p:nvPr/>
        </p:nvSpPr>
        <p:spPr>
          <a:xfrm>
            <a:off x="457200" y="1207008"/>
            <a:ext cx="7132320" cy="566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BFS runs on g2, starting from the staircase landing node. The hop count to each room is its depth: the number of door apertures a person must cross to reach that room from the staircase. No geometry involved -- only graph structure.</a:t>
            </a:r>
            <a:endParaRPr/>
          </a:p>
        </p:txBody>
      </p:sp>
      <p:sp>
        <p:nvSpPr>
          <p:cNvPr id="207" name="Google Shape;207;p7"/>
          <p:cNvSpPr/>
          <p:nvPr/>
        </p:nvSpPr>
        <p:spPr>
          <a:xfrm>
            <a:off x="365760" y="1993392"/>
            <a:ext cx="7132320" cy="877824"/>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7"/>
          <p:cNvSpPr txBox="1"/>
          <p:nvPr/>
        </p:nvSpPr>
        <p:spPr>
          <a:xfrm>
            <a:off x="566928" y="2029968"/>
            <a:ext cx="50292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CCCCCC"/>
                </a:solidFill>
                <a:latin typeface="Arial"/>
                <a:ea typeface="Arial"/>
                <a:cs typeface="Arial"/>
                <a:sym typeface="Arial"/>
              </a:rPr>
              <a:t>0</a:t>
            </a:r>
            <a:endParaRPr/>
          </a:p>
        </p:txBody>
      </p:sp>
      <p:sp>
        <p:nvSpPr>
          <p:cNvPr id="209" name="Google Shape;209;p7"/>
          <p:cNvSpPr txBox="1"/>
          <p:nvPr/>
        </p:nvSpPr>
        <p:spPr>
          <a:xfrm>
            <a:off x="1188720" y="2057400"/>
            <a:ext cx="4114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Staircase landing</a:t>
            </a:r>
            <a:endParaRPr/>
          </a:p>
        </p:txBody>
      </p:sp>
      <p:sp>
        <p:nvSpPr>
          <p:cNvPr id="210" name="Google Shape;210;p7"/>
          <p:cNvSpPr txBox="1"/>
          <p:nvPr/>
        </p:nvSpPr>
        <p:spPr>
          <a:xfrm>
            <a:off x="1188720" y="2359152"/>
            <a:ext cx="6126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Graph origin. BFS starts here.</a:t>
            </a:r>
            <a:endParaRPr/>
          </a:p>
        </p:txBody>
      </p:sp>
      <p:sp>
        <p:nvSpPr>
          <p:cNvPr id="211" name="Google Shape;211;p7"/>
          <p:cNvSpPr/>
          <p:nvPr/>
        </p:nvSpPr>
        <p:spPr>
          <a:xfrm>
            <a:off x="365760" y="2944368"/>
            <a:ext cx="7132320" cy="877824"/>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7"/>
          <p:cNvSpPr txBox="1"/>
          <p:nvPr/>
        </p:nvSpPr>
        <p:spPr>
          <a:xfrm>
            <a:off x="566928" y="2980944"/>
            <a:ext cx="50292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CCCCCC"/>
                </a:solidFill>
                <a:latin typeface="Arial"/>
                <a:ea typeface="Arial"/>
                <a:cs typeface="Arial"/>
                <a:sym typeface="Arial"/>
              </a:rPr>
              <a:t>1</a:t>
            </a:r>
            <a:endParaRPr/>
          </a:p>
        </p:txBody>
      </p:sp>
      <p:sp>
        <p:nvSpPr>
          <p:cNvPr id="213" name="Google Shape;213;p7"/>
          <p:cNvSpPr txBox="1"/>
          <p:nvPr/>
        </p:nvSpPr>
        <p:spPr>
          <a:xfrm>
            <a:off x="1188720" y="3008376"/>
            <a:ext cx="4114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Apartment hall / corridor</a:t>
            </a:r>
            <a:endParaRPr/>
          </a:p>
        </p:txBody>
      </p:sp>
      <p:sp>
        <p:nvSpPr>
          <p:cNvPr id="214" name="Google Shape;214;p7"/>
          <p:cNvSpPr txBox="1"/>
          <p:nvPr/>
        </p:nvSpPr>
        <p:spPr>
          <a:xfrm>
            <a:off x="1188720" y="3310128"/>
            <a:ext cx="6126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One door crossing: the entrance door.</a:t>
            </a:r>
            <a:endParaRPr/>
          </a:p>
        </p:txBody>
      </p:sp>
      <p:sp>
        <p:nvSpPr>
          <p:cNvPr id="215" name="Google Shape;215;p7"/>
          <p:cNvSpPr/>
          <p:nvPr/>
        </p:nvSpPr>
        <p:spPr>
          <a:xfrm>
            <a:off x="365760" y="3895344"/>
            <a:ext cx="7132320" cy="877824"/>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7"/>
          <p:cNvSpPr txBox="1"/>
          <p:nvPr/>
        </p:nvSpPr>
        <p:spPr>
          <a:xfrm>
            <a:off x="566928" y="3931920"/>
            <a:ext cx="50292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CCCCCC"/>
                </a:solidFill>
                <a:latin typeface="Arial"/>
                <a:ea typeface="Arial"/>
                <a:cs typeface="Arial"/>
                <a:sym typeface="Arial"/>
              </a:rPr>
              <a:t>2</a:t>
            </a:r>
            <a:endParaRPr/>
          </a:p>
        </p:txBody>
      </p:sp>
      <p:sp>
        <p:nvSpPr>
          <p:cNvPr id="217" name="Google Shape;217;p7"/>
          <p:cNvSpPr txBox="1"/>
          <p:nvPr/>
        </p:nvSpPr>
        <p:spPr>
          <a:xfrm>
            <a:off x="1188720" y="3959352"/>
            <a:ext cx="4114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Kitchen, bathroom, storeroom</a:t>
            </a:r>
            <a:endParaRPr/>
          </a:p>
        </p:txBody>
      </p:sp>
      <p:sp>
        <p:nvSpPr>
          <p:cNvPr id="218" name="Google Shape;218;p7"/>
          <p:cNvSpPr txBox="1"/>
          <p:nvPr/>
        </p:nvSpPr>
        <p:spPr>
          <a:xfrm>
            <a:off x="1188720" y="4261104"/>
            <a:ext cx="6126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Two crossings: entrance + one internal door.</a:t>
            </a:r>
            <a:endParaRPr/>
          </a:p>
        </p:txBody>
      </p:sp>
      <p:sp>
        <p:nvSpPr>
          <p:cNvPr id="219" name="Google Shape;219;p7"/>
          <p:cNvSpPr/>
          <p:nvPr/>
        </p:nvSpPr>
        <p:spPr>
          <a:xfrm>
            <a:off x="365760" y="4846320"/>
            <a:ext cx="7132320" cy="877824"/>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7"/>
          <p:cNvSpPr txBox="1"/>
          <p:nvPr/>
        </p:nvSpPr>
        <p:spPr>
          <a:xfrm>
            <a:off x="566928" y="4882896"/>
            <a:ext cx="50292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CCCCCC"/>
                </a:solidFill>
                <a:latin typeface="Arial"/>
                <a:ea typeface="Arial"/>
                <a:cs typeface="Arial"/>
                <a:sym typeface="Arial"/>
              </a:rPr>
              <a:t>3</a:t>
            </a:r>
            <a:endParaRPr/>
          </a:p>
        </p:txBody>
      </p:sp>
      <p:sp>
        <p:nvSpPr>
          <p:cNvPr id="221" name="Google Shape;221;p7"/>
          <p:cNvSpPr txBox="1"/>
          <p:nvPr/>
        </p:nvSpPr>
        <p:spPr>
          <a:xfrm>
            <a:off x="1188720" y="4910328"/>
            <a:ext cx="4114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Bedroom, livingroom, balcony</a:t>
            </a:r>
            <a:endParaRPr/>
          </a:p>
        </p:txBody>
      </p:sp>
      <p:sp>
        <p:nvSpPr>
          <p:cNvPr id="222" name="Google Shape;222;p7"/>
          <p:cNvSpPr txBox="1"/>
          <p:nvPr/>
        </p:nvSpPr>
        <p:spPr>
          <a:xfrm>
            <a:off x="1188720" y="5212080"/>
            <a:ext cx="6126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Three crossings: entrance + two internal doors.</a:t>
            </a:r>
            <a:endParaRPr/>
          </a:p>
        </p:txBody>
      </p:sp>
      <p:sp>
        <p:nvSpPr>
          <p:cNvPr id="223" name="Google Shape;223;p7"/>
          <p:cNvSpPr/>
          <p:nvPr/>
        </p:nvSpPr>
        <p:spPr>
          <a:xfrm>
            <a:off x="7882127" y="1993392"/>
            <a:ext cx="3913632" cy="212140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txBox="1"/>
          <p:nvPr/>
        </p:nvSpPr>
        <p:spPr>
          <a:xfrm>
            <a:off x="8065008" y="2103120"/>
            <a:ext cx="3657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Formula</a:t>
            </a:r>
            <a:endParaRPr/>
          </a:p>
        </p:txBody>
      </p:sp>
      <p:sp>
        <p:nvSpPr>
          <p:cNvPr id="225" name="Google Shape;225;p7"/>
          <p:cNvSpPr txBox="1"/>
          <p:nvPr/>
        </p:nvSpPr>
        <p:spPr>
          <a:xfrm>
            <a:off x="8065008" y="2423160"/>
            <a:ext cx="3657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882288"/>
                </a:solidFill>
                <a:latin typeface="Arial"/>
                <a:ea typeface="Arial"/>
                <a:cs typeface="Arial"/>
                <a:sym typeface="Arial"/>
              </a:rPr>
              <a:t>slab Z  =</a:t>
            </a:r>
            <a:br>
              <a:rPr b="1" i="0" lang="en-US" sz="1800" u="none" cap="none" strike="noStrike">
                <a:solidFill>
                  <a:srgbClr val="882288"/>
                </a:solidFill>
                <a:latin typeface="Arial"/>
                <a:ea typeface="Arial"/>
                <a:cs typeface="Arial"/>
                <a:sym typeface="Arial"/>
              </a:rPr>
            </a:br>
            <a:r>
              <a:rPr b="1" i="0" lang="en-US" sz="1800" u="none" cap="none" strike="noStrike">
                <a:solidFill>
                  <a:srgbClr val="882288"/>
                </a:solidFill>
                <a:latin typeface="Arial"/>
                <a:ea typeface="Arial"/>
                <a:cs typeface="Arial"/>
                <a:sym typeface="Arial"/>
              </a:rPr>
              <a:t>-step x depth</a:t>
            </a:r>
            <a:endParaRPr>
              <a:solidFill>
                <a:srgbClr val="882288"/>
              </a:solidFill>
            </a:endParaRPr>
          </a:p>
        </p:txBody>
      </p:sp>
      <p:sp>
        <p:nvSpPr>
          <p:cNvPr id="226" name="Google Shape;226;p7"/>
          <p:cNvSpPr txBox="1"/>
          <p:nvPr/>
        </p:nvSpPr>
        <p:spPr>
          <a:xfrm>
            <a:off x="8065008" y="3291840"/>
            <a:ext cx="3657600" cy="7680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depth 0  --&gt;  ground level</a:t>
            </a:r>
            <a:br>
              <a:rPr b="0" i="0" lang="en-US" sz="1000" u="none" cap="none" strike="noStrike">
                <a:solidFill>
                  <a:srgbClr val="969696"/>
                </a:solidFill>
                <a:latin typeface="Arial"/>
                <a:ea typeface="Arial"/>
                <a:cs typeface="Arial"/>
                <a:sym typeface="Arial"/>
              </a:rPr>
            </a:br>
            <a:r>
              <a:rPr b="0" i="0" lang="en-US" sz="1000" u="none" cap="none" strike="noStrike">
                <a:solidFill>
                  <a:srgbClr val="969696"/>
                </a:solidFill>
                <a:latin typeface="Arial"/>
                <a:ea typeface="Arial"/>
                <a:cs typeface="Arial"/>
                <a:sym typeface="Arial"/>
              </a:rPr>
              <a:t>depth 12  --&gt;  lowest slab</a:t>
            </a:r>
            <a:br>
              <a:rPr b="0" i="0" lang="en-US" sz="1000" u="none" cap="none" strike="noStrike">
                <a:solidFill>
                  <a:srgbClr val="969696"/>
                </a:solidFill>
                <a:latin typeface="Arial"/>
                <a:ea typeface="Arial"/>
                <a:cs typeface="Arial"/>
                <a:sym typeface="Arial"/>
              </a:rPr>
            </a:br>
            <a:r>
              <a:rPr b="0" i="0" lang="en-US" sz="1000" u="none" cap="none" strike="noStrike">
                <a:solidFill>
                  <a:srgbClr val="969696"/>
                </a:solidFill>
                <a:latin typeface="Arial"/>
                <a:ea typeface="Arial"/>
                <a:cs typeface="Arial"/>
                <a:sym typeface="Arial"/>
              </a:rPr>
              <a:t>13 distinct Z levels</a:t>
            </a:r>
            <a:endParaRPr/>
          </a:p>
        </p:txBody>
      </p:sp>
      <p:sp>
        <p:nvSpPr>
          <p:cNvPr id="227" name="Google Shape;227;p7"/>
          <p:cNvSpPr/>
          <p:nvPr/>
        </p:nvSpPr>
        <p:spPr>
          <a:xfrm>
            <a:off x="7882127" y="4251960"/>
            <a:ext cx="3913632" cy="157276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7"/>
          <p:cNvSpPr txBox="1"/>
          <p:nvPr/>
        </p:nvSpPr>
        <p:spPr>
          <a:xfrm>
            <a:off x="8065008" y="4361688"/>
            <a:ext cx="3657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Intact section</a:t>
            </a:r>
            <a:endParaRPr/>
          </a:p>
        </p:txBody>
      </p:sp>
      <p:sp>
        <p:nvSpPr>
          <p:cNvPr id="229" name="Google Shape;229;p7"/>
          <p:cNvSpPr txBox="1"/>
          <p:nvPr/>
        </p:nvSpPr>
        <p:spPr>
          <a:xfrm>
            <a:off x="8065008" y="4663440"/>
            <a:ext cx="3675887" cy="11155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CCCCCC"/>
                </a:solidFill>
                <a:latin typeface="Arial"/>
                <a:ea typeface="Arial"/>
                <a:cs typeface="Arial"/>
                <a:sym typeface="Arial"/>
              </a:rPr>
              <a:t>BFS depth ranges from 0 to 3 across the intact nine-storey section. The damaged block, once merged, extends this to depth 12 because the memorial slabs fan outward from the surviving corridors, adding more graph distance from the staircase.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4"/>
        </a:solidFill>
      </p:bgPr>
    </p:bg>
    <p:spTree>
      <p:nvGrpSpPr>
        <p:cNvPr id="233" name="Shape 233"/>
        <p:cNvGrpSpPr/>
        <p:nvPr/>
      </p:nvGrpSpPr>
      <p:grpSpPr>
        <a:xfrm>
          <a:off x="0" y="0"/>
          <a:ext cx="0" cy="0"/>
          <a:chOff x="0" y="0"/>
          <a:chExt cx="0" cy="0"/>
        </a:xfrm>
      </p:grpSpPr>
      <p:pic>
        <p:nvPicPr>
          <p:cNvPr descr="topology_all.png" id="234" name="Google Shape;234;p8"/>
          <p:cNvPicPr preferRelativeResize="0"/>
          <p:nvPr/>
        </p:nvPicPr>
        <p:blipFill rotWithShape="1">
          <a:blip r:embed="rId3">
            <a:alphaModFix/>
          </a:blip>
          <a:srcRect b="6541" l="19615" r="19413" t="15218"/>
          <a:stretch/>
        </p:blipFill>
        <p:spPr>
          <a:xfrm>
            <a:off x="4486499" y="1776681"/>
            <a:ext cx="6858000" cy="4754243"/>
          </a:xfrm>
          <a:prstGeom prst="rect">
            <a:avLst/>
          </a:prstGeom>
          <a:noFill/>
          <a:ln>
            <a:noFill/>
          </a:ln>
        </p:spPr>
      </p:pic>
      <p:sp>
        <p:nvSpPr>
          <p:cNvPr id="235" name="Google Shape;235;p8"/>
          <p:cNvSpPr/>
          <p:nvPr/>
        </p:nvSpPr>
        <p:spPr>
          <a:xfrm>
            <a:off x="457200" y="483635"/>
            <a:ext cx="11731800" cy="126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8"/>
          <p:cNvSpPr txBox="1"/>
          <p:nvPr/>
        </p:nvSpPr>
        <p:spPr>
          <a:xfrm>
            <a:off x="457200" y="611651"/>
            <a:ext cx="5486400" cy="20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6 -- COMBINED CELLCOMPLEX</a:t>
            </a:r>
            <a:endParaRPr/>
          </a:p>
        </p:txBody>
      </p:sp>
      <p:sp>
        <p:nvSpPr>
          <p:cNvPr id="237" name="Google Shape;237;p8"/>
          <p:cNvSpPr txBox="1"/>
          <p:nvPr/>
        </p:nvSpPr>
        <p:spPr>
          <a:xfrm>
            <a:off x="457200" y="831107"/>
            <a:ext cx="6858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FFFFF"/>
                </a:solidFill>
                <a:latin typeface="Arial"/>
                <a:ea typeface="Arial"/>
                <a:cs typeface="Arial"/>
                <a:sym typeface="Arial"/>
              </a:rPr>
              <a:t>Intact section  +  Damaged block  +  Memorial intervention</a:t>
            </a:r>
            <a:endParaRPr/>
          </a:p>
        </p:txBody>
      </p:sp>
      <p:sp>
        <p:nvSpPr>
          <p:cNvPr id="238" name="Google Shape;238;p8"/>
          <p:cNvSpPr txBox="1"/>
          <p:nvPr/>
        </p:nvSpPr>
        <p:spPr>
          <a:xfrm>
            <a:off x="457200" y="1324883"/>
            <a:ext cx="86868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969696"/>
                </a:solidFill>
                <a:latin typeface="Arial"/>
                <a:ea typeface="Arial"/>
                <a:cs typeface="Arial"/>
                <a:sym typeface="Arial"/>
              </a:rPr>
              <a:t>596 cells. The staircase spine at center connects both halves. Right: intact section, real room types. Left: surviving damaged rooms (corridor, yellow) and memorial slabs (balcony, green).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2" name="Shape 242"/>
        <p:cNvGrpSpPr/>
        <p:nvPr/>
      </p:nvGrpSpPr>
      <p:grpSpPr>
        <a:xfrm>
          <a:off x="0" y="0"/>
          <a:ext cx="0" cy="0"/>
          <a:chOff x="0" y="0"/>
          <a:chExt cx="0" cy="0"/>
        </a:xfrm>
      </p:grpSpPr>
      <p:sp>
        <p:nvSpPr>
          <p:cNvPr id="243" name="Google Shape;243;p9"/>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6 -- COMBINED SECTION</a:t>
            </a:r>
            <a:endParaRPr/>
          </a:p>
        </p:txBody>
      </p:sp>
      <p:sp>
        <p:nvSpPr>
          <p:cNvPr id="244" name="Google Shape;244;p9"/>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Adjacency Graph  g1 -- Both Sections</a:t>
            </a:r>
            <a:endParaRPr/>
          </a:p>
        </p:txBody>
      </p:sp>
      <p:sp>
        <p:nvSpPr>
          <p:cNvPr id="245" name="Google Shape;245;p9"/>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9"/>
          <p:cNvSpPr txBox="1"/>
          <p:nvPr/>
        </p:nvSpPr>
        <p:spPr>
          <a:xfrm>
            <a:off x="457200" y="1207008"/>
            <a:ext cx="114300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Through-face adjacency across the full 596-node graph.</a:t>
            </a:r>
            <a:endParaRPr/>
          </a:p>
        </p:txBody>
      </p:sp>
      <p:sp>
        <p:nvSpPr>
          <p:cNvPr id="247" name="Google Shape;247;p9"/>
          <p:cNvSpPr txBox="1"/>
          <p:nvPr/>
        </p:nvSpPr>
        <p:spPr>
          <a:xfrm>
            <a:off x="457200" y="1463040"/>
            <a:ext cx="1143000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asymmetry between the two halves is directly visible. The intact section (right) produces the expected double-fan pattern: two apartment clusters per floor, repeating nine times, converging at the staircase. The damaged section (left) produces a different structure: the green balcony slab nodes form a wider, sparser cloud at the periphery -- a typology that did not exist in the original building.</a:t>
            </a:r>
            <a:endParaRPr/>
          </a:p>
        </p:txBody>
      </p:sp>
      <p:pic>
        <p:nvPicPr>
          <p:cNvPr descr="adjacency_all.png" id="248" name="Google Shape;248;p9"/>
          <p:cNvPicPr preferRelativeResize="0"/>
          <p:nvPr/>
        </p:nvPicPr>
        <p:blipFill rotWithShape="1">
          <a:blip r:embed="rId3">
            <a:alphaModFix/>
          </a:blip>
          <a:srcRect b="5041" l="12024" r="15888" t="9946"/>
          <a:stretch/>
        </p:blipFill>
        <p:spPr>
          <a:xfrm>
            <a:off x="587825" y="2350475"/>
            <a:ext cx="3127250" cy="2036475"/>
          </a:xfrm>
          <a:prstGeom prst="rect">
            <a:avLst/>
          </a:prstGeom>
          <a:noFill/>
          <a:ln>
            <a:noFill/>
          </a:ln>
        </p:spPr>
      </p:pic>
      <p:sp>
        <p:nvSpPr>
          <p:cNvPr id="249" name="Google Shape;249;p9"/>
          <p:cNvSpPr txBox="1"/>
          <p:nvPr/>
        </p:nvSpPr>
        <p:spPr>
          <a:xfrm>
            <a:off x="274320" y="6565392"/>
            <a:ext cx="37673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On geometry</a:t>
            </a:r>
            <a:endParaRPr/>
          </a:p>
        </p:txBody>
      </p:sp>
      <p:pic>
        <p:nvPicPr>
          <p:cNvPr descr="adjacency_all1.png" id="250" name="Google Shape;250;p9"/>
          <p:cNvPicPr preferRelativeResize="0"/>
          <p:nvPr/>
        </p:nvPicPr>
        <p:blipFill rotWithShape="1">
          <a:blip r:embed="rId4">
            <a:alphaModFix/>
          </a:blip>
          <a:srcRect b="3007" l="7454" r="11351" t="6430"/>
          <a:stretch/>
        </p:blipFill>
        <p:spPr>
          <a:xfrm>
            <a:off x="3320075" y="2350475"/>
            <a:ext cx="3522249" cy="2157049"/>
          </a:xfrm>
          <a:prstGeom prst="rect">
            <a:avLst/>
          </a:prstGeom>
          <a:noFill/>
          <a:ln>
            <a:noFill/>
          </a:ln>
        </p:spPr>
      </p:pic>
      <p:sp>
        <p:nvSpPr>
          <p:cNvPr id="251" name="Google Shape;251;p9"/>
          <p:cNvSpPr txBox="1"/>
          <p:nvPr/>
        </p:nvSpPr>
        <p:spPr>
          <a:xfrm>
            <a:off x="4178808" y="6565392"/>
            <a:ext cx="37673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3D isolated -- balcony cluster (left) vs apartment fan (right)</a:t>
            </a:r>
            <a:endParaRPr/>
          </a:p>
        </p:txBody>
      </p:sp>
      <p:pic>
        <p:nvPicPr>
          <p:cNvPr descr="adjacency_all2.png" id="252" name="Google Shape;252;p9"/>
          <p:cNvPicPr preferRelativeResize="0"/>
          <p:nvPr/>
        </p:nvPicPr>
        <p:blipFill rotWithShape="1">
          <a:blip r:embed="rId5">
            <a:alphaModFix/>
          </a:blip>
          <a:srcRect b="1917" l="2144" r="5434" t="12098"/>
          <a:stretch/>
        </p:blipFill>
        <p:spPr>
          <a:xfrm>
            <a:off x="6786575" y="2203728"/>
            <a:ext cx="4965950" cy="2482475"/>
          </a:xfrm>
          <a:prstGeom prst="rect">
            <a:avLst/>
          </a:prstGeom>
          <a:noFill/>
          <a:ln>
            <a:noFill/>
          </a:ln>
        </p:spPr>
      </p:pic>
      <p:sp>
        <p:nvSpPr>
          <p:cNvPr id="253" name="Google Shape;253;p9"/>
          <p:cNvSpPr txBox="1"/>
          <p:nvPr/>
        </p:nvSpPr>
        <p:spPr>
          <a:xfrm>
            <a:off x="8092440" y="6565392"/>
            <a:ext cx="37673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Plan -- broken symmetry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7" name="Shape 257"/>
        <p:cNvGrpSpPr/>
        <p:nvPr/>
      </p:nvGrpSpPr>
      <p:grpSpPr>
        <a:xfrm>
          <a:off x="0" y="0"/>
          <a:ext cx="0" cy="0"/>
          <a:chOff x="0" y="0"/>
          <a:chExt cx="0" cy="0"/>
        </a:xfrm>
      </p:grpSpPr>
      <p:sp>
        <p:nvSpPr>
          <p:cNvPr id="258" name="Google Shape;258;p10"/>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6 -- COMBINED SECTION</a:t>
            </a:r>
            <a:endParaRPr/>
          </a:p>
        </p:txBody>
      </p:sp>
      <p:sp>
        <p:nvSpPr>
          <p:cNvPr id="259" name="Google Shape;259;p10"/>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Access Graph  g2 -- Both Sections</a:t>
            </a:r>
            <a:endParaRPr/>
          </a:p>
        </p:txBody>
      </p:sp>
      <p:sp>
        <p:nvSpPr>
          <p:cNvPr id="260" name="Google Shape;260;p10"/>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0"/>
          <p:cNvSpPr txBox="1"/>
          <p:nvPr/>
        </p:nvSpPr>
        <p:spPr>
          <a:xfrm>
            <a:off x="457200" y="1207008"/>
            <a:ext cx="11430000" cy="2377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596 nodes, 594 edges. The staircase landing is the only connection between the two sections.</a:t>
            </a:r>
            <a:endParaRPr/>
          </a:p>
        </p:txBody>
      </p:sp>
      <p:sp>
        <p:nvSpPr>
          <p:cNvPr id="262" name="Google Shape;262;p10"/>
          <p:cNvSpPr txBox="1"/>
          <p:nvPr/>
        </p:nvSpPr>
        <p:spPr>
          <a:xfrm>
            <a:off x="457200" y="1463040"/>
            <a:ext cx="11430000" cy="7498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intact section (right) reads as a standard apartment tree: staircase branching to landings, landings to entrance doors, halls to rooms, rooms ending as leaves. The damaged section (left) carries the same branching logic but through different node types: surviving corridor nodes fan to balcony slab leaves, with stair-bridges at the original door positions. The lost apartment's topology is structurally intact -- the spatial relationships remain, even though the rooms are gone.</a:t>
            </a:r>
            <a:endParaRPr/>
          </a:p>
        </p:txBody>
      </p:sp>
      <p:sp>
        <p:nvSpPr>
          <p:cNvPr id="263" name="Google Shape;263;p10"/>
          <p:cNvSpPr txBox="1"/>
          <p:nvPr/>
        </p:nvSpPr>
        <p:spPr>
          <a:xfrm>
            <a:off x="274320" y="6565392"/>
            <a:ext cx="37673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On geometry</a:t>
            </a:r>
            <a:endParaRPr/>
          </a:p>
        </p:txBody>
      </p:sp>
      <p:sp>
        <p:nvSpPr>
          <p:cNvPr id="264" name="Google Shape;264;p10"/>
          <p:cNvSpPr txBox="1"/>
          <p:nvPr/>
        </p:nvSpPr>
        <p:spPr>
          <a:xfrm>
            <a:off x="4178808" y="6565392"/>
            <a:ext cx="37673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3D isolated -- corridors fan to balcony slab leaves</a:t>
            </a:r>
            <a:endParaRPr/>
          </a:p>
        </p:txBody>
      </p:sp>
      <p:sp>
        <p:nvSpPr>
          <p:cNvPr id="265" name="Google Shape;265;p10"/>
          <p:cNvSpPr txBox="1"/>
          <p:nvPr/>
        </p:nvSpPr>
        <p:spPr>
          <a:xfrm>
            <a:off x="8092440" y="6565392"/>
            <a:ext cx="3767328"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Plan -- staircase at hourglass center</a:t>
            </a:r>
            <a:endParaRPr/>
          </a:p>
        </p:txBody>
      </p:sp>
      <p:pic>
        <p:nvPicPr>
          <p:cNvPr id="266" name="Google Shape;266;p10" title="access_all.png"/>
          <p:cNvPicPr preferRelativeResize="0"/>
          <p:nvPr/>
        </p:nvPicPr>
        <p:blipFill rotWithShape="1">
          <a:blip r:embed="rId3">
            <a:alphaModFix/>
          </a:blip>
          <a:srcRect b="0" l="15552" r="16180" t="11182"/>
          <a:stretch/>
        </p:blipFill>
        <p:spPr>
          <a:xfrm>
            <a:off x="396875" y="2350475"/>
            <a:ext cx="3016251" cy="2157050"/>
          </a:xfrm>
          <a:prstGeom prst="rect">
            <a:avLst/>
          </a:prstGeom>
          <a:noFill/>
          <a:ln>
            <a:noFill/>
          </a:ln>
        </p:spPr>
      </p:pic>
      <p:pic>
        <p:nvPicPr>
          <p:cNvPr id="267" name="Google Shape;267;p10" title="access_all1.png"/>
          <p:cNvPicPr preferRelativeResize="0"/>
          <p:nvPr/>
        </p:nvPicPr>
        <p:blipFill rotWithShape="1">
          <a:blip r:embed="rId4">
            <a:alphaModFix/>
          </a:blip>
          <a:srcRect b="4278" l="10072" r="14422" t="12652"/>
          <a:stretch/>
        </p:blipFill>
        <p:spPr>
          <a:xfrm>
            <a:off x="3154296" y="2407025"/>
            <a:ext cx="3571104" cy="2157050"/>
          </a:xfrm>
          <a:prstGeom prst="rect">
            <a:avLst/>
          </a:prstGeom>
          <a:noFill/>
          <a:ln>
            <a:noFill/>
          </a:ln>
        </p:spPr>
      </p:pic>
      <p:pic>
        <p:nvPicPr>
          <p:cNvPr id="268" name="Google Shape;268;p10" title="access_all2.png"/>
          <p:cNvPicPr preferRelativeResize="0"/>
          <p:nvPr/>
        </p:nvPicPr>
        <p:blipFill rotWithShape="1">
          <a:blip r:embed="rId5">
            <a:alphaModFix/>
          </a:blip>
          <a:srcRect b="7378" l="3596" r="4896" t="10467"/>
          <a:stretch/>
        </p:blipFill>
        <p:spPr>
          <a:xfrm>
            <a:off x="6965150" y="2407025"/>
            <a:ext cx="4544226" cy="2157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314"/>
        </a:solidFill>
      </p:bgPr>
    </p:bg>
    <p:spTree>
      <p:nvGrpSpPr>
        <p:cNvPr id="272" name="Shape 272"/>
        <p:cNvGrpSpPr/>
        <p:nvPr/>
      </p:nvGrpSpPr>
      <p:grpSpPr>
        <a:xfrm>
          <a:off x="0" y="0"/>
          <a:ext cx="0" cy="0"/>
          <a:chOff x="0" y="0"/>
          <a:chExt cx="0" cy="0"/>
        </a:xfrm>
      </p:grpSpPr>
      <p:sp>
        <p:nvSpPr>
          <p:cNvPr id="273" name="Google Shape;273;p11"/>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8 -- ML NODE CLASSIFICATION</a:t>
            </a:r>
            <a:endParaRPr/>
          </a:p>
        </p:txBody>
      </p:sp>
      <p:sp>
        <p:nvSpPr>
          <p:cNvPr id="274" name="Google Shape;274;p11"/>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GraphSAGE -- Feature Design</a:t>
            </a:r>
            <a:endParaRPr/>
          </a:p>
        </p:txBody>
      </p:sp>
      <p:sp>
        <p:nvSpPr>
          <p:cNvPr id="275" name="Google Shape;275;p11"/>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11"/>
          <p:cNvSpPr txBox="1"/>
          <p:nvPr/>
        </p:nvSpPr>
        <p:spPr>
          <a:xfrm>
            <a:off x="457200" y="1207008"/>
            <a:ext cx="114300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classifier (pretrained on the </a:t>
            </a:r>
            <a:r>
              <a:rPr lang="en-US" sz="1000">
                <a:solidFill>
                  <a:srgbClr val="969696"/>
                </a:solidFill>
              </a:rPr>
              <a:t>Modified Swiss Dwellings</a:t>
            </a:r>
            <a:r>
              <a:rPr b="0" i="0" lang="en-US" sz="1000" u="none" cap="none" strike="noStrike">
                <a:solidFill>
                  <a:srgbClr val="969696"/>
                </a:solidFill>
                <a:latin typeface="Arial"/>
                <a:ea typeface="Arial"/>
                <a:cs typeface="Arial"/>
                <a:sym typeface="Arial"/>
              </a:rPr>
              <a:t>, ~1000 apartment plans) takes a 7-dimensional feature vector per node. No coordinates, no area, no geometry.</a:t>
            </a:r>
            <a:endParaRPr/>
          </a:p>
        </p:txBody>
      </p:sp>
      <p:pic>
        <p:nvPicPr>
          <p:cNvPr descr="room labels.png" id="277" name="Google Shape;277;p11"/>
          <p:cNvPicPr preferRelativeResize="0"/>
          <p:nvPr/>
        </p:nvPicPr>
        <p:blipFill rotWithShape="1">
          <a:blip r:embed="rId3">
            <a:alphaModFix/>
          </a:blip>
          <a:srcRect b="41304" l="0" r="0" t="0"/>
          <a:stretch/>
        </p:blipFill>
        <p:spPr>
          <a:xfrm>
            <a:off x="365750" y="1828800"/>
            <a:ext cx="6858001" cy="3955650"/>
          </a:xfrm>
          <a:prstGeom prst="rect">
            <a:avLst/>
          </a:prstGeom>
          <a:noFill/>
          <a:ln>
            <a:noFill/>
          </a:ln>
        </p:spPr>
      </p:pic>
      <p:sp>
        <p:nvSpPr>
          <p:cNvPr id="278" name="Google Shape;278;p11"/>
          <p:cNvSpPr/>
          <p:nvPr/>
        </p:nvSpPr>
        <p:spPr>
          <a:xfrm>
            <a:off x="7571231" y="1828800"/>
            <a:ext cx="4279392" cy="477316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11"/>
          <p:cNvSpPr txBox="1"/>
          <p:nvPr/>
        </p:nvSpPr>
        <p:spPr>
          <a:xfrm>
            <a:off x="7754112" y="1956816"/>
            <a:ext cx="4041648"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Node feature vector  x  in  R^7</a:t>
            </a:r>
            <a:endParaRPr/>
          </a:p>
        </p:txBody>
      </p:sp>
      <p:sp>
        <p:nvSpPr>
          <p:cNvPr id="280" name="Google Shape;280;p11"/>
          <p:cNvSpPr txBox="1"/>
          <p:nvPr/>
        </p:nvSpPr>
        <p:spPr>
          <a:xfrm>
            <a:off x="7754112" y="2331720"/>
            <a:ext cx="283464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CCCCCC"/>
                </a:solidFill>
                <a:latin typeface="Arial"/>
                <a:ea typeface="Arial"/>
                <a:cs typeface="Arial"/>
                <a:sym typeface="Arial"/>
              </a:rPr>
              <a:t>zoning_type_0</a:t>
            </a:r>
            <a:endParaRPr/>
          </a:p>
        </p:txBody>
      </p:sp>
      <p:sp>
        <p:nvSpPr>
          <p:cNvPr id="281" name="Google Shape;281;p11"/>
          <p:cNvSpPr txBox="1"/>
          <p:nvPr/>
        </p:nvSpPr>
        <p:spPr>
          <a:xfrm>
            <a:off x="7754112" y="2551176"/>
            <a:ext cx="39319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1 if private/static  (bedroom)</a:t>
            </a:r>
            <a:endParaRPr/>
          </a:p>
        </p:txBody>
      </p:sp>
      <p:sp>
        <p:nvSpPr>
          <p:cNvPr id="282" name="Google Shape;282;p11"/>
          <p:cNvSpPr txBox="1"/>
          <p:nvPr/>
        </p:nvSpPr>
        <p:spPr>
          <a:xfrm>
            <a:off x="7754112" y="2807208"/>
            <a:ext cx="283464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CCCCCC"/>
                </a:solidFill>
                <a:latin typeface="Arial"/>
                <a:ea typeface="Arial"/>
                <a:cs typeface="Arial"/>
                <a:sym typeface="Arial"/>
              </a:rPr>
              <a:t>zoning_type_1</a:t>
            </a:r>
            <a:endParaRPr/>
          </a:p>
        </p:txBody>
      </p:sp>
      <p:sp>
        <p:nvSpPr>
          <p:cNvPr id="283" name="Google Shape;283;p11"/>
          <p:cNvSpPr txBox="1"/>
          <p:nvPr/>
        </p:nvSpPr>
        <p:spPr>
          <a:xfrm>
            <a:off x="7754112" y="3026663"/>
            <a:ext cx="39319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1 if living/dynamic  (kitchen, corridor, dining)</a:t>
            </a:r>
            <a:endParaRPr/>
          </a:p>
        </p:txBody>
      </p:sp>
      <p:sp>
        <p:nvSpPr>
          <p:cNvPr id="284" name="Google Shape;284;p11"/>
          <p:cNvSpPr txBox="1"/>
          <p:nvPr/>
        </p:nvSpPr>
        <p:spPr>
          <a:xfrm>
            <a:off x="7754112" y="3282696"/>
            <a:ext cx="283464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CCCCCC"/>
                </a:solidFill>
                <a:latin typeface="Arial"/>
                <a:ea typeface="Arial"/>
                <a:cs typeface="Arial"/>
                <a:sym typeface="Arial"/>
              </a:rPr>
              <a:t>zoning_type_2</a:t>
            </a:r>
            <a:endParaRPr/>
          </a:p>
        </p:txBody>
      </p:sp>
      <p:sp>
        <p:nvSpPr>
          <p:cNvPr id="285" name="Google Shape;285;p11"/>
          <p:cNvSpPr txBox="1"/>
          <p:nvPr/>
        </p:nvSpPr>
        <p:spPr>
          <a:xfrm>
            <a:off x="7754112" y="3502152"/>
            <a:ext cx="39319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1 if service/functional  (bathroom, storeroom, stairs)</a:t>
            </a:r>
            <a:endParaRPr/>
          </a:p>
        </p:txBody>
      </p:sp>
      <p:sp>
        <p:nvSpPr>
          <p:cNvPr id="286" name="Google Shape;286;p11"/>
          <p:cNvSpPr txBox="1"/>
          <p:nvPr/>
        </p:nvSpPr>
        <p:spPr>
          <a:xfrm>
            <a:off x="7754112" y="3758183"/>
            <a:ext cx="283464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CCCCCC"/>
                </a:solidFill>
                <a:latin typeface="Arial"/>
                <a:ea typeface="Arial"/>
                <a:cs typeface="Arial"/>
                <a:sym typeface="Arial"/>
              </a:rPr>
              <a:t>zoning_type_3</a:t>
            </a:r>
            <a:endParaRPr/>
          </a:p>
        </p:txBody>
      </p:sp>
      <p:sp>
        <p:nvSpPr>
          <p:cNvPr id="287" name="Google Shape;287;p11"/>
          <p:cNvSpPr txBox="1"/>
          <p:nvPr/>
        </p:nvSpPr>
        <p:spPr>
          <a:xfrm>
            <a:off x="7754112" y="3977639"/>
            <a:ext cx="39319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1 if outdoor  (balcony)</a:t>
            </a:r>
            <a:endParaRPr/>
          </a:p>
        </p:txBody>
      </p:sp>
      <p:sp>
        <p:nvSpPr>
          <p:cNvPr id="288" name="Google Shape;288;p11"/>
          <p:cNvSpPr txBox="1"/>
          <p:nvPr/>
        </p:nvSpPr>
        <p:spPr>
          <a:xfrm>
            <a:off x="7754112" y="4233672"/>
            <a:ext cx="283464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CCCCCC"/>
                </a:solidFill>
                <a:latin typeface="Arial"/>
                <a:ea typeface="Arial"/>
                <a:cs typeface="Arial"/>
                <a:sym typeface="Arial"/>
              </a:rPr>
              <a:t>connectivity_0</a:t>
            </a:r>
            <a:endParaRPr/>
          </a:p>
        </p:txBody>
      </p:sp>
      <p:sp>
        <p:nvSpPr>
          <p:cNvPr id="289" name="Google Shape;289;p11"/>
          <p:cNvSpPr txBox="1"/>
          <p:nvPr/>
        </p:nvSpPr>
        <p:spPr>
          <a:xfrm>
            <a:off x="7754112" y="4453128"/>
            <a:ext cx="39319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fraction of edges that are passage thresholds</a:t>
            </a:r>
            <a:endParaRPr/>
          </a:p>
        </p:txBody>
      </p:sp>
      <p:sp>
        <p:nvSpPr>
          <p:cNvPr id="290" name="Google Shape;290;p11"/>
          <p:cNvSpPr txBox="1"/>
          <p:nvPr/>
        </p:nvSpPr>
        <p:spPr>
          <a:xfrm>
            <a:off x="7754112" y="4709160"/>
            <a:ext cx="283464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CCCCCC"/>
                </a:solidFill>
                <a:latin typeface="Arial"/>
                <a:ea typeface="Arial"/>
                <a:cs typeface="Arial"/>
                <a:sym typeface="Arial"/>
              </a:rPr>
              <a:t>connectivity_1</a:t>
            </a:r>
            <a:endParaRPr/>
          </a:p>
        </p:txBody>
      </p:sp>
      <p:sp>
        <p:nvSpPr>
          <p:cNvPr id="291" name="Google Shape;291;p11"/>
          <p:cNvSpPr txBox="1"/>
          <p:nvPr/>
        </p:nvSpPr>
        <p:spPr>
          <a:xfrm>
            <a:off x="7754112" y="4928616"/>
            <a:ext cx="39319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fraction of edges that are room doors</a:t>
            </a:r>
            <a:endParaRPr/>
          </a:p>
        </p:txBody>
      </p:sp>
      <p:sp>
        <p:nvSpPr>
          <p:cNvPr id="292" name="Google Shape;292;p11"/>
          <p:cNvSpPr txBox="1"/>
          <p:nvPr/>
        </p:nvSpPr>
        <p:spPr>
          <a:xfrm>
            <a:off x="7754112" y="5184648"/>
            <a:ext cx="2834640" cy="2194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CCCCCC"/>
                </a:solidFill>
                <a:latin typeface="Arial"/>
                <a:ea typeface="Arial"/>
                <a:cs typeface="Arial"/>
                <a:sym typeface="Arial"/>
              </a:rPr>
              <a:t>connectivity_2</a:t>
            </a:r>
            <a:endParaRPr/>
          </a:p>
        </p:txBody>
      </p:sp>
      <p:sp>
        <p:nvSpPr>
          <p:cNvPr id="293" name="Google Shape;293;p11"/>
          <p:cNvSpPr txBox="1"/>
          <p:nvPr/>
        </p:nvSpPr>
        <p:spPr>
          <a:xfrm>
            <a:off x="7754112" y="5404104"/>
            <a:ext cx="393192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fraction of edges that are entrance doors</a:t>
            </a:r>
            <a:endParaRPr/>
          </a:p>
        </p:txBody>
      </p:sp>
      <p:sp>
        <p:nvSpPr>
          <p:cNvPr id="294" name="Google Shape;294;p11"/>
          <p:cNvSpPr txBox="1"/>
          <p:nvPr/>
        </p:nvSpPr>
        <p:spPr>
          <a:xfrm>
            <a:off x="7754112" y="5742432"/>
            <a:ext cx="3931920" cy="7498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50" u="none" cap="none" strike="noStrike">
                <a:solidFill>
                  <a:srgbClr val="969696"/>
                </a:solidFill>
                <a:latin typeface="Arial"/>
                <a:ea typeface="Arial"/>
                <a:cs typeface="Arial"/>
                <a:sym typeface="Arial"/>
              </a:rPr>
              <a:t>The four zoning features are one-hot. The three connectivity features are ratios computed from the edge set of each node. A corridor node in the damaged section is assigned zoning_type_1 = 1. Its connectivity features depend on which door types connect it to its neighbors.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8" name="Shape 298"/>
        <p:cNvGrpSpPr/>
        <p:nvPr/>
      </p:nvGrpSpPr>
      <p:grpSpPr>
        <a:xfrm>
          <a:off x="0" y="0"/>
          <a:ext cx="0" cy="0"/>
          <a:chOff x="0" y="0"/>
          <a:chExt cx="0" cy="0"/>
        </a:xfrm>
      </p:grpSpPr>
      <p:pic>
        <p:nvPicPr>
          <p:cNvPr descr="existing.png" id="299" name="Google Shape;299;p12"/>
          <p:cNvPicPr preferRelativeResize="0"/>
          <p:nvPr/>
        </p:nvPicPr>
        <p:blipFill rotWithShape="1">
          <a:blip r:embed="rId3">
            <a:alphaModFix/>
          </a:blip>
          <a:srcRect b="5876" l="24032" r="26791" t="15458"/>
          <a:stretch/>
        </p:blipFill>
        <p:spPr>
          <a:xfrm>
            <a:off x="457203" y="3529113"/>
            <a:ext cx="3530373" cy="3009799"/>
          </a:xfrm>
          <a:prstGeom prst="rect">
            <a:avLst/>
          </a:prstGeom>
          <a:noFill/>
          <a:ln>
            <a:noFill/>
          </a:ln>
        </p:spPr>
      </p:pic>
      <p:sp>
        <p:nvSpPr>
          <p:cNvPr id="300" name="Google Shape;300;p12"/>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8 -- BEFORE INFERENCE</a:t>
            </a:r>
            <a:endParaRPr/>
          </a:p>
        </p:txBody>
      </p:sp>
      <p:sp>
        <p:nvSpPr>
          <p:cNvPr id="301" name="Google Shape;301;p12"/>
          <p:cNvSpPr txBox="1"/>
          <p:nvPr/>
        </p:nvSpPr>
        <p:spPr>
          <a:xfrm>
            <a:off x="457200" y="493775"/>
            <a:ext cx="8853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Assigned Labels</a:t>
            </a:r>
            <a:endParaRPr/>
          </a:p>
        </p:txBody>
      </p:sp>
      <p:sp>
        <p:nvSpPr>
          <p:cNvPr id="302" name="Google Shape;302;p12"/>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12"/>
          <p:cNvSpPr txBox="1"/>
          <p:nvPr/>
        </p:nvSpPr>
        <p:spPr>
          <a:xfrm>
            <a:off x="457200" y="1097750"/>
            <a:ext cx="868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Before the model runs, every node in the combined graph must have a label. The intact section nodes carry their real room types. The memorial nodes are assigned labels that encode the design intent.</a:t>
            </a:r>
            <a:endParaRPr/>
          </a:p>
        </p:txBody>
      </p:sp>
      <p:sp>
        <p:nvSpPr>
          <p:cNvPr id="304" name="Google Shape;304;p12"/>
          <p:cNvSpPr txBox="1"/>
          <p:nvPr/>
        </p:nvSpPr>
        <p:spPr>
          <a:xfrm>
            <a:off x="530352" y="1636542"/>
            <a:ext cx="2697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CCCCCC"/>
                </a:solidFill>
                <a:latin typeface="Arial"/>
                <a:ea typeface="Arial"/>
                <a:cs typeface="Arial"/>
                <a:sym typeface="Arial"/>
              </a:rPr>
              <a:t>162  surviving damaged rooms</a:t>
            </a:r>
            <a:endParaRPr/>
          </a:p>
        </p:txBody>
      </p:sp>
      <p:sp>
        <p:nvSpPr>
          <p:cNvPr id="305" name="Google Shape;305;p12"/>
          <p:cNvSpPr txBox="1"/>
          <p:nvPr/>
        </p:nvSpPr>
        <p:spPr>
          <a:xfrm>
            <a:off x="2897147" y="1636542"/>
            <a:ext cx="14448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FFFF"/>
                </a:solidFill>
                <a:latin typeface="Arial"/>
                <a:ea typeface="Arial"/>
                <a:cs typeface="Arial"/>
                <a:sym typeface="Arial"/>
              </a:rPr>
              <a:t>corridor</a:t>
            </a:r>
            <a:endParaRPr/>
          </a:p>
        </p:txBody>
      </p:sp>
      <p:sp>
        <p:nvSpPr>
          <p:cNvPr id="306" name="Google Shape;306;p12"/>
          <p:cNvSpPr txBox="1"/>
          <p:nvPr/>
        </p:nvSpPr>
        <p:spPr>
          <a:xfrm>
            <a:off x="4247658" y="1636542"/>
            <a:ext cx="18105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969696"/>
                </a:solidFill>
                <a:latin typeface="Arial"/>
                <a:ea typeface="Arial"/>
                <a:cs typeface="Arial"/>
                <a:sym typeface="Arial"/>
              </a:rPr>
              <a:t>zoning [0,1,0,0]</a:t>
            </a:r>
            <a:endParaRPr/>
          </a:p>
        </p:txBody>
      </p:sp>
      <p:sp>
        <p:nvSpPr>
          <p:cNvPr id="307" name="Google Shape;307;p12"/>
          <p:cNvSpPr txBox="1"/>
          <p:nvPr/>
        </p:nvSpPr>
        <p:spPr>
          <a:xfrm>
            <a:off x="5756573" y="1636542"/>
            <a:ext cx="4892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969696"/>
                </a:solidFill>
                <a:latin typeface="Arial"/>
                <a:ea typeface="Arial"/>
                <a:cs typeface="Arial"/>
                <a:sym typeface="Arial"/>
              </a:rPr>
              <a:t>Neutral placeholder. zoning_type_1 = 1. The model will predict the new function for each of these nodes.</a:t>
            </a:r>
            <a:endParaRPr/>
          </a:p>
        </p:txBody>
      </p:sp>
      <p:sp>
        <p:nvSpPr>
          <p:cNvPr id="308" name="Google Shape;308;p12"/>
          <p:cNvSpPr txBox="1"/>
          <p:nvPr/>
        </p:nvSpPr>
        <p:spPr>
          <a:xfrm>
            <a:off x="530352" y="2011811"/>
            <a:ext cx="2697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CCCCCC"/>
                </a:solidFill>
                <a:latin typeface="Arial"/>
                <a:ea typeface="Arial"/>
                <a:cs typeface="Arial"/>
                <a:sym typeface="Arial"/>
              </a:rPr>
              <a:t>216  memorial slabs</a:t>
            </a:r>
            <a:endParaRPr/>
          </a:p>
        </p:txBody>
      </p:sp>
      <p:sp>
        <p:nvSpPr>
          <p:cNvPr id="309" name="Google Shape;309;p12"/>
          <p:cNvSpPr txBox="1"/>
          <p:nvPr/>
        </p:nvSpPr>
        <p:spPr>
          <a:xfrm>
            <a:off x="2897147" y="2011811"/>
            <a:ext cx="14448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FFFF"/>
                </a:solidFill>
                <a:latin typeface="Arial"/>
                <a:ea typeface="Arial"/>
                <a:cs typeface="Arial"/>
                <a:sym typeface="Arial"/>
              </a:rPr>
              <a:t>balcony</a:t>
            </a:r>
            <a:endParaRPr/>
          </a:p>
        </p:txBody>
      </p:sp>
      <p:sp>
        <p:nvSpPr>
          <p:cNvPr id="310" name="Google Shape;310;p12"/>
          <p:cNvSpPr txBox="1"/>
          <p:nvPr/>
        </p:nvSpPr>
        <p:spPr>
          <a:xfrm>
            <a:off x="4247658" y="2011811"/>
            <a:ext cx="18105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969696"/>
                </a:solidFill>
                <a:latin typeface="Arial"/>
                <a:ea typeface="Arial"/>
                <a:cs typeface="Arial"/>
                <a:sym typeface="Arial"/>
              </a:rPr>
              <a:t>zoning [0,0,0,1]</a:t>
            </a:r>
            <a:endParaRPr/>
          </a:p>
        </p:txBody>
      </p:sp>
      <p:sp>
        <p:nvSpPr>
          <p:cNvPr id="311" name="Google Shape;311;p12"/>
          <p:cNvSpPr txBox="1"/>
          <p:nvPr/>
        </p:nvSpPr>
        <p:spPr>
          <a:xfrm>
            <a:off x="5756573" y="2011811"/>
            <a:ext cx="4892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969696"/>
                </a:solidFill>
                <a:latin typeface="Arial"/>
                <a:ea typeface="Arial"/>
                <a:cs typeface="Arial"/>
                <a:sym typeface="Arial"/>
              </a:rPr>
              <a:t>Outdoor / semi-outdoor. Signals open space to neighboring nodes through the aggregation step.</a:t>
            </a:r>
            <a:endParaRPr/>
          </a:p>
        </p:txBody>
      </p:sp>
      <p:sp>
        <p:nvSpPr>
          <p:cNvPr id="312" name="Google Shape;312;p12"/>
          <p:cNvSpPr txBox="1"/>
          <p:nvPr/>
        </p:nvSpPr>
        <p:spPr>
          <a:xfrm>
            <a:off x="530352" y="2417493"/>
            <a:ext cx="26976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CCCCCC"/>
                </a:solidFill>
                <a:latin typeface="Arial"/>
                <a:ea typeface="Arial"/>
                <a:cs typeface="Arial"/>
                <a:sym typeface="Arial"/>
              </a:rPr>
              <a:t>2  step-bridges</a:t>
            </a:r>
            <a:endParaRPr/>
          </a:p>
        </p:txBody>
      </p:sp>
      <p:sp>
        <p:nvSpPr>
          <p:cNvPr id="313" name="Google Shape;313;p12"/>
          <p:cNvSpPr txBox="1"/>
          <p:nvPr/>
        </p:nvSpPr>
        <p:spPr>
          <a:xfrm>
            <a:off x="2897147" y="2417493"/>
            <a:ext cx="14448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FFFF"/>
                </a:solidFill>
                <a:latin typeface="Arial"/>
                <a:ea typeface="Arial"/>
                <a:cs typeface="Arial"/>
                <a:sym typeface="Arial"/>
              </a:rPr>
              <a:t>stairs</a:t>
            </a:r>
            <a:endParaRPr/>
          </a:p>
        </p:txBody>
      </p:sp>
      <p:sp>
        <p:nvSpPr>
          <p:cNvPr id="314" name="Google Shape;314;p12"/>
          <p:cNvSpPr txBox="1"/>
          <p:nvPr/>
        </p:nvSpPr>
        <p:spPr>
          <a:xfrm>
            <a:off x="4247658" y="2417493"/>
            <a:ext cx="18105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969696"/>
                </a:solidFill>
                <a:latin typeface="Arial"/>
                <a:ea typeface="Arial"/>
                <a:cs typeface="Arial"/>
                <a:sym typeface="Arial"/>
              </a:rPr>
              <a:t>zoning [0,0,1,0]</a:t>
            </a:r>
            <a:endParaRPr/>
          </a:p>
        </p:txBody>
      </p:sp>
      <p:sp>
        <p:nvSpPr>
          <p:cNvPr id="315" name="Google Shape;315;p12"/>
          <p:cNvSpPr txBox="1"/>
          <p:nvPr/>
        </p:nvSpPr>
        <p:spPr>
          <a:xfrm>
            <a:off x="5756573" y="2417493"/>
            <a:ext cx="4892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969696"/>
                </a:solidFill>
                <a:latin typeface="Arial"/>
                <a:ea typeface="Arial"/>
                <a:cs typeface="Arial"/>
                <a:sym typeface="Arial"/>
              </a:rPr>
              <a:t>Service / functional. Encodes the passage relationship between slabs at different heights.</a:t>
            </a:r>
            <a:endParaRPr/>
          </a:p>
        </p:txBody>
      </p:sp>
      <p:pic>
        <p:nvPicPr>
          <p:cNvPr descr="existing1.png" id="316" name="Google Shape;316;p12"/>
          <p:cNvPicPr preferRelativeResize="0"/>
          <p:nvPr/>
        </p:nvPicPr>
        <p:blipFill rotWithShape="1">
          <a:blip r:embed="rId4">
            <a:alphaModFix/>
          </a:blip>
          <a:srcRect b="12480" l="3396" r="2005" t="22045"/>
          <a:stretch/>
        </p:blipFill>
        <p:spPr>
          <a:xfrm>
            <a:off x="4196075" y="3721926"/>
            <a:ext cx="7691125" cy="2783450"/>
          </a:xfrm>
          <a:prstGeom prst="rect">
            <a:avLst/>
          </a:prstGeom>
          <a:noFill/>
          <a:ln>
            <a:noFill/>
          </a:ln>
        </p:spPr>
      </p:pic>
      <p:sp>
        <p:nvSpPr>
          <p:cNvPr id="317" name="Google Shape;317;p12"/>
          <p:cNvSpPr txBox="1"/>
          <p:nvPr/>
        </p:nvSpPr>
        <p:spPr>
          <a:xfrm>
            <a:off x="274320" y="6565392"/>
            <a:ext cx="576072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3D view -- yellow = corridor placeholder (162), green = balcony slabs (216)</a:t>
            </a:r>
            <a:endParaRPr/>
          </a:p>
        </p:txBody>
      </p:sp>
      <p:sp>
        <p:nvSpPr>
          <p:cNvPr id="318" name="Google Shape;318;p12"/>
          <p:cNvSpPr txBox="1"/>
          <p:nvPr/>
        </p:nvSpPr>
        <p:spPr>
          <a:xfrm>
            <a:off x="6263640" y="6565392"/>
            <a:ext cx="56235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Plan view -- the uniform assignment in the damaged section is explicit</a:t>
            </a:r>
            <a:endParaRPr/>
          </a:p>
        </p:txBody>
      </p:sp>
      <p:pic>
        <p:nvPicPr>
          <p:cNvPr descr="/tmp/img/legend.png" id="319" name="Google Shape;319;p12"/>
          <p:cNvPicPr preferRelativeResize="0"/>
          <p:nvPr/>
        </p:nvPicPr>
        <p:blipFill rotWithShape="1">
          <a:blip r:embed="rId5">
            <a:alphaModFix/>
          </a:blip>
          <a:srcRect b="18095" l="20596" r="17481" t="15256"/>
          <a:stretch/>
        </p:blipFill>
        <p:spPr>
          <a:xfrm>
            <a:off x="10648676" y="1016975"/>
            <a:ext cx="1238525" cy="16436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323" name="Shape 323"/>
        <p:cNvGrpSpPr/>
        <p:nvPr/>
      </p:nvGrpSpPr>
      <p:grpSpPr>
        <a:xfrm>
          <a:off x="0" y="0"/>
          <a:ext cx="0" cy="0"/>
          <a:chOff x="0" y="0"/>
          <a:chExt cx="0" cy="0"/>
        </a:xfrm>
      </p:grpSpPr>
      <p:sp>
        <p:nvSpPr>
          <p:cNvPr id="324" name="Google Shape;324;p13"/>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8 -- ML CLASSIFICATION</a:t>
            </a:r>
            <a:endParaRPr/>
          </a:p>
        </p:txBody>
      </p:sp>
      <p:sp>
        <p:nvSpPr>
          <p:cNvPr id="325" name="Google Shape;325;p13"/>
          <p:cNvSpPr txBox="1"/>
          <p:nvPr/>
        </p:nvSpPr>
        <p:spPr>
          <a:xfrm>
            <a:off x="457200" y="475488"/>
            <a:ext cx="914400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How GraphSAGE Classifies Nodes</a:t>
            </a:r>
            <a:endParaRPr/>
          </a:p>
        </p:txBody>
      </p:sp>
      <p:sp>
        <p:nvSpPr>
          <p:cNvPr id="326" name="Google Shape;326;p13"/>
          <p:cNvSpPr/>
          <p:nvPr/>
        </p:nvSpPr>
        <p:spPr>
          <a:xfrm>
            <a:off x="457200" y="1133856"/>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13"/>
          <p:cNvSpPr/>
          <p:nvPr/>
        </p:nvSpPr>
        <p:spPr>
          <a:xfrm>
            <a:off x="365760" y="1298448"/>
            <a:ext cx="5669280" cy="2176272"/>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13"/>
          <p:cNvSpPr txBox="1"/>
          <p:nvPr/>
        </p:nvSpPr>
        <p:spPr>
          <a:xfrm>
            <a:off x="566928" y="1463039"/>
            <a:ext cx="53035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1.  Neighborhood sampling</a:t>
            </a:r>
            <a:endParaRPr/>
          </a:p>
        </p:txBody>
      </p:sp>
      <p:sp>
        <p:nvSpPr>
          <p:cNvPr id="329" name="Google Shape;329;p13"/>
          <p:cNvSpPr txBox="1"/>
          <p:nvPr/>
        </p:nvSpPr>
        <p:spPr>
          <a:xfrm>
            <a:off x="566928" y="1847088"/>
            <a:ext cx="5321808" cy="1554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For each node, GraphSAGE samples a fixed number of neighbors at each layer. In this graph: 1-hop neighbors are rooms directly connected by a door aperture.</a:t>
            </a:r>
            <a:endParaRPr/>
          </a:p>
        </p:txBody>
      </p:sp>
      <p:sp>
        <p:nvSpPr>
          <p:cNvPr id="330" name="Google Shape;330;p13"/>
          <p:cNvSpPr/>
          <p:nvPr/>
        </p:nvSpPr>
        <p:spPr>
          <a:xfrm>
            <a:off x="6291072" y="1298448"/>
            <a:ext cx="5669280" cy="2176272"/>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13"/>
          <p:cNvSpPr txBox="1"/>
          <p:nvPr/>
        </p:nvSpPr>
        <p:spPr>
          <a:xfrm>
            <a:off x="6492240" y="1463039"/>
            <a:ext cx="53035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2.  Feature aggregation</a:t>
            </a:r>
            <a:endParaRPr/>
          </a:p>
        </p:txBody>
      </p:sp>
      <p:sp>
        <p:nvSpPr>
          <p:cNvPr id="332" name="Google Shape;332;p13"/>
          <p:cNvSpPr txBox="1"/>
          <p:nvPr/>
        </p:nvSpPr>
        <p:spPr>
          <a:xfrm>
            <a:off x="6492240" y="1847088"/>
            <a:ext cx="5321808" cy="1554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sampled neighbors' feature vectors are aggregated (here: mean). The aggregated vector is concatenated with the node's own vector and passed through a learned linear transformation. This produces a new embedding for the node.</a:t>
            </a:r>
            <a:endParaRPr/>
          </a:p>
        </p:txBody>
      </p:sp>
      <p:sp>
        <p:nvSpPr>
          <p:cNvPr id="333" name="Google Shape;333;p13"/>
          <p:cNvSpPr/>
          <p:nvPr/>
        </p:nvSpPr>
        <p:spPr>
          <a:xfrm>
            <a:off x="365760" y="3657600"/>
            <a:ext cx="5669280" cy="2176272"/>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13"/>
          <p:cNvSpPr txBox="1"/>
          <p:nvPr/>
        </p:nvSpPr>
        <p:spPr>
          <a:xfrm>
            <a:off x="566928" y="3822191"/>
            <a:ext cx="53035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3.  Two-layer propagation</a:t>
            </a:r>
            <a:endParaRPr/>
          </a:p>
        </p:txBody>
      </p:sp>
      <p:sp>
        <p:nvSpPr>
          <p:cNvPr id="335" name="Google Shape;335;p13"/>
          <p:cNvSpPr txBox="1"/>
          <p:nvPr/>
        </p:nvSpPr>
        <p:spPr>
          <a:xfrm>
            <a:off x="566928" y="4206240"/>
            <a:ext cx="5321808" cy="1554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process runs twice (two GraphSAGE layers), so each node effectively sees its 2-hop neighborhood. In a typical apartment, 2 hops from a corridor reaches bedrooms and balconies -- the full local context of a room.</a:t>
            </a:r>
            <a:endParaRPr/>
          </a:p>
        </p:txBody>
      </p:sp>
      <p:sp>
        <p:nvSpPr>
          <p:cNvPr id="336" name="Google Shape;336;p13"/>
          <p:cNvSpPr/>
          <p:nvPr/>
        </p:nvSpPr>
        <p:spPr>
          <a:xfrm>
            <a:off x="6291072" y="3657600"/>
            <a:ext cx="5669280" cy="2176272"/>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13"/>
          <p:cNvSpPr txBox="1"/>
          <p:nvPr/>
        </p:nvSpPr>
        <p:spPr>
          <a:xfrm>
            <a:off x="6492240" y="3822191"/>
            <a:ext cx="53035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FFFFF"/>
                </a:solidFill>
                <a:latin typeface="Arial"/>
                <a:ea typeface="Arial"/>
                <a:cs typeface="Arial"/>
                <a:sym typeface="Arial"/>
              </a:rPr>
              <a:t>4.  Classification</a:t>
            </a:r>
            <a:endParaRPr/>
          </a:p>
        </p:txBody>
      </p:sp>
      <p:sp>
        <p:nvSpPr>
          <p:cNvPr id="338" name="Google Shape;338;p13"/>
          <p:cNvSpPr txBox="1"/>
          <p:nvPr/>
        </p:nvSpPr>
        <p:spPr>
          <a:xfrm>
            <a:off x="6492240" y="4206240"/>
            <a:ext cx="5321808" cy="1554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final embedding is passed through a softmax layer that outputs a probability distribution over the 9 room types. The predicted label is the highest-probability class.</a:t>
            </a:r>
            <a:endParaRPr/>
          </a:p>
        </p:txBody>
      </p:sp>
      <p:sp>
        <p:nvSpPr>
          <p:cNvPr id="339" name="Google Shape;339;p13"/>
          <p:cNvSpPr txBox="1"/>
          <p:nvPr/>
        </p:nvSpPr>
        <p:spPr>
          <a:xfrm>
            <a:off x="457200" y="6217920"/>
            <a:ext cx="11731752"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50" u="none" cap="none" strike="noStrike">
                <a:solidFill>
                  <a:srgbClr val="969696"/>
                </a:solidFill>
                <a:latin typeface="Arial"/>
                <a:ea typeface="Arial"/>
                <a:cs typeface="Arial"/>
                <a:sym typeface="Arial"/>
              </a:rPr>
              <a:t>The model was pretrained on MSD (Milan Spatial Dataset) and has not seen this building. It transfers learned connectivity patterns from real apartments to the memorial graph.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3" name="Shape 343"/>
        <p:cNvGrpSpPr/>
        <p:nvPr/>
      </p:nvGrpSpPr>
      <p:grpSpPr>
        <a:xfrm>
          <a:off x="0" y="0"/>
          <a:ext cx="0" cy="0"/>
          <a:chOff x="0" y="0"/>
          <a:chExt cx="0" cy="0"/>
        </a:xfrm>
      </p:grpSpPr>
      <p:sp>
        <p:nvSpPr>
          <p:cNvPr id="344" name="Google Shape;344;p14"/>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8 -- AFTER INFERENCE</a:t>
            </a:r>
            <a:endParaRPr/>
          </a:p>
        </p:txBody>
      </p:sp>
      <p:sp>
        <p:nvSpPr>
          <p:cNvPr id="345" name="Google Shape;345;p14"/>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Predicted Functions</a:t>
            </a:r>
            <a:endParaRPr/>
          </a:p>
        </p:txBody>
      </p:sp>
      <p:sp>
        <p:nvSpPr>
          <p:cNvPr id="346" name="Google Shape;346;p14"/>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14"/>
          <p:cNvSpPr txBox="1"/>
          <p:nvPr/>
        </p:nvSpPr>
        <p:spPr>
          <a:xfrm>
            <a:off x="457200" y="1207000"/>
            <a:ext cx="10022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After two-layer GraphSAGE aggregation, the corridor nodes in the damaged section carry updated embeddings that reflect their local neighborhood -- which now includes balcony slab nodes and stair-bridge nodes introduced by the design.</a:t>
            </a:r>
            <a:endParaRPr/>
          </a:p>
        </p:txBody>
      </p:sp>
      <p:sp>
        <p:nvSpPr>
          <p:cNvPr id="348" name="Google Shape;348;p14"/>
          <p:cNvSpPr txBox="1"/>
          <p:nvPr/>
        </p:nvSpPr>
        <p:spPr>
          <a:xfrm>
            <a:off x="457200" y="1719075"/>
            <a:ext cx="97458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Corridor nodes at depth 2, with 2-3 door edges and at least one balcony neighbor, produce embeddings that the classifier maps to kitchen. The model's learned kitchen profile -- rooms with mixed door/outdoor connectivity at depth 2 -- matches the connectivity structure of these nodes in the combined graph. 72 of 162 corridor placeholders are reclassified.</a:t>
            </a:r>
            <a:endParaRPr/>
          </a:p>
        </p:txBody>
      </p:sp>
      <p:pic>
        <p:nvPicPr>
          <p:cNvPr descr="predicted.png" id="349" name="Google Shape;349;p14"/>
          <p:cNvPicPr preferRelativeResize="0"/>
          <p:nvPr/>
        </p:nvPicPr>
        <p:blipFill rotWithShape="1">
          <a:blip r:embed="rId3">
            <a:alphaModFix/>
          </a:blip>
          <a:srcRect b="5994" l="20010" r="20010" t="5985"/>
          <a:stretch/>
        </p:blipFill>
        <p:spPr>
          <a:xfrm>
            <a:off x="334400" y="2432300"/>
            <a:ext cx="4863825" cy="3862674"/>
          </a:xfrm>
          <a:prstGeom prst="rect">
            <a:avLst/>
          </a:prstGeom>
          <a:noFill/>
          <a:ln>
            <a:noFill/>
          </a:ln>
        </p:spPr>
      </p:pic>
      <p:pic>
        <p:nvPicPr>
          <p:cNvPr descr="predicted1.png" id="350" name="Google Shape;350;p14"/>
          <p:cNvPicPr preferRelativeResize="0"/>
          <p:nvPr/>
        </p:nvPicPr>
        <p:blipFill rotWithShape="1">
          <a:blip r:embed="rId4">
            <a:alphaModFix/>
          </a:blip>
          <a:srcRect b="6178" l="3753" r="3808" t="8846"/>
          <a:stretch/>
        </p:blipFill>
        <p:spPr>
          <a:xfrm>
            <a:off x="4452800" y="2041400"/>
            <a:ext cx="7256724" cy="3556300"/>
          </a:xfrm>
          <a:prstGeom prst="rect">
            <a:avLst/>
          </a:prstGeom>
          <a:noFill/>
          <a:ln>
            <a:noFill/>
          </a:ln>
        </p:spPr>
      </p:pic>
      <p:sp>
        <p:nvSpPr>
          <p:cNvPr id="351" name="Google Shape;351;p14"/>
          <p:cNvSpPr txBox="1"/>
          <p:nvPr/>
        </p:nvSpPr>
        <p:spPr>
          <a:xfrm>
            <a:off x="274320" y="6565392"/>
            <a:ext cx="576072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3D view -- cyan = kitchen nodes in the damaged section</a:t>
            </a:r>
            <a:endParaRPr/>
          </a:p>
        </p:txBody>
      </p:sp>
      <p:sp>
        <p:nvSpPr>
          <p:cNvPr id="352" name="Google Shape;352;p14"/>
          <p:cNvSpPr txBox="1"/>
          <p:nvPr/>
        </p:nvSpPr>
        <p:spPr>
          <a:xfrm>
            <a:off x="6263640" y="6565392"/>
            <a:ext cx="562356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rgbClr val="626262"/>
                </a:solidFill>
                <a:latin typeface="Arial"/>
                <a:ea typeface="Arial"/>
                <a:cs typeface="Arial"/>
                <a:sym typeface="Arial"/>
              </a:rPr>
              <a:t>Plan view -- kitchen predictions concentrate near the staircase hub</a:t>
            </a:r>
            <a:endParaRPr/>
          </a:p>
        </p:txBody>
      </p:sp>
      <p:pic>
        <p:nvPicPr>
          <p:cNvPr descr="/tmp/img/legend.png" id="353" name="Google Shape;353;p14"/>
          <p:cNvPicPr preferRelativeResize="0"/>
          <p:nvPr/>
        </p:nvPicPr>
        <p:blipFill rotWithShape="1">
          <a:blip r:embed="rId5">
            <a:alphaModFix/>
          </a:blip>
          <a:srcRect b="18095" l="20596" r="17481" t="15256"/>
          <a:stretch/>
        </p:blipFill>
        <p:spPr>
          <a:xfrm>
            <a:off x="10479600" y="702017"/>
            <a:ext cx="1062600" cy="141015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357" name="Shape 357"/>
        <p:cNvGrpSpPr/>
        <p:nvPr/>
      </p:nvGrpSpPr>
      <p:grpSpPr>
        <a:xfrm>
          <a:off x="0" y="0"/>
          <a:ext cx="0" cy="0"/>
          <a:chOff x="0" y="0"/>
          <a:chExt cx="0" cy="0"/>
        </a:xfrm>
      </p:grpSpPr>
      <p:sp>
        <p:nvSpPr>
          <p:cNvPr id="358" name="Google Shape;358;p15"/>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PHASE 8 -- RESULTS</a:t>
            </a:r>
            <a:endParaRPr/>
          </a:p>
        </p:txBody>
      </p:sp>
      <p:sp>
        <p:nvSpPr>
          <p:cNvPr id="359" name="Google Shape;359;p15"/>
          <p:cNvSpPr txBox="1"/>
          <p:nvPr/>
        </p:nvSpPr>
        <p:spPr>
          <a:xfrm>
            <a:off x="457200" y="493776"/>
            <a:ext cx="1143000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Arial"/>
                <a:ea typeface="Arial"/>
                <a:cs typeface="Arial"/>
                <a:sym typeface="Arial"/>
              </a:rPr>
              <a:t>Predictions for 162 Surviving Rooms</a:t>
            </a:r>
            <a:endParaRPr/>
          </a:p>
        </p:txBody>
      </p:sp>
      <p:sp>
        <p:nvSpPr>
          <p:cNvPr id="360" name="Google Shape;360;p15"/>
          <p:cNvSpPr/>
          <p:nvPr/>
        </p:nvSpPr>
        <p:spPr>
          <a:xfrm>
            <a:off x="457200" y="135331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15"/>
          <p:cNvSpPr/>
          <p:nvPr/>
        </p:nvSpPr>
        <p:spPr>
          <a:xfrm>
            <a:off x="365760" y="1261872"/>
            <a:ext cx="3547872" cy="303580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15"/>
          <p:cNvSpPr txBox="1"/>
          <p:nvPr/>
        </p:nvSpPr>
        <p:spPr>
          <a:xfrm>
            <a:off x="566928" y="1371600"/>
            <a:ext cx="3200400" cy="987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6400" u="none" cap="none" strike="noStrike">
                <a:solidFill>
                  <a:srgbClr val="969696"/>
                </a:solidFill>
                <a:latin typeface="Arial"/>
                <a:ea typeface="Arial"/>
                <a:cs typeface="Arial"/>
                <a:sym typeface="Arial"/>
              </a:rPr>
              <a:t>90</a:t>
            </a:r>
            <a:endParaRPr/>
          </a:p>
        </p:txBody>
      </p:sp>
      <p:sp>
        <p:nvSpPr>
          <p:cNvPr id="363" name="Google Shape;363;p15"/>
          <p:cNvSpPr txBox="1"/>
          <p:nvPr/>
        </p:nvSpPr>
        <p:spPr>
          <a:xfrm>
            <a:off x="566928" y="2359152"/>
            <a:ext cx="32004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FFFFF"/>
                </a:solidFill>
                <a:latin typeface="Arial"/>
                <a:ea typeface="Arial"/>
                <a:cs typeface="Arial"/>
                <a:sym typeface="Arial"/>
              </a:rPr>
              <a:t>corridor</a:t>
            </a:r>
            <a:endParaRPr/>
          </a:p>
        </p:txBody>
      </p:sp>
      <p:sp>
        <p:nvSpPr>
          <p:cNvPr id="364" name="Google Shape;364;p15"/>
          <p:cNvSpPr txBox="1"/>
          <p:nvPr/>
        </p:nvSpPr>
        <p:spPr>
          <a:xfrm>
            <a:off x="566928" y="2779776"/>
            <a:ext cx="32918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Rooms at depth 3 or greater. Low degree -- typically 1-2 door edges. Neighbors are other corridor or balcony nodes, without the mixed connectivity that would shift the embedding toward kitchen. The classifier keeps them as circulation.</a:t>
            </a:r>
            <a:endParaRPr/>
          </a:p>
        </p:txBody>
      </p:sp>
      <p:sp>
        <p:nvSpPr>
          <p:cNvPr id="365" name="Google Shape;365;p15"/>
          <p:cNvSpPr/>
          <p:nvPr/>
        </p:nvSpPr>
        <p:spPr>
          <a:xfrm>
            <a:off x="4133087" y="1261872"/>
            <a:ext cx="3547872" cy="303580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15"/>
          <p:cNvSpPr txBox="1"/>
          <p:nvPr/>
        </p:nvSpPr>
        <p:spPr>
          <a:xfrm>
            <a:off x="4334256" y="1371600"/>
            <a:ext cx="3200400" cy="987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6400" u="none" cap="none" strike="noStrike">
                <a:solidFill>
                  <a:srgbClr val="CCCCCC"/>
                </a:solidFill>
                <a:latin typeface="Arial"/>
                <a:ea typeface="Arial"/>
                <a:cs typeface="Arial"/>
                <a:sym typeface="Arial"/>
              </a:rPr>
              <a:t>63</a:t>
            </a:r>
            <a:endParaRPr/>
          </a:p>
        </p:txBody>
      </p:sp>
      <p:sp>
        <p:nvSpPr>
          <p:cNvPr id="367" name="Google Shape;367;p15"/>
          <p:cNvSpPr txBox="1"/>
          <p:nvPr/>
        </p:nvSpPr>
        <p:spPr>
          <a:xfrm>
            <a:off x="4334256" y="2359152"/>
            <a:ext cx="32004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FFFFF"/>
                </a:solidFill>
                <a:latin typeface="Arial"/>
                <a:ea typeface="Arial"/>
                <a:cs typeface="Arial"/>
                <a:sym typeface="Arial"/>
              </a:rPr>
              <a:t>kitchen</a:t>
            </a:r>
            <a:endParaRPr/>
          </a:p>
        </p:txBody>
      </p:sp>
      <p:sp>
        <p:nvSpPr>
          <p:cNvPr id="368" name="Google Shape;368;p15"/>
          <p:cNvSpPr txBox="1"/>
          <p:nvPr/>
        </p:nvSpPr>
        <p:spPr>
          <a:xfrm>
            <a:off x="4334256" y="2779776"/>
            <a:ext cx="3291840"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Rooms at depth 2, with 2-3 door edges and at least one direct balcony neighbor. The connectivity_1 (door ratio) and zoning_type_1 features, combined with the aggregated outdoor signal from the balcony nodes, produce an embedding the model assigns to kitchen.</a:t>
            </a:r>
            <a:endParaRPr/>
          </a:p>
        </p:txBody>
      </p:sp>
      <p:sp>
        <p:nvSpPr>
          <p:cNvPr id="369" name="Google Shape;369;p15"/>
          <p:cNvSpPr/>
          <p:nvPr/>
        </p:nvSpPr>
        <p:spPr>
          <a:xfrm>
            <a:off x="7900416" y="1261872"/>
            <a:ext cx="3858768" cy="3035808"/>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15"/>
          <p:cNvSpPr txBox="1"/>
          <p:nvPr/>
        </p:nvSpPr>
        <p:spPr>
          <a:xfrm>
            <a:off x="8101583" y="1371600"/>
            <a:ext cx="3474720" cy="987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6400" u="none" cap="none" strike="noStrike">
                <a:solidFill>
                  <a:srgbClr val="CCCCCC"/>
                </a:solidFill>
                <a:latin typeface="Arial"/>
                <a:ea typeface="Arial"/>
                <a:cs typeface="Arial"/>
                <a:sym typeface="Arial"/>
              </a:rPr>
              <a:t>9</a:t>
            </a:r>
            <a:endParaRPr/>
          </a:p>
        </p:txBody>
      </p:sp>
      <p:sp>
        <p:nvSpPr>
          <p:cNvPr id="371" name="Google Shape;371;p15"/>
          <p:cNvSpPr txBox="1"/>
          <p:nvPr/>
        </p:nvSpPr>
        <p:spPr>
          <a:xfrm>
            <a:off x="8101583" y="2359152"/>
            <a:ext cx="347472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FFFFF"/>
                </a:solidFill>
                <a:latin typeface="Arial"/>
                <a:ea typeface="Arial"/>
                <a:cs typeface="Arial"/>
                <a:sym typeface="Arial"/>
              </a:rPr>
              <a:t>livingroom</a:t>
            </a:r>
            <a:endParaRPr/>
          </a:p>
        </p:txBody>
      </p:sp>
      <p:sp>
        <p:nvSpPr>
          <p:cNvPr id="372" name="Google Shape;372;p15"/>
          <p:cNvSpPr txBox="1"/>
          <p:nvPr/>
        </p:nvSpPr>
        <p:spPr>
          <a:xfrm>
            <a:off x="8101583" y="2779776"/>
            <a:ext cx="3584448" cy="14264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Rooms with a single door edge leading to a larger corridor or balcony node. Lower connectivity_1 ratio, higher degree on the balcony side. The model interprets this single-opening-to-open-space pattern as livingroom.</a:t>
            </a:r>
            <a:endParaRPr/>
          </a:p>
        </p:txBody>
      </p:sp>
      <p:sp>
        <p:nvSpPr>
          <p:cNvPr id="373" name="Google Shape;373;p15"/>
          <p:cNvSpPr/>
          <p:nvPr/>
        </p:nvSpPr>
        <p:spPr>
          <a:xfrm>
            <a:off x="365760" y="4462272"/>
            <a:ext cx="11457432" cy="1170432"/>
          </a:xfrm>
          <a:prstGeom prst="rect">
            <a:avLst/>
          </a:prstGeom>
          <a:solidFill>
            <a:srgbClr val="14141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15"/>
          <p:cNvSpPr txBox="1"/>
          <p:nvPr/>
        </p:nvSpPr>
        <p:spPr>
          <a:xfrm>
            <a:off x="548640" y="4572000"/>
            <a:ext cx="54864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969696"/>
                </a:solidFill>
                <a:latin typeface="Arial"/>
                <a:ea typeface="Arial"/>
                <a:cs typeface="Arial"/>
                <a:sym typeface="Arial"/>
              </a:rPr>
              <a:t>What the result means</a:t>
            </a:r>
            <a:endParaRPr/>
          </a:p>
        </p:txBody>
      </p:sp>
      <p:sp>
        <p:nvSpPr>
          <p:cNvPr id="375" name="Google Shape;375;p15"/>
          <p:cNvSpPr txBox="1"/>
          <p:nvPr/>
        </p:nvSpPr>
        <p:spPr>
          <a:xfrm>
            <a:off x="548640" y="4846320"/>
            <a:ext cx="111099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CCCCCC"/>
                </a:solidFill>
                <a:latin typeface="Arial"/>
                <a:ea typeface="Arial"/>
                <a:cs typeface="Arial"/>
                <a:sym typeface="Arial"/>
              </a:rPr>
              <a:t>The memorial slabs were labelled balcony because they are open, unenclosed surfaces. That label carried an outdoor zoning signal into the feature vectors of every adjacent corridor node via the aggregation step. The classifier read that signal and assigned kitchen -- the room type most often adjacent to a balcony in the MSD training data. The design choice (slab = balcony) directly produced the ML result (corridor --&gt; kitchen).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379" name="Shape 379"/>
        <p:cNvGrpSpPr/>
        <p:nvPr/>
      </p:nvGrpSpPr>
      <p:grpSpPr>
        <a:xfrm>
          <a:off x="0" y="0"/>
          <a:ext cx="0" cy="0"/>
          <a:chOff x="0" y="0"/>
          <a:chExt cx="0" cy="0"/>
        </a:xfrm>
      </p:grpSpPr>
      <p:sp>
        <p:nvSpPr>
          <p:cNvPr id="380" name="Google Shape;380;p17"/>
          <p:cNvSpPr/>
          <p:nvPr/>
        </p:nvSpPr>
        <p:spPr>
          <a:xfrm>
            <a:off x="640080" y="365760"/>
            <a:ext cx="10972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7C7C"/>
              </a:buClr>
              <a:buSzPts val="1150"/>
              <a:buFont typeface="Roboto"/>
              <a:buNone/>
            </a:pPr>
            <a:r>
              <a:rPr b="0" i="0" lang="en-US" sz="1150" u="none" cap="none" strike="noStrike">
                <a:solidFill>
                  <a:srgbClr val="7C7C7C"/>
                </a:solidFill>
                <a:latin typeface="Roboto"/>
                <a:ea typeface="Roboto"/>
                <a:cs typeface="Roboto"/>
                <a:sym typeface="Roboto"/>
              </a:rPr>
              <a:t>SYNTHESIS</a:t>
            </a:r>
            <a:endParaRPr b="0" i="0" sz="1150" u="none" cap="none" strike="noStrike">
              <a:solidFill>
                <a:srgbClr val="000000"/>
              </a:solidFill>
              <a:latin typeface="Calibri"/>
              <a:ea typeface="Calibri"/>
              <a:cs typeface="Calibri"/>
              <a:sym typeface="Calibri"/>
            </a:endParaRPr>
          </a:p>
        </p:txBody>
      </p:sp>
      <p:sp>
        <p:nvSpPr>
          <p:cNvPr id="381" name="Google Shape;381;p17"/>
          <p:cNvSpPr/>
          <p:nvPr/>
        </p:nvSpPr>
        <p:spPr>
          <a:xfrm>
            <a:off x="640080" y="603504"/>
            <a:ext cx="109728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Roboto"/>
              <a:buNone/>
            </a:pPr>
            <a:r>
              <a:rPr b="1" i="0" lang="en-US" sz="3200" u="none" cap="none" strike="noStrike">
                <a:solidFill>
                  <a:srgbClr val="FFFFFF"/>
                </a:solidFill>
                <a:latin typeface="Roboto"/>
                <a:ea typeface="Roboto"/>
                <a:cs typeface="Roboto"/>
                <a:sym typeface="Roboto"/>
              </a:rPr>
              <a:t>Graph analysis as design driver</a:t>
            </a:r>
            <a:endParaRPr b="0" i="0" sz="3200" u="none" cap="none" strike="noStrike">
              <a:solidFill>
                <a:srgbClr val="000000"/>
              </a:solidFill>
              <a:latin typeface="Calibri"/>
              <a:ea typeface="Calibri"/>
              <a:cs typeface="Calibri"/>
              <a:sym typeface="Calibri"/>
            </a:endParaRPr>
          </a:p>
        </p:txBody>
      </p:sp>
      <p:cxnSp>
        <p:nvCxnSpPr>
          <p:cNvPr id="382" name="Google Shape;382;p17"/>
          <p:cNvCxnSpPr/>
          <p:nvPr/>
        </p:nvCxnSpPr>
        <p:spPr>
          <a:xfrm>
            <a:off x="640080" y="1371600"/>
            <a:ext cx="2926200" cy="0"/>
          </a:xfrm>
          <a:prstGeom prst="straightConnector1">
            <a:avLst/>
          </a:prstGeom>
          <a:noFill/>
          <a:ln cap="flat" cmpd="sng" w="12700">
            <a:solidFill>
              <a:srgbClr val="3A3A3A"/>
            </a:solidFill>
            <a:prstDash val="solid"/>
            <a:round/>
            <a:headEnd len="sm" w="sm" type="none"/>
            <a:tailEnd len="sm" w="sm" type="none"/>
          </a:ln>
        </p:spPr>
      </p:cxnSp>
      <p:sp>
        <p:nvSpPr>
          <p:cNvPr id="383" name="Google Shape;383;p17"/>
          <p:cNvSpPr/>
          <p:nvPr/>
        </p:nvSpPr>
        <p:spPr>
          <a:xfrm>
            <a:off x="640080" y="1737360"/>
            <a:ext cx="10972800" cy="548700"/>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The graph generates the form, and the form — re-embedded as nodes — reshapes what the model predicts for the surviving rooms.</a:t>
            </a:r>
            <a:endParaRPr b="0" i="0" sz="1500" u="none" cap="none" strike="noStrike">
              <a:solidFill>
                <a:srgbClr val="000000"/>
              </a:solidFill>
              <a:latin typeface="Calibri"/>
              <a:ea typeface="Calibri"/>
              <a:cs typeface="Calibri"/>
              <a:sym typeface="Calibri"/>
            </a:endParaRPr>
          </a:p>
        </p:txBody>
      </p:sp>
      <p:sp>
        <p:nvSpPr>
          <p:cNvPr id="384" name="Google Shape;384;p17"/>
          <p:cNvSpPr/>
          <p:nvPr/>
        </p:nvSpPr>
        <p:spPr>
          <a:xfrm>
            <a:off x="640080" y="2468880"/>
            <a:ext cx="3612000" cy="1234500"/>
          </a:xfrm>
          <a:prstGeom prst="roundRect">
            <a:avLst>
              <a:gd fmla="val 3704" name="adj"/>
            </a:avLst>
          </a:prstGeom>
          <a:solidFill>
            <a:srgbClr val="0E0E0E"/>
          </a:solid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7"/>
          <p:cNvSpPr/>
          <p:nvPr/>
        </p:nvSpPr>
        <p:spPr>
          <a:xfrm>
            <a:off x="841248" y="2651760"/>
            <a:ext cx="914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876A"/>
              </a:buClr>
              <a:buSzPts val="1300"/>
              <a:buFont typeface="Roboto"/>
              <a:buNone/>
            </a:pPr>
            <a:r>
              <a:rPr b="1" i="0" lang="en-US" sz="1300" u="none" cap="none" strike="noStrike">
                <a:solidFill>
                  <a:srgbClr val="C5876A"/>
                </a:solidFill>
                <a:latin typeface="Roboto"/>
                <a:ea typeface="Roboto"/>
                <a:cs typeface="Roboto"/>
                <a:sym typeface="Roboto"/>
              </a:rPr>
              <a:t>01</a:t>
            </a:r>
            <a:endParaRPr b="0" i="0" sz="1300" u="none" cap="none" strike="noStrike">
              <a:solidFill>
                <a:srgbClr val="000000"/>
              </a:solidFill>
              <a:latin typeface="Calibri"/>
              <a:ea typeface="Calibri"/>
              <a:cs typeface="Calibri"/>
              <a:sym typeface="Calibri"/>
            </a:endParaRPr>
          </a:p>
        </p:txBody>
      </p:sp>
      <p:sp>
        <p:nvSpPr>
          <p:cNvPr id="386" name="Google Shape;386;p17"/>
          <p:cNvSpPr/>
          <p:nvPr/>
        </p:nvSpPr>
        <p:spPr>
          <a:xfrm>
            <a:off x="841248" y="297180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Build g2</a:t>
            </a:r>
            <a:endParaRPr b="0" i="0" sz="1400" u="none" cap="none" strike="noStrike">
              <a:solidFill>
                <a:srgbClr val="000000"/>
              </a:solidFill>
              <a:latin typeface="Calibri"/>
              <a:ea typeface="Calibri"/>
              <a:cs typeface="Calibri"/>
              <a:sym typeface="Calibri"/>
            </a:endParaRPr>
          </a:p>
        </p:txBody>
      </p:sp>
      <p:sp>
        <p:nvSpPr>
          <p:cNvPr id="387" name="Google Shape;387;p17"/>
          <p:cNvSpPr/>
          <p:nvPr/>
        </p:nvSpPr>
        <p:spPr>
          <a:xfrm>
            <a:off x="841248" y="329184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C9"/>
              </a:buClr>
              <a:buSzPts val="1150"/>
              <a:buFont typeface="Roboto"/>
              <a:buNone/>
            </a:pPr>
            <a:r>
              <a:rPr b="0" i="0" lang="en-US" sz="1150" u="none" cap="none" strike="noStrike">
                <a:solidFill>
                  <a:srgbClr val="C9C9C9"/>
                </a:solidFill>
                <a:latin typeface="Roboto"/>
                <a:ea typeface="Roboto"/>
                <a:cs typeface="Roboto"/>
                <a:sym typeface="Roboto"/>
              </a:rPr>
              <a:t>access graph from door apertures</a:t>
            </a:r>
            <a:endParaRPr b="0" i="0" sz="1150" u="none" cap="none" strike="noStrike">
              <a:solidFill>
                <a:srgbClr val="000000"/>
              </a:solidFill>
              <a:latin typeface="Calibri"/>
              <a:ea typeface="Calibri"/>
              <a:cs typeface="Calibri"/>
              <a:sym typeface="Calibri"/>
            </a:endParaRPr>
          </a:p>
        </p:txBody>
      </p:sp>
      <p:sp>
        <p:nvSpPr>
          <p:cNvPr id="388" name="Google Shape;388;p17"/>
          <p:cNvSpPr/>
          <p:nvPr/>
        </p:nvSpPr>
        <p:spPr>
          <a:xfrm>
            <a:off x="4434840" y="2468880"/>
            <a:ext cx="3612000" cy="1234500"/>
          </a:xfrm>
          <a:prstGeom prst="roundRect">
            <a:avLst>
              <a:gd fmla="val 3704" name="adj"/>
            </a:avLst>
          </a:prstGeom>
          <a:solidFill>
            <a:srgbClr val="0E0E0E"/>
          </a:solid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7"/>
          <p:cNvSpPr/>
          <p:nvPr/>
        </p:nvSpPr>
        <p:spPr>
          <a:xfrm>
            <a:off x="4636008" y="2651760"/>
            <a:ext cx="914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876A"/>
              </a:buClr>
              <a:buSzPts val="1300"/>
              <a:buFont typeface="Roboto"/>
              <a:buNone/>
            </a:pPr>
            <a:r>
              <a:rPr b="1" i="0" lang="en-US" sz="1300" u="none" cap="none" strike="noStrike">
                <a:solidFill>
                  <a:srgbClr val="C5876A"/>
                </a:solidFill>
                <a:latin typeface="Roboto"/>
                <a:ea typeface="Roboto"/>
                <a:cs typeface="Roboto"/>
                <a:sym typeface="Roboto"/>
              </a:rPr>
              <a:t>02</a:t>
            </a:r>
            <a:endParaRPr b="0" i="0" sz="1300" u="none" cap="none" strike="noStrike">
              <a:solidFill>
                <a:srgbClr val="000000"/>
              </a:solidFill>
              <a:latin typeface="Calibri"/>
              <a:ea typeface="Calibri"/>
              <a:cs typeface="Calibri"/>
              <a:sym typeface="Calibri"/>
            </a:endParaRPr>
          </a:p>
        </p:txBody>
      </p:sp>
      <p:sp>
        <p:nvSpPr>
          <p:cNvPr id="390" name="Google Shape;390;p17"/>
          <p:cNvSpPr/>
          <p:nvPr/>
        </p:nvSpPr>
        <p:spPr>
          <a:xfrm>
            <a:off x="4636008" y="297180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BFS depth</a:t>
            </a:r>
            <a:endParaRPr b="0" i="0" sz="1400" u="none" cap="none" strike="noStrike">
              <a:solidFill>
                <a:srgbClr val="000000"/>
              </a:solidFill>
              <a:latin typeface="Calibri"/>
              <a:ea typeface="Calibri"/>
              <a:cs typeface="Calibri"/>
              <a:sym typeface="Calibri"/>
            </a:endParaRPr>
          </a:p>
        </p:txBody>
      </p:sp>
      <p:sp>
        <p:nvSpPr>
          <p:cNvPr id="391" name="Google Shape;391;p17"/>
          <p:cNvSpPr/>
          <p:nvPr/>
        </p:nvSpPr>
        <p:spPr>
          <a:xfrm>
            <a:off x="4636008" y="329184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C9"/>
              </a:buClr>
              <a:buSzPts val="1150"/>
              <a:buFont typeface="Roboto"/>
              <a:buNone/>
            </a:pPr>
            <a:r>
              <a:rPr b="0" i="0" lang="en-US" sz="1150" u="none" cap="none" strike="noStrike">
                <a:solidFill>
                  <a:srgbClr val="C9C9C9"/>
                </a:solidFill>
                <a:latin typeface="Roboto"/>
                <a:ea typeface="Roboto"/>
                <a:cs typeface="Roboto"/>
                <a:sym typeface="Roboto"/>
              </a:rPr>
              <a:t>hop count from the landing</a:t>
            </a:r>
            <a:endParaRPr b="0" i="0" sz="1150" u="none" cap="none" strike="noStrike">
              <a:solidFill>
                <a:srgbClr val="000000"/>
              </a:solidFill>
              <a:latin typeface="Calibri"/>
              <a:ea typeface="Calibri"/>
              <a:cs typeface="Calibri"/>
              <a:sym typeface="Calibri"/>
            </a:endParaRPr>
          </a:p>
        </p:txBody>
      </p:sp>
      <p:sp>
        <p:nvSpPr>
          <p:cNvPr id="392" name="Google Shape;392;p17"/>
          <p:cNvSpPr/>
          <p:nvPr/>
        </p:nvSpPr>
        <p:spPr>
          <a:xfrm>
            <a:off x="8229600" y="2468880"/>
            <a:ext cx="3612000" cy="1234500"/>
          </a:xfrm>
          <a:prstGeom prst="roundRect">
            <a:avLst>
              <a:gd fmla="val 3704" name="adj"/>
            </a:avLst>
          </a:prstGeom>
          <a:solidFill>
            <a:srgbClr val="0E0E0E"/>
          </a:solid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7"/>
          <p:cNvSpPr/>
          <p:nvPr/>
        </p:nvSpPr>
        <p:spPr>
          <a:xfrm>
            <a:off x="8430768" y="2651760"/>
            <a:ext cx="914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876A"/>
              </a:buClr>
              <a:buSzPts val="1300"/>
              <a:buFont typeface="Roboto"/>
              <a:buNone/>
            </a:pPr>
            <a:r>
              <a:rPr b="1" i="0" lang="en-US" sz="1300" u="none" cap="none" strike="noStrike">
                <a:solidFill>
                  <a:srgbClr val="C5876A"/>
                </a:solidFill>
                <a:latin typeface="Roboto"/>
                <a:ea typeface="Roboto"/>
                <a:cs typeface="Roboto"/>
                <a:sym typeface="Roboto"/>
              </a:rPr>
              <a:t>03</a:t>
            </a:r>
            <a:endParaRPr b="0" i="0" sz="1300" u="none" cap="none" strike="noStrike">
              <a:solidFill>
                <a:srgbClr val="000000"/>
              </a:solidFill>
              <a:latin typeface="Calibri"/>
              <a:ea typeface="Calibri"/>
              <a:cs typeface="Calibri"/>
              <a:sym typeface="Calibri"/>
            </a:endParaRPr>
          </a:p>
        </p:txBody>
      </p:sp>
      <p:sp>
        <p:nvSpPr>
          <p:cNvPr id="394" name="Google Shape;394;p17"/>
          <p:cNvSpPr/>
          <p:nvPr/>
        </p:nvSpPr>
        <p:spPr>
          <a:xfrm>
            <a:off x="8430768" y="297180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Depth → height</a:t>
            </a:r>
            <a:endParaRPr b="0" i="0" sz="1400" u="none" cap="none" strike="noStrike">
              <a:solidFill>
                <a:srgbClr val="000000"/>
              </a:solidFill>
              <a:latin typeface="Calibri"/>
              <a:ea typeface="Calibri"/>
              <a:cs typeface="Calibri"/>
              <a:sym typeface="Calibri"/>
            </a:endParaRPr>
          </a:p>
        </p:txBody>
      </p:sp>
      <p:sp>
        <p:nvSpPr>
          <p:cNvPr id="395" name="Google Shape;395;p17"/>
          <p:cNvSpPr/>
          <p:nvPr/>
        </p:nvSpPr>
        <p:spPr>
          <a:xfrm>
            <a:off x="8430768" y="329184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C9"/>
              </a:buClr>
              <a:buSzPts val="1150"/>
              <a:buFont typeface="Roboto"/>
              <a:buNone/>
            </a:pPr>
            <a:r>
              <a:rPr b="0" i="0" lang="en-US" sz="1150" u="none" cap="none" strike="noStrike">
                <a:solidFill>
                  <a:srgbClr val="C9C9C9"/>
                </a:solidFill>
                <a:latin typeface="Roboto"/>
                <a:ea typeface="Roboto"/>
                <a:cs typeface="Roboto"/>
                <a:sym typeface="Roboto"/>
              </a:rPr>
              <a:t>slab Z = − step × depth</a:t>
            </a:r>
            <a:endParaRPr b="0" i="0" sz="1150" u="none" cap="none" strike="noStrike">
              <a:solidFill>
                <a:srgbClr val="000000"/>
              </a:solidFill>
              <a:latin typeface="Calibri"/>
              <a:ea typeface="Calibri"/>
              <a:cs typeface="Calibri"/>
              <a:sym typeface="Calibri"/>
            </a:endParaRPr>
          </a:p>
        </p:txBody>
      </p:sp>
      <p:sp>
        <p:nvSpPr>
          <p:cNvPr id="396" name="Google Shape;396;p17"/>
          <p:cNvSpPr/>
          <p:nvPr/>
        </p:nvSpPr>
        <p:spPr>
          <a:xfrm>
            <a:off x="640080" y="3931920"/>
            <a:ext cx="3612000" cy="1234500"/>
          </a:xfrm>
          <a:prstGeom prst="roundRect">
            <a:avLst>
              <a:gd fmla="val 3704" name="adj"/>
            </a:avLst>
          </a:prstGeom>
          <a:solidFill>
            <a:srgbClr val="0E0E0E"/>
          </a:solid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7"/>
          <p:cNvSpPr/>
          <p:nvPr/>
        </p:nvSpPr>
        <p:spPr>
          <a:xfrm>
            <a:off x="841248" y="4114800"/>
            <a:ext cx="914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876A"/>
              </a:buClr>
              <a:buSzPts val="1300"/>
              <a:buFont typeface="Roboto"/>
              <a:buNone/>
            </a:pPr>
            <a:r>
              <a:rPr b="1" i="0" lang="en-US" sz="1300" u="none" cap="none" strike="noStrike">
                <a:solidFill>
                  <a:srgbClr val="C5876A"/>
                </a:solidFill>
                <a:latin typeface="Roboto"/>
                <a:ea typeface="Roboto"/>
                <a:cs typeface="Roboto"/>
                <a:sym typeface="Roboto"/>
              </a:rPr>
              <a:t>04</a:t>
            </a:r>
            <a:endParaRPr b="0" i="0" sz="1300" u="none" cap="none" strike="noStrike">
              <a:solidFill>
                <a:srgbClr val="000000"/>
              </a:solidFill>
              <a:latin typeface="Calibri"/>
              <a:ea typeface="Calibri"/>
              <a:cs typeface="Calibri"/>
              <a:sym typeface="Calibri"/>
            </a:endParaRPr>
          </a:p>
        </p:txBody>
      </p:sp>
      <p:sp>
        <p:nvSpPr>
          <p:cNvPr id="398" name="Google Shape;398;p17"/>
          <p:cNvSpPr/>
          <p:nvPr/>
        </p:nvSpPr>
        <p:spPr>
          <a:xfrm>
            <a:off x="841248" y="443484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Encode memorial</a:t>
            </a:r>
            <a:endParaRPr b="0" i="0" sz="1400" u="none" cap="none" strike="noStrike">
              <a:solidFill>
                <a:srgbClr val="000000"/>
              </a:solidFill>
              <a:latin typeface="Calibri"/>
              <a:ea typeface="Calibri"/>
              <a:cs typeface="Calibri"/>
              <a:sym typeface="Calibri"/>
            </a:endParaRPr>
          </a:p>
        </p:txBody>
      </p:sp>
      <p:sp>
        <p:nvSpPr>
          <p:cNvPr id="399" name="Google Shape;399;p17"/>
          <p:cNvSpPr/>
          <p:nvPr/>
        </p:nvSpPr>
        <p:spPr>
          <a:xfrm>
            <a:off x="841248" y="475488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C9"/>
              </a:buClr>
              <a:buSzPts val="1150"/>
              <a:buFont typeface="Roboto"/>
              <a:buNone/>
            </a:pPr>
            <a:r>
              <a:rPr b="0" i="0" lang="en-US" sz="1150" u="none" cap="none" strike="noStrike">
                <a:solidFill>
                  <a:srgbClr val="C9C9C9"/>
                </a:solidFill>
                <a:latin typeface="Roboto"/>
                <a:ea typeface="Roboto"/>
                <a:cs typeface="Roboto"/>
                <a:sym typeface="Roboto"/>
              </a:rPr>
              <a:t>slabs as balcony, bridges as stairs</a:t>
            </a:r>
            <a:endParaRPr b="0" i="0" sz="1150" u="none" cap="none" strike="noStrike">
              <a:solidFill>
                <a:srgbClr val="000000"/>
              </a:solidFill>
              <a:latin typeface="Calibri"/>
              <a:ea typeface="Calibri"/>
              <a:cs typeface="Calibri"/>
              <a:sym typeface="Calibri"/>
            </a:endParaRPr>
          </a:p>
        </p:txBody>
      </p:sp>
      <p:sp>
        <p:nvSpPr>
          <p:cNvPr id="400" name="Google Shape;400;p17"/>
          <p:cNvSpPr/>
          <p:nvPr/>
        </p:nvSpPr>
        <p:spPr>
          <a:xfrm>
            <a:off x="4434840" y="3931920"/>
            <a:ext cx="3612000" cy="1234500"/>
          </a:xfrm>
          <a:prstGeom prst="roundRect">
            <a:avLst>
              <a:gd fmla="val 3704" name="adj"/>
            </a:avLst>
          </a:prstGeom>
          <a:solidFill>
            <a:srgbClr val="0E0E0E"/>
          </a:solid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4636008" y="4114800"/>
            <a:ext cx="914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876A"/>
              </a:buClr>
              <a:buSzPts val="1300"/>
              <a:buFont typeface="Roboto"/>
              <a:buNone/>
            </a:pPr>
            <a:r>
              <a:rPr b="1" i="0" lang="en-US" sz="1300" u="none" cap="none" strike="noStrike">
                <a:solidFill>
                  <a:srgbClr val="C5876A"/>
                </a:solidFill>
                <a:latin typeface="Roboto"/>
                <a:ea typeface="Roboto"/>
                <a:cs typeface="Roboto"/>
                <a:sym typeface="Roboto"/>
              </a:rPr>
              <a:t>05</a:t>
            </a:r>
            <a:endParaRPr b="0" i="0" sz="1300" u="none" cap="none" strike="noStrike">
              <a:solidFill>
                <a:srgbClr val="000000"/>
              </a:solidFill>
              <a:latin typeface="Calibri"/>
              <a:ea typeface="Calibri"/>
              <a:cs typeface="Calibri"/>
              <a:sym typeface="Calibri"/>
            </a:endParaRPr>
          </a:p>
        </p:txBody>
      </p:sp>
      <p:sp>
        <p:nvSpPr>
          <p:cNvPr id="402" name="Google Shape;402;p17"/>
          <p:cNvSpPr/>
          <p:nvPr/>
        </p:nvSpPr>
        <p:spPr>
          <a:xfrm>
            <a:off x="4636008" y="443484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GraphSAGE</a:t>
            </a:r>
            <a:endParaRPr b="0" i="0" sz="1400" u="none" cap="none" strike="noStrike">
              <a:solidFill>
                <a:srgbClr val="000000"/>
              </a:solidFill>
              <a:latin typeface="Calibri"/>
              <a:ea typeface="Calibri"/>
              <a:cs typeface="Calibri"/>
              <a:sym typeface="Calibri"/>
            </a:endParaRPr>
          </a:p>
        </p:txBody>
      </p:sp>
      <p:sp>
        <p:nvSpPr>
          <p:cNvPr id="403" name="Google Shape;403;p17"/>
          <p:cNvSpPr/>
          <p:nvPr/>
        </p:nvSpPr>
        <p:spPr>
          <a:xfrm>
            <a:off x="4636008" y="475488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C9"/>
              </a:buClr>
              <a:buSzPts val="1150"/>
              <a:buFont typeface="Roboto"/>
              <a:buNone/>
            </a:pPr>
            <a:r>
              <a:rPr b="0" i="0" lang="en-US" sz="1150" u="none" cap="none" strike="noStrike">
                <a:solidFill>
                  <a:srgbClr val="C9C9C9"/>
                </a:solidFill>
                <a:latin typeface="Roboto"/>
                <a:ea typeface="Roboto"/>
                <a:cs typeface="Roboto"/>
                <a:sym typeface="Roboto"/>
              </a:rPr>
              <a:t>balcony signal aggregated into corridors</a:t>
            </a:r>
            <a:endParaRPr b="0" i="0" sz="1150" u="none" cap="none" strike="noStrike">
              <a:solidFill>
                <a:srgbClr val="000000"/>
              </a:solidFill>
              <a:latin typeface="Calibri"/>
              <a:ea typeface="Calibri"/>
              <a:cs typeface="Calibri"/>
              <a:sym typeface="Calibri"/>
            </a:endParaRPr>
          </a:p>
        </p:txBody>
      </p:sp>
      <p:sp>
        <p:nvSpPr>
          <p:cNvPr id="404" name="Google Shape;404;p17"/>
          <p:cNvSpPr/>
          <p:nvPr/>
        </p:nvSpPr>
        <p:spPr>
          <a:xfrm>
            <a:off x="8229600" y="3931920"/>
            <a:ext cx="3612000" cy="1234500"/>
          </a:xfrm>
          <a:prstGeom prst="roundRect">
            <a:avLst>
              <a:gd fmla="val 3704" name="adj"/>
            </a:avLst>
          </a:prstGeom>
          <a:solidFill>
            <a:srgbClr val="0E0E0E"/>
          </a:solidFill>
          <a:ln cap="flat" cmpd="sng" w="9525">
            <a:solidFill>
              <a:srgbClr val="2C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7"/>
          <p:cNvSpPr/>
          <p:nvPr/>
        </p:nvSpPr>
        <p:spPr>
          <a:xfrm>
            <a:off x="8430768" y="4114800"/>
            <a:ext cx="914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876A"/>
              </a:buClr>
              <a:buSzPts val="1300"/>
              <a:buFont typeface="Roboto"/>
              <a:buNone/>
            </a:pPr>
            <a:r>
              <a:rPr b="1" i="0" lang="en-US" sz="1300" u="none" cap="none" strike="noStrike">
                <a:solidFill>
                  <a:srgbClr val="C5876A"/>
                </a:solidFill>
                <a:latin typeface="Roboto"/>
                <a:ea typeface="Roboto"/>
                <a:cs typeface="Roboto"/>
                <a:sym typeface="Roboto"/>
              </a:rPr>
              <a:t>06</a:t>
            </a:r>
            <a:endParaRPr b="0" i="0" sz="1300" u="none" cap="none" strike="noStrike">
              <a:solidFill>
                <a:srgbClr val="000000"/>
              </a:solidFill>
              <a:latin typeface="Calibri"/>
              <a:ea typeface="Calibri"/>
              <a:cs typeface="Calibri"/>
              <a:sym typeface="Calibri"/>
            </a:endParaRPr>
          </a:p>
        </p:txBody>
      </p:sp>
      <p:sp>
        <p:nvSpPr>
          <p:cNvPr id="406" name="Google Shape;406;p17"/>
          <p:cNvSpPr/>
          <p:nvPr/>
        </p:nvSpPr>
        <p:spPr>
          <a:xfrm>
            <a:off x="8430768" y="443484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Roboto"/>
              <a:buNone/>
            </a:pPr>
            <a:r>
              <a:rPr b="1" i="0" lang="en-US" sz="1400" u="none" cap="none" strike="noStrike">
                <a:solidFill>
                  <a:srgbClr val="FFFFFF"/>
                </a:solidFill>
                <a:latin typeface="Roboto"/>
                <a:ea typeface="Roboto"/>
                <a:cs typeface="Roboto"/>
                <a:sym typeface="Roboto"/>
              </a:rPr>
              <a:t>63 → kitchen</a:t>
            </a:r>
            <a:endParaRPr b="0" i="0" sz="1400" u="none" cap="none" strike="noStrike">
              <a:solidFill>
                <a:srgbClr val="000000"/>
              </a:solidFill>
              <a:latin typeface="Calibri"/>
              <a:ea typeface="Calibri"/>
              <a:cs typeface="Calibri"/>
              <a:sym typeface="Calibri"/>
            </a:endParaRPr>
          </a:p>
        </p:txBody>
      </p:sp>
      <p:sp>
        <p:nvSpPr>
          <p:cNvPr id="407" name="Google Shape;407;p17"/>
          <p:cNvSpPr/>
          <p:nvPr/>
        </p:nvSpPr>
        <p:spPr>
          <a:xfrm>
            <a:off x="8430768" y="4754880"/>
            <a:ext cx="3209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C9"/>
              </a:buClr>
              <a:buSzPts val="1150"/>
              <a:buFont typeface="Roboto"/>
              <a:buNone/>
            </a:pPr>
            <a:r>
              <a:rPr b="0" i="0" lang="en-US" sz="1150" u="none" cap="none" strike="noStrike">
                <a:solidFill>
                  <a:srgbClr val="C9C9C9"/>
                </a:solidFill>
                <a:latin typeface="Roboto"/>
                <a:ea typeface="Roboto"/>
                <a:cs typeface="Roboto"/>
                <a:sym typeface="Roboto"/>
              </a:rPr>
              <a:t>the memorial reads as habitable</a:t>
            </a:r>
            <a:endParaRPr b="0" i="0" sz="1150" u="none" cap="none" strike="noStrike">
              <a:solidFill>
                <a:srgbClr val="000000"/>
              </a:solidFill>
              <a:latin typeface="Calibri"/>
              <a:ea typeface="Calibri"/>
              <a:cs typeface="Calibri"/>
              <a:sym typeface="Calibri"/>
            </a:endParaRPr>
          </a:p>
        </p:txBody>
      </p:sp>
      <p:sp>
        <p:nvSpPr>
          <p:cNvPr id="408" name="Google Shape;408;p17"/>
          <p:cNvSpPr/>
          <p:nvPr/>
        </p:nvSpPr>
        <p:spPr>
          <a:xfrm>
            <a:off x="640080" y="5806440"/>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876A"/>
              </a:buClr>
              <a:buSzPts val="1300"/>
              <a:buFont typeface="Roboto"/>
              <a:buNone/>
            </a:pPr>
            <a:r>
              <a:rPr b="0" i="1" lang="en-US" sz="1300" u="none" cap="none" strike="noStrike">
                <a:solidFill>
                  <a:srgbClr val="C5876A"/>
                </a:solidFill>
                <a:latin typeface="Roboto"/>
                <a:ea typeface="Roboto"/>
                <a:cs typeface="Roboto"/>
                <a:sym typeface="Roboto"/>
              </a:rPr>
              <a:t>A design analysed by a model trained on how people actually live.</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412" name="Shape 412"/>
        <p:cNvGrpSpPr/>
        <p:nvPr/>
      </p:nvGrpSpPr>
      <p:grpSpPr>
        <a:xfrm>
          <a:off x="0" y="0"/>
          <a:ext cx="0" cy="0"/>
          <a:chOff x="0" y="0"/>
          <a:chExt cx="0" cy="0"/>
        </a:xfrm>
      </p:grpSpPr>
      <p:sp>
        <p:nvSpPr>
          <p:cNvPr id="413" name="Google Shape;413;p20"/>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PROPOSAL</a:t>
            </a:r>
            <a:endParaRPr/>
          </a:p>
        </p:txBody>
      </p:sp>
      <p:sp>
        <p:nvSpPr>
          <p:cNvPr id="414" name="Google Shape;414;p20"/>
          <p:cNvSpPr txBox="1"/>
          <p:nvPr/>
        </p:nvSpPr>
        <p:spPr>
          <a:xfrm>
            <a:off x="457200" y="475488"/>
            <a:ext cx="82296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Arial"/>
                <a:ea typeface="Arial"/>
                <a:cs typeface="Arial"/>
                <a:sym typeface="Arial"/>
              </a:rPr>
              <a:t>Proposed Plan </a:t>
            </a:r>
            <a:endParaRPr/>
          </a:p>
        </p:txBody>
      </p:sp>
      <p:sp>
        <p:nvSpPr>
          <p:cNvPr id="415" name="Google Shape;415;p20"/>
          <p:cNvSpPr/>
          <p:nvPr/>
        </p:nvSpPr>
        <p:spPr>
          <a:xfrm>
            <a:off x="457200" y="1078992"/>
            <a:ext cx="11731752" cy="12700"/>
          </a:xfrm>
          <a:prstGeom prst="rect">
            <a:avLst/>
          </a:prstGeom>
          <a:solidFill>
            <a:srgbClr val="2A2A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20"/>
          <p:cNvSpPr txBox="1"/>
          <p:nvPr/>
        </p:nvSpPr>
        <p:spPr>
          <a:xfrm>
            <a:off x="457200" y="1176546"/>
            <a:ext cx="11430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Each destroyed room returns as a slab at the room's original footprint, shrunk inward by the wall thickness. Z-height = -step x BFS depth from entrance. The promenade descends from the landing as graph depth increases.</a:t>
            </a:r>
            <a:endParaRPr/>
          </a:p>
        </p:txBody>
      </p:sp>
      <p:pic>
        <p:nvPicPr>
          <p:cNvPr descr="plan_proposed_1.png" id="417" name="Google Shape;417;p20"/>
          <p:cNvPicPr preferRelativeResize="0"/>
          <p:nvPr/>
        </p:nvPicPr>
        <p:blipFill rotWithShape="1">
          <a:blip r:embed="rId3">
            <a:alphaModFix/>
          </a:blip>
          <a:srcRect b="40619" l="0" r="0" t="33926"/>
          <a:stretch/>
        </p:blipFill>
        <p:spPr>
          <a:xfrm>
            <a:off x="0" y="2189550"/>
            <a:ext cx="11914624" cy="2274651"/>
          </a:xfrm>
          <a:prstGeom prst="rect">
            <a:avLst/>
          </a:prstGeom>
          <a:noFill/>
          <a:ln>
            <a:noFill/>
          </a:ln>
        </p:spPr>
      </p:pic>
      <p:sp>
        <p:nvSpPr>
          <p:cNvPr id="418" name="Google Shape;418;p20"/>
          <p:cNvSpPr txBox="1"/>
          <p:nvPr/>
        </p:nvSpPr>
        <p:spPr>
          <a:xfrm>
            <a:off x="457200" y="1683046"/>
            <a:ext cx="11430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Two connected slabs at different depths sit at different Z levels. The door position between them in the original plan becomes the step. The step height equals one step unit, because adjacent rooms differ by exactly one BFS hop. Slab edges at non-door positions are left open -- the gap is the missing wall.</a:t>
            </a:r>
            <a:endParaRPr/>
          </a:p>
        </p:txBody>
      </p:sp>
      <p:pic>
        <p:nvPicPr>
          <p:cNvPr descr="plan_proposed_2.1.png" id="419" name="Google Shape;419;p20"/>
          <p:cNvPicPr preferRelativeResize="0"/>
          <p:nvPr/>
        </p:nvPicPr>
        <p:blipFill rotWithShape="1">
          <a:blip r:embed="rId4">
            <a:alphaModFix/>
          </a:blip>
          <a:srcRect b="38497" l="0" r="0" t="32139"/>
          <a:stretch/>
        </p:blipFill>
        <p:spPr>
          <a:xfrm>
            <a:off x="-16779" y="4352800"/>
            <a:ext cx="11931402" cy="26276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423" name="Shape 423"/>
        <p:cNvGrpSpPr/>
        <p:nvPr/>
      </p:nvGrpSpPr>
      <p:grpSpPr>
        <a:xfrm>
          <a:off x="0" y="0"/>
          <a:ext cx="0" cy="0"/>
          <a:chOff x="0" y="0"/>
          <a:chExt cx="0" cy="0"/>
        </a:xfrm>
      </p:grpSpPr>
      <p:sp>
        <p:nvSpPr>
          <p:cNvPr id="424" name="Google Shape;424;p22"/>
          <p:cNvSpPr txBox="1"/>
          <p:nvPr/>
        </p:nvSpPr>
        <p:spPr>
          <a:xfrm>
            <a:off x="5900050" y="256032"/>
            <a:ext cx="5486400" cy="20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RESULT -- AXONOMETRY</a:t>
            </a:r>
            <a:endParaRPr/>
          </a:p>
        </p:txBody>
      </p:sp>
      <p:sp>
        <p:nvSpPr>
          <p:cNvPr id="425" name="Google Shape;425;p22"/>
          <p:cNvSpPr txBox="1"/>
          <p:nvPr/>
        </p:nvSpPr>
        <p:spPr>
          <a:xfrm>
            <a:off x="5900050" y="475488"/>
            <a:ext cx="86868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Arial"/>
                <a:ea typeface="Arial"/>
                <a:cs typeface="Arial"/>
                <a:sym typeface="Arial"/>
              </a:rPr>
              <a:t>Memorial Intervention in Context</a:t>
            </a:r>
            <a:endParaRPr/>
          </a:p>
        </p:txBody>
      </p:sp>
      <p:sp>
        <p:nvSpPr>
          <p:cNvPr id="426" name="Google Shape;426;p22"/>
          <p:cNvSpPr txBox="1"/>
          <p:nvPr/>
        </p:nvSpPr>
        <p:spPr>
          <a:xfrm>
            <a:off x="5900050" y="1207000"/>
            <a:ext cx="48795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The depth-mapped slabs step down into the gap. The intact section is unchanged. The staircase at center now leads into a descending spatial sequence that traces the access graph of the lost apartment.</a:t>
            </a:r>
            <a:endParaRPr/>
          </a:p>
        </p:txBody>
      </p:sp>
      <p:pic>
        <p:nvPicPr>
          <p:cNvPr descr="axon3.1.png" id="427" name="Google Shape;427;p22"/>
          <p:cNvPicPr preferRelativeResize="0"/>
          <p:nvPr/>
        </p:nvPicPr>
        <p:blipFill rotWithShape="1">
          <a:blip r:embed="rId3">
            <a:alphaModFix/>
          </a:blip>
          <a:srcRect b="-4720" l="0" r="0" t="4720"/>
          <a:stretch/>
        </p:blipFill>
        <p:spPr>
          <a:xfrm>
            <a:off x="16583" y="968110"/>
            <a:ext cx="5760722" cy="4320541"/>
          </a:xfrm>
          <a:prstGeom prst="rect">
            <a:avLst/>
          </a:prstGeom>
          <a:noFill/>
          <a:ln>
            <a:noFill/>
          </a:ln>
        </p:spPr>
      </p:pic>
      <p:pic>
        <p:nvPicPr>
          <p:cNvPr descr="axon3.2.png" id="428" name="Google Shape;428;p22"/>
          <p:cNvPicPr preferRelativeResize="0"/>
          <p:nvPr/>
        </p:nvPicPr>
        <p:blipFill rotWithShape="1">
          <a:blip r:embed="rId4">
            <a:alphaModFix/>
          </a:blip>
          <a:srcRect b="0" l="0" r="0" t="0"/>
          <a:stretch/>
        </p:blipFill>
        <p:spPr>
          <a:xfrm>
            <a:off x="5991490" y="1737360"/>
            <a:ext cx="5650990" cy="423824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432" name="Shape 432"/>
        <p:cNvGrpSpPr/>
        <p:nvPr/>
      </p:nvGrpSpPr>
      <p:grpSpPr>
        <a:xfrm>
          <a:off x="0" y="0"/>
          <a:ext cx="0" cy="0"/>
          <a:chOff x="0" y="0"/>
          <a:chExt cx="0" cy="0"/>
        </a:xfrm>
      </p:grpSpPr>
      <p:pic>
        <p:nvPicPr>
          <p:cNvPr descr="axon4.png" id="433" name="Google Shape;433;p23"/>
          <p:cNvPicPr preferRelativeResize="0"/>
          <p:nvPr/>
        </p:nvPicPr>
        <p:blipFill rotWithShape="1">
          <a:blip r:embed="rId3">
            <a:alphaModFix/>
          </a:blip>
          <a:srcRect b="0" l="0" r="0" t="0"/>
          <a:stretch/>
        </p:blipFill>
        <p:spPr>
          <a:xfrm>
            <a:off x="2392150" y="-111375"/>
            <a:ext cx="10918374" cy="8188773"/>
          </a:xfrm>
          <a:prstGeom prst="rect">
            <a:avLst/>
          </a:prstGeom>
          <a:noFill/>
          <a:ln>
            <a:noFill/>
          </a:ln>
        </p:spPr>
      </p:pic>
      <p:sp>
        <p:nvSpPr>
          <p:cNvPr id="434" name="Google Shape;434;p23"/>
          <p:cNvSpPr txBox="1"/>
          <p:nvPr/>
        </p:nvSpPr>
        <p:spPr>
          <a:xfrm>
            <a:off x="457200" y="256032"/>
            <a:ext cx="5486400" cy="2011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rgbClr val="626262"/>
                </a:solidFill>
                <a:latin typeface="Arial"/>
                <a:ea typeface="Arial"/>
                <a:cs typeface="Arial"/>
                <a:sym typeface="Arial"/>
              </a:rPr>
              <a:t>RESULT -- MEMORIAL</a:t>
            </a:r>
            <a:endParaRPr/>
          </a:p>
        </p:txBody>
      </p:sp>
      <p:sp>
        <p:nvSpPr>
          <p:cNvPr id="435" name="Google Shape;435;p23"/>
          <p:cNvSpPr txBox="1"/>
          <p:nvPr/>
        </p:nvSpPr>
        <p:spPr>
          <a:xfrm>
            <a:off x="457200" y="475488"/>
            <a:ext cx="6400800" cy="181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FFFF"/>
                </a:solidFill>
              </a:rPr>
              <a:t>The promenade is the access graph</a:t>
            </a:r>
            <a:endParaRPr b="1" sz="2800">
              <a:solidFill>
                <a:srgbClr val="FFFFFF"/>
              </a:solidFill>
            </a:endParaRPr>
          </a:p>
          <a:p>
            <a:pPr indent="0" lvl="0" marL="0" marR="0" rtl="0" algn="l">
              <a:spcBef>
                <a:spcPts val="0"/>
              </a:spcBef>
              <a:spcAft>
                <a:spcPts val="0"/>
              </a:spcAft>
              <a:buNone/>
            </a:pPr>
            <a:r>
              <a:rPr b="1" lang="en-US" sz="2800">
                <a:solidFill>
                  <a:srgbClr val="FFFFFF"/>
                </a:solidFill>
              </a:rPr>
              <a:t>of the lost apartment, made walkable.</a:t>
            </a:r>
            <a:endParaRPr b="1" sz="2800">
              <a:solidFill>
                <a:srgbClr val="FFFFFF"/>
              </a:solidFill>
            </a:endParaRPr>
          </a:p>
          <a:p>
            <a:pPr indent="0" lvl="0" marL="0" marR="0" rtl="0" algn="l">
              <a:spcBef>
                <a:spcPts val="0"/>
              </a:spcBef>
              <a:spcAft>
                <a:spcPts val="0"/>
              </a:spcAft>
              <a:buNone/>
            </a:pPr>
            <a:r>
              <a:t/>
            </a:r>
            <a:endParaRPr b="1" sz="2800">
              <a:solidFill>
                <a:srgbClr val="FFFFFF"/>
              </a:solidFill>
            </a:endParaRPr>
          </a:p>
        </p:txBody>
      </p:sp>
      <p:sp>
        <p:nvSpPr>
          <p:cNvPr id="436" name="Google Shape;436;p23"/>
          <p:cNvSpPr txBox="1"/>
          <p:nvPr/>
        </p:nvSpPr>
        <p:spPr>
          <a:xfrm>
            <a:off x="457200" y="1969000"/>
            <a:ext cx="45258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969696"/>
                </a:solidFill>
                <a:latin typeface="Arial"/>
                <a:ea typeface="Arial"/>
                <a:cs typeface="Arial"/>
                <a:sym typeface="Arial"/>
              </a:rPr>
              <a:t>Slabs at depth-mapped Z heights. Gaps between slab edges at non-door positions = the vanished walls. Bridges at door positions connecting slabs at adjacent depths.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440" name="Shape 440"/>
        <p:cNvGrpSpPr/>
        <p:nvPr/>
      </p:nvGrpSpPr>
      <p:grpSpPr>
        <a:xfrm>
          <a:off x="0" y="0"/>
          <a:ext cx="0" cy="0"/>
          <a:chOff x="0" y="0"/>
          <a:chExt cx="0" cy="0"/>
        </a:xfrm>
      </p:grpSpPr>
      <p:pic>
        <p:nvPicPr>
          <p:cNvPr descr="axon6.png" id="441" name="Google Shape;441;p24"/>
          <p:cNvPicPr preferRelativeResize="0"/>
          <p:nvPr/>
        </p:nvPicPr>
        <p:blipFill rotWithShape="1">
          <a:blip r:embed="rId3">
            <a:alphaModFix/>
          </a:blip>
          <a:srcRect b="30048" l="0" r="2114" t="9856"/>
          <a:stretch/>
        </p:blipFill>
        <p:spPr>
          <a:xfrm>
            <a:off x="0" y="1245875"/>
            <a:ext cx="12188948" cy="5612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