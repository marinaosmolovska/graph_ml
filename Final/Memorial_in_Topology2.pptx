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ccess_all2.png"/>
          <p:cNvPicPr>
            <a:picLocks noChangeAspect="1"/>
          </p:cNvPicPr>
          <p:nvPr/>
        </p:nvPicPr>
        <p:blipFill>
          <a:blip r:embed="rId2"/>
          <a:stretch>
            <a:fillRect/>
          </a:stretch>
        </p:blipFill>
        <p:spPr>
          <a:xfrm>
            <a:off x="5943600" y="365760"/>
            <a:ext cx="6400800" cy="3384331"/>
          </a:xfrm>
          <a:prstGeom prst="rect">
            <a:avLst/>
          </a:prstGeom>
        </p:spPr>
      </p:pic>
      <p:sp>
        <p:nvSpPr>
          <p:cNvPr id="3" name="Rectangle 2"/>
          <p:cNvSpPr/>
          <p:nvPr/>
        </p:nvSpPr>
        <p:spPr>
          <a:xfrm>
            <a:off x="0" y="0"/>
            <a:ext cx="6309360" cy="68580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3657600" cy="914400"/>
          </a:xfrm>
          <a:prstGeom prst="rect">
            <a:avLst/>
          </a:prstGeom>
          <a:noFill/>
        </p:spPr>
        <p:txBody>
          <a:bodyPr wrap="square">
            <a:spAutoFit/>
          </a:bodyPr>
          <a:lstStyle/>
          <a:p>
            <a:pPr algn="l"/>
            <a:r>
              <a:rPr sz="4800" b="1" i="0">
                <a:solidFill>
                  <a:srgbClr val="FFFFFF"/>
                </a:solidFill>
                <a:latin typeface="Arial"/>
              </a:rPr>
              <a:t>Iaac</a:t>
            </a:r>
          </a:p>
        </p:txBody>
      </p:sp>
      <p:sp>
        <p:nvSpPr>
          <p:cNvPr id="5" name="Rectangle 4"/>
          <p:cNvSpPr/>
          <p:nvPr/>
        </p:nvSpPr>
        <p:spPr>
          <a:xfrm>
            <a:off x="548640" y="1389888"/>
            <a:ext cx="5394960" cy="1270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72768"/>
            <a:ext cx="5486400" cy="201168"/>
          </a:xfrm>
          <a:prstGeom prst="rect">
            <a:avLst/>
          </a:prstGeom>
          <a:noFill/>
        </p:spPr>
        <p:txBody>
          <a:bodyPr wrap="square">
            <a:spAutoFit/>
          </a:bodyPr>
          <a:lstStyle/>
          <a:p>
            <a:pPr algn="l"/>
            <a:r>
              <a:rPr sz="700" b="0" i="0">
                <a:solidFill>
                  <a:srgbClr val="666666"/>
                </a:solidFill>
                <a:latin typeface="Arial"/>
              </a:rPr>
              <a:t>GRAPH MACHINE LEARNING</a:t>
            </a:r>
          </a:p>
        </p:txBody>
      </p:sp>
      <p:sp>
        <p:nvSpPr>
          <p:cNvPr id="7" name="TextBox 6"/>
          <p:cNvSpPr txBox="1"/>
          <p:nvPr/>
        </p:nvSpPr>
        <p:spPr>
          <a:xfrm>
            <a:off x="548640" y="1828800"/>
            <a:ext cx="5303520" cy="1920240"/>
          </a:xfrm>
          <a:prstGeom prst="rect">
            <a:avLst/>
          </a:prstGeom>
          <a:noFill/>
        </p:spPr>
        <p:txBody>
          <a:bodyPr wrap="square">
            <a:spAutoFit/>
          </a:bodyPr>
          <a:lstStyle/>
          <a:p>
            <a:pPr algn="l"/>
            <a:r>
              <a:rPr sz="3800" b="1" i="0">
                <a:solidFill>
                  <a:srgbClr val="FFFFFF"/>
                </a:solidFill>
                <a:latin typeface="Arial"/>
              </a:rPr>
              <a:t>Memorial
in Topology</a:t>
            </a:r>
          </a:p>
        </p:txBody>
      </p:sp>
      <p:sp>
        <p:nvSpPr>
          <p:cNvPr id="8" name="TextBox 7"/>
          <p:cNvSpPr txBox="1"/>
          <p:nvPr/>
        </p:nvSpPr>
        <p:spPr>
          <a:xfrm>
            <a:off x="548640" y="3840480"/>
            <a:ext cx="5303520" cy="411480"/>
          </a:xfrm>
          <a:prstGeom prst="rect">
            <a:avLst/>
          </a:prstGeom>
          <a:noFill/>
        </p:spPr>
        <p:txBody>
          <a:bodyPr wrap="square">
            <a:spAutoFit/>
          </a:bodyPr>
          <a:lstStyle/>
          <a:p>
            <a:pPr algn="l"/>
            <a:r>
              <a:rPr sz="1300" b="0" i="0">
                <a:solidFill>
                  <a:srgbClr val="CCCCCC"/>
                </a:solidFill>
                <a:latin typeface="Arial"/>
              </a:rPr>
              <a:t>A Reading of Wartime Loss in Kyiv</a:t>
            </a:r>
          </a:p>
        </p:txBody>
      </p:sp>
      <p:sp>
        <p:nvSpPr>
          <p:cNvPr id="9" name="Rectangle 8"/>
          <p:cNvSpPr/>
          <p:nvPr/>
        </p:nvSpPr>
        <p:spPr>
          <a:xfrm>
            <a:off x="548640" y="4370832"/>
            <a:ext cx="5394960"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544568"/>
            <a:ext cx="5303520" cy="310896"/>
          </a:xfrm>
          <a:prstGeom prst="rect">
            <a:avLst/>
          </a:prstGeom>
          <a:noFill/>
        </p:spPr>
        <p:txBody>
          <a:bodyPr wrap="square">
            <a:spAutoFit/>
          </a:bodyPr>
          <a:lstStyle/>
          <a:p>
            <a:pPr algn="l"/>
            <a:r>
              <a:rPr sz="1100" b="1" i="0">
                <a:solidFill>
                  <a:srgbClr val="FFFFFF"/>
                </a:solidFill>
                <a:latin typeface="Arial"/>
              </a:rPr>
              <a:t>Marina Osmolovska</a:t>
            </a:r>
          </a:p>
        </p:txBody>
      </p:sp>
      <p:sp>
        <p:nvSpPr>
          <p:cNvPr id="11" name="TextBox 10"/>
          <p:cNvSpPr txBox="1"/>
          <p:nvPr/>
        </p:nvSpPr>
        <p:spPr>
          <a:xfrm>
            <a:off x="548640" y="4901184"/>
            <a:ext cx="5303520" cy="274320"/>
          </a:xfrm>
          <a:prstGeom prst="rect">
            <a:avLst/>
          </a:prstGeom>
          <a:noFill/>
        </p:spPr>
        <p:txBody>
          <a:bodyPr wrap="square">
            <a:spAutoFit/>
          </a:bodyPr>
          <a:lstStyle/>
          <a:p>
            <a:pPr algn="l"/>
            <a:r>
              <a:rPr sz="900" b="0" i="0">
                <a:solidFill>
                  <a:srgbClr val="999999"/>
                </a:solidFill>
                <a:latin typeface="Arial"/>
              </a:rPr>
              <a:t>MaCAD 2025  --  Semester 3</a:t>
            </a:r>
          </a:p>
        </p:txBody>
      </p:sp>
      <p:sp>
        <p:nvSpPr>
          <p:cNvPr id="12" name="TextBox 11"/>
          <p:cNvSpPr txBox="1"/>
          <p:nvPr/>
        </p:nvSpPr>
        <p:spPr>
          <a:xfrm>
            <a:off x="548640" y="5248656"/>
            <a:ext cx="5303520" cy="594360"/>
          </a:xfrm>
          <a:prstGeom prst="rect">
            <a:avLst/>
          </a:prstGeom>
          <a:noFill/>
        </p:spPr>
        <p:txBody>
          <a:bodyPr wrap="square">
            <a:spAutoFit/>
          </a:bodyPr>
          <a:lstStyle/>
          <a:p>
            <a:pPr algn="l"/>
            <a:r>
              <a:rPr sz="900" b="0" i="0">
                <a:solidFill>
                  <a:srgbClr val="999999"/>
                </a:solidFill>
                <a:latin typeface="Arial"/>
              </a:rPr>
              <a:t>Buildings as Graphs
Faculty: Angelos Chronis  --  Orestis Pavlidis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xon1.1.png"/>
          <p:cNvPicPr>
            <a:picLocks noChangeAspect="1"/>
          </p:cNvPicPr>
          <p:nvPr/>
        </p:nvPicPr>
        <p:blipFill>
          <a:blip r:embed="rId2"/>
          <a:stretch>
            <a:fillRect/>
          </a:stretch>
        </p:blipFill>
        <p:spPr>
          <a:xfrm>
            <a:off x="5029200" y="320040"/>
            <a:ext cx="7223760" cy="5417820"/>
          </a:xfrm>
          <a:prstGeom prst="rect">
            <a:avLst/>
          </a:prstGeom>
        </p:spPr>
      </p:pic>
      <p:sp>
        <p:nvSpPr>
          <p:cNvPr id="3" name="TextBox 2"/>
          <p:cNvSpPr txBox="1"/>
          <p:nvPr/>
        </p:nvSpPr>
        <p:spPr>
          <a:xfrm>
            <a:off x="457200" y="292608"/>
            <a:ext cx="5486400" cy="201168"/>
          </a:xfrm>
          <a:prstGeom prst="rect">
            <a:avLst/>
          </a:prstGeom>
          <a:noFill/>
        </p:spPr>
        <p:txBody>
          <a:bodyPr wrap="square">
            <a:spAutoFit/>
          </a:bodyPr>
          <a:lstStyle/>
          <a:p>
            <a:pPr algn="l"/>
            <a:r>
              <a:rPr sz="700" b="0" i="0">
                <a:solidFill>
                  <a:srgbClr val="666666"/>
                </a:solidFill>
                <a:latin typeface="Arial"/>
              </a:rPr>
              <a:t>CONTEXT</a:t>
            </a:r>
          </a:p>
        </p:txBody>
      </p:sp>
      <p:sp>
        <p:nvSpPr>
          <p:cNvPr id="4" name="TextBox 3"/>
          <p:cNvSpPr txBox="1"/>
          <p:nvPr/>
        </p:nvSpPr>
        <p:spPr>
          <a:xfrm>
            <a:off x="457200" y="530352"/>
            <a:ext cx="4572000" cy="640080"/>
          </a:xfrm>
          <a:prstGeom prst="rect">
            <a:avLst/>
          </a:prstGeom>
          <a:noFill/>
        </p:spPr>
        <p:txBody>
          <a:bodyPr wrap="square">
            <a:spAutoFit/>
          </a:bodyPr>
          <a:lstStyle/>
          <a:p>
            <a:pPr algn="l"/>
            <a:r>
              <a:rPr sz="3000" b="1" i="0">
                <a:solidFill>
                  <a:srgbClr val="FFFFFF"/>
                </a:solidFill>
                <a:latin typeface="Arial"/>
              </a:rPr>
              <a:t>The Building</a:t>
            </a:r>
          </a:p>
        </p:txBody>
      </p:sp>
      <p:sp>
        <p:nvSpPr>
          <p:cNvPr id="5" name="Rectangle 4"/>
          <p:cNvSpPr/>
          <p:nvPr/>
        </p:nvSpPr>
        <p:spPr>
          <a:xfrm>
            <a:off x="457200" y="1243584"/>
            <a:ext cx="4389120"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4389120" cy="658368"/>
          </a:xfrm>
          <a:prstGeom prst="rect">
            <a:avLst/>
          </a:prstGeom>
          <a:noFill/>
        </p:spPr>
        <p:txBody>
          <a:bodyPr wrap="square">
            <a:spAutoFit/>
          </a:bodyPr>
          <a:lstStyle/>
          <a:p>
            <a:pPr algn="l"/>
            <a:r>
              <a:rPr sz="1100" b="0" i="0">
                <a:solidFill>
                  <a:srgbClr val="CCCCCC"/>
                </a:solidFill>
                <a:latin typeface="Arial"/>
              </a:rPr>
              <a:t>87-02 Soviet panel block-section -- a standard type mass-produced across the USSR from the 1960s onwards. Nine storeys. Two apartments per floor, mirrored around a single staircase core.</a:t>
            </a:r>
          </a:p>
        </p:txBody>
      </p:sp>
      <p:sp>
        <p:nvSpPr>
          <p:cNvPr id="7" name="TextBox 6"/>
          <p:cNvSpPr txBox="1"/>
          <p:nvPr/>
        </p:nvSpPr>
        <p:spPr>
          <a:xfrm>
            <a:off x="457200" y="2121408"/>
            <a:ext cx="4389120" cy="658368"/>
          </a:xfrm>
          <a:prstGeom prst="rect">
            <a:avLst/>
          </a:prstGeom>
          <a:noFill/>
        </p:spPr>
        <p:txBody>
          <a:bodyPr wrap="square">
            <a:spAutoFit/>
          </a:bodyPr>
          <a:lstStyle/>
          <a:p>
            <a:pPr algn="l"/>
            <a:r>
              <a:rPr sz="1100" b="0" i="0">
                <a:solidFill>
                  <a:srgbClr val="CCCCCC"/>
                </a:solidFill>
                <a:latin typeface="Arial"/>
              </a:rPr>
              <a:t>In Kyiv, a rocket strike destroyed the right half of one such section. The staircase survived. The rooms on one side are gone. The stair now opens onto ruins.</a:t>
            </a:r>
          </a:p>
        </p:txBody>
      </p:sp>
      <p:sp>
        <p:nvSpPr>
          <p:cNvPr id="8" name="Rectangle 7"/>
          <p:cNvSpPr/>
          <p:nvPr/>
        </p:nvSpPr>
        <p:spPr>
          <a:xfrm>
            <a:off x="457200" y="2907792"/>
            <a:ext cx="4389120"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063240"/>
            <a:ext cx="4389120" cy="822960"/>
          </a:xfrm>
          <a:prstGeom prst="rect">
            <a:avLst/>
          </a:prstGeom>
          <a:noFill/>
        </p:spPr>
        <p:txBody>
          <a:bodyPr wrap="square">
            <a:spAutoFit/>
          </a:bodyPr>
          <a:lstStyle/>
          <a:p>
            <a:pPr algn="l"/>
            <a:r>
              <a:rPr sz="1600" b="1" i="0">
                <a:solidFill>
                  <a:srgbClr val="FFFFFF"/>
                </a:solidFill>
                <a:latin typeface="Arial"/>
              </a:rPr>
              <a:t>The surviving stair leads,
in graph terms, to nothing.</a:t>
            </a:r>
          </a:p>
        </p:txBody>
      </p:sp>
      <p:sp>
        <p:nvSpPr>
          <p:cNvPr id="10" name="TextBox 9"/>
          <p:cNvSpPr txBox="1"/>
          <p:nvPr/>
        </p:nvSpPr>
        <p:spPr>
          <a:xfrm>
            <a:off x="457200" y="4005072"/>
            <a:ext cx="4389120" cy="1005840"/>
          </a:xfrm>
          <a:prstGeom prst="rect">
            <a:avLst/>
          </a:prstGeom>
          <a:noFill/>
        </p:spPr>
        <p:txBody>
          <a:bodyPr wrap="square">
            <a:spAutoFit/>
          </a:bodyPr>
          <a:lstStyle/>
          <a:p>
            <a:pPr algn="l"/>
            <a:r>
              <a:rPr sz="1100" b="0" i="1">
                <a:solidFill>
                  <a:srgbClr val="D4A888"/>
                </a:solidFill>
                <a:latin typeface="Arial"/>
              </a:rPr>
              <a:t>This project does not reconstruct what was lost.
It reads the lost apartment as a spatial graph
and translates those relationships into a memorial 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92608"/>
            <a:ext cx="5486400" cy="201168"/>
          </a:xfrm>
          <a:prstGeom prst="rect">
            <a:avLst/>
          </a:prstGeom>
          <a:noFill/>
        </p:spPr>
        <p:txBody>
          <a:bodyPr wrap="square">
            <a:spAutoFit/>
          </a:bodyPr>
          <a:lstStyle/>
          <a:p>
            <a:pPr algn="l"/>
            <a:r>
              <a:rPr sz="700" b="0" i="0">
                <a:solidFill>
                  <a:srgbClr val="666666"/>
                </a:solidFill>
                <a:latin typeface="Arial"/>
              </a:rPr>
              <a:t>THE PROPOSAL</a:t>
            </a:r>
          </a:p>
        </p:txBody>
      </p:sp>
      <p:sp>
        <p:nvSpPr>
          <p:cNvPr id="3" name="TextBox 2"/>
          <p:cNvSpPr txBox="1"/>
          <p:nvPr/>
        </p:nvSpPr>
        <p:spPr>
          <a:xfrm>
            <a:off x="457200" y="530352"/>
            <a:ext cx="10972800" cy="914400"/>
          </a:xfrm>
          <a:prstGeom prst="rect">
            <a:avLst/>
          </a:prstGeom>
          <a:noFill/>
        </p:spPr>
        <p:txBody>
          <a:bodyPr wrap="square">
            <a:spAutoFit/>
          </a:bodyPr>
          <a:lstStyle/>
          <a:p>
            <a:pPr algn="l"/>
            <a:r>
              <a:rPr sz="3600" b="1" i="0">
                <a:solidFill>
                  <a:srgbClr val="FFFFFF"/>
                </a:solidFill>
                <a:latin typeface="Arial"/>
              </a:rPr>
              <a:t>Memorial, Not Reconstruction</a:t>
            </a:r>
          </a:p>
        </p:txBody>
      </p:sp>
      <p:sp>
        <p:nvSpPr>
          <p:cNvPr id="4" name="Rectangle 3"/>
          <p:cNvSpPr/>
          <p:nvPr/>
        </p:nvSpPr>
        <p:spPr>
          <a:xfrm>
            <a:off x="457200" y="1508760"/>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64208"/>
            <a:ext cx="11731752" cy="566928"/>
          </a:xfrm>
          <a:prstGeom prst="rect">
            <a:avLst/>
          </a:prstGeom>
          <a:noFill/>
        </p:spPr>
        <p:txBody>
          <a:bodyPr wrap="square">
            <a:spAutoFit/>
          </a:bodyPr>
          <a:lstStyle/>
          <a:p>
            <a:pPr algn="l"/>
            <a:r>
              <a:rPr sz="1100" b="0" i="0">
                <a:solidFill>
                  <a:srgbClr val="CCCCCC"/>
                </a:solidFill>
                <a:latin typeface="Arial"/>
              </a:rPr>
              <a:t>Each room that no longer exists returns as a floor slab only -- no walls, just the trace of the floor. The slab perimeter is the room perimeter, shrunk by the thickness of the missing walls. The gaps between slab edges are the vanished walls.</a:t>
            </a:r>
          </a:p>
        </p:txBody>
      </p:sp>
      <p:sp>
        <p:nvSpPr>
          <p:cNvPr id="6" name="Rectangle 5"/>
          <p:cNvSpPr/>
          <p:nvPr/>
        </p:nvSpPr>
        <p:spPr>
          <a:xfrm>
            <a:off x="457200" y="2395728"/>
            <a:ext cx="2761488" cy="32918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395728"/>
            <a:ext cx="2761488" cy="457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505456"/>
            <a:ext cx="2514600" cy="274320"/>
          </a:xfrm>
          <a:prstGeom prst="rect">
            <a:avLst/>
          </a:prstGeom>
          <a:noFill/>
        </p:spPr>
        <p:txBody>
          <a:bodyPr wrap="square">
            <a:spAutoFit/>
          </a:bodyPr>
          <a:lstStyle/>
          <a:p>
            <a:pPr algn="l"/>
            <a:r>
              <a:rPr sz="850" b="0" i="0">
                <a:solidFill>
                  <a:srgbClr val="999999"/>
                </a:solidFill>
                <a:latin typeface="Arial"/>
              </a:rPr>
              <a:t>Each destroyed room</a:t>
            </a:r>
          </a:p>
        </p:txBody>
      </p:sp>
      <p:sp>
        <p:nvSpPr>
          <p:cNvPr id="9" name="TextBox 8"/>
          <p:cNvSpPr txBox="1"/>
          <p:nvPr/>
        </p:nvSpPr>
        <p:spPr>
          <a:xfrm>
            <a:off x="594360" y="2798064"/>
            <a:ext cx="2514600" cy="502920"/>
          </a:xfrm>
          <a:prstGeom prst="rect">
            <a:avLst/>
          </a:prstGeom>
          <a:noFill/>
        </p:spPr>
        <p:txBody>
          <a:bodyPr wrap="square">
            <a:spAutoFit/>
          </a:bodyPr>
          <a:lstStyle/>
          <a:p>
            <a:pPr algn="l"/>
            <a:r>
              <a:rPr sz="1300" b="1" i="0">
                <a:solidFill>
                  <a:srgbClr val="FFFFFF"/>
                </a:solidFill>
                <a:latin typeface="Arial"/>
              </a:rPr>
              <a:t>returns as a slab
at the room's outline</a:t>
            </a:r>
          </a:p>
        </p:txBody>
      </p:sp>
      <p:sp>
        <p:nvSpPr>
          <p:cNvPr id="10" name="Rectangle 9"/>
          <p:cNvSpPr/>
          <p:nvPr/>
        </p:nvSpPr>
        <p:spPr>
          <a:xfrm>
            <a:off x="594360" y="3364992"/>
            <a:ext cx="2487168"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493008"/>
            <a:ext cx="2514600" cy="868680"/>
          </a:xfrm>
          <a:prstGeom prst="rect">
            <a:avLst/>
          </a:prstGeom>
          <a:noFill/>
        </p:spPr>
        <p:txBody>
          <a:bodyPr wrap="square">
            <a:spAutoFit/>
          </a:bodyPr>
          <a:lstStyle/>
          <a:p>
            <a:pPr algn="l"/>
            <a:r>
              <a:rPr sz="1000" b="0" i="0">
                <a:solidFill>
                  <a:srgbClr val="999999"/>
                </a:solidFill>
                <a:latin typeface="Arial"/>
              </a:rPr>
              <a:t>No walls. No reconstruction.
Only the trace of the floor --
the memory of an outline.</a:t>
            </a:r>
          </a:p>
        </p:txBody>
      </p:sp>
      <p:sp>
        <p:nvSpPr>
          <p:cNvPr id="12" name="Rectangle 11"/>
          <p:cNvSpPr/>
          <p:nvPr/>
        </p:nvSpPr>
        <p:spPr>
          <a:xfrm>
            <a:off x="3401568" y="2395728"/>
            <a:ext cx="2761488" cy="32918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01568" y="2395728"/>
            <a:ext cx="2761488" cy="457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8728" y="2505456"/>
            <a:ext cx="2514600" cy="274320"/>
          </a:xfrm>
          <a:prstGeom prst="rect">
            <a:avLst/>
          </a:prstGeom>
          <a:noFill/>
        </p:spPr>
        <p:txBody>
          <a:bodyPr wrap="square">
            <a:spAutoFit/>
          </a:bodyPr>
          <a:lstStyle/>
          <a:p>
            <a:pPr algn="l"/>
            <a:r>
              <a:rPr sz="850" b="0" i="0">
                <a:solidFill>
                  <a:srgbClr val="999999"/>
                </a:solidFill>
                <a:latin typeface="Arial"/>
              </a:rPr>
              <a:t>Height encodes depth</a:t>
            </a:r>
          </a:p>
        </p:txBody>
      </p:sp>
      <p:sp>
        <p:nvSpPr>
          <p:cNvPr id="15" name="TextBox 14"/>
          <p:cNvSpPr txBox="1"/>
          <p:nvPr/>
        </p:nvSpPr>
        <p:spPr>
          <a:xfrm>
            <a:off x="3538728" y="2798064"/>
            <a:ext cx="2514600" cy="502920"/>
          </a:xfrm>
          <a:prstGeom prst="rect">
            <a:avLst/>
          </a:prstGeom>
          <a:noFill/>
        </p:spPr>
        <p:txBody>
          <a:bodyPr wrap="square">
            <a:spAutoFit/>
          </a:bodyPr>
          <a:lstStyle/>
          <a:p>
            <a:pPr algn="l"/>
            <a:r>
              <a:rPr sz="1300" b="1" i="0">
                <a:solidFill>
                  <a:srgbClr val="FFFFFF"/>
                </a:solidFill>
                <a:latin typeface="Arial"/>
              </a:rPr>
              <a:t>from the entrance door</a:t>
            </a:r>
          </a:p>
        </p:txBody>
      </p:sp>
      <p:sp>
        <p:nvSpPr>
          <p:cNvPr id="16" name="Rectangle 15"/>
          <p:cNvSpPr/>
          <p:nvPr/>
        </p:nvSpPr>
        <p:spPr>
          <a:xfrm>
            <a:off x="3538728" y="3364992"/>
            <a:ext cx="2487168"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8728" y="3493008"/>
            <a:ext cx="2514600" cy="868680"/>
          </a:xfrm>
          <a:prstGeom prst="rect">
            <a:avLst/>
          </a:prstGeom>
          <a:noFill/>
        </p:spPr>
        <p:txBody>
          <a:bodyPr wrap="square">
            <a:spAutoFit/>
          </a:bodyPr>
          <a:lstStyle/>
          <a:p>
            <a:pPr algn="l"/>
            <a:r>
              <a:rPr sz="1000" b="0" i="0">
                <a:solidFill>
                  <a:srgbClr val="999999"/>
                </a:solidFill>
                <a:latin typeface="Arial"/>
              </a:rPr>
              <a:t>The further a room sat from
the apartment door,
the lower its slab in the promenade.</a:t>
            </a:r>
          </a:p>
        </p:txBody>
      </p:sp>
      <p:sp>
        <p:nvSpPr>
          <p:cNvPr id="18" name="Rectangle 17"/>
          <p:cNvSpPr/>
          <p:nvPr/>
        </p:nvSpPr>
        <p:spPr>
          <a:xfrm>
            <a:off x="6345936" y="2395728"/>
            <a:ext cx="2761488" cy="32918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45936" y="2395728"/>
            <a:ext cx="2761488" cy="457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3096" y="2505456"/>
            <a:ext cx="2514600" cy="274320"/>
          </a:xfrm>
          <a:prstGeom prst="rect">
            <a:avLst/>
          </a:prstGeom>
          <a:noFill/>
        </p:spPr>
        <p:txBody>
          <a:bodyPr wrap="square">
            <a:spAutoFit/>
          </a:bodyPr>
          <a:lstStyle/>
          <a:p>
            <a:pPr algn="l"/>
            <a:r>
              <a:rPr sz="850" b="0" i="0">
                <a:solidFill>
                  <a:srgbClr val="999999"/>
                </a:solidFill>
                <a:latin typeface="Arial"/>
              </a:rPr>
              <a:t>Door positions</a:t>
            </a:r>
          </a:p>
        </p:txBody>
      </p:sp>
      <p:sp>
        <p:nvSpPr>
          <p:cNvPr id="21" name="TextBox 20"/>
          <p:cNvSpPr txBox="1"/>
          <p:nvPr/>
        </p:nvSpPr>
        <p:spPr>
          <a:xfrm>
            <a:off x="6483096" y="2798064"/>
            <a:ext cx="2514600" cy="502920"/>
          </a:xfrm>
          <a:prstGeom prst="rect">
            <a:avLst/>
          </a:prstGeom>
          <a:noFill/>
        </p:spPr>
        <p:txBody>
          <a:bodyPr wrap="square">
            <a:spAutoFit/>
          </a:bodyPr>
          <a:lstStyle/>
          <a:p>
            <a:pPr algn="l"/>
            <a:r>
              <a:rPr sz="1300" b="1" i="0">
                <a:solidFill>
                  <a:srgbClr val="FFFFFF"/>
                </a:solidFill>
                <a:latin typeface="Arial"/>
              </a:rPr>
              <a:t>become step-bridges</a:t>
            </a:r>
          </a:p>
        </p:txBody>
      </p:sp>
      <p:sp>
        <p:nvSpPr>
          <p:cNvPr id="22" name="Rectangle 21"/>
          <p:cNvSpPr/>
          <p:nvPr/>
        </p:nvSpPr>
        <p:spPr>
          <a:xfrm>
            <a:off x="6483096" y="3364992"/>
            <a:ext cx="2487168"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3493008"/>
            <a:ext cx="2514600" cy="868680"/>
          </a:xfrm>
          <a:prstGeom prst="rect">
            <a:avLst/>
          </a:prstGeom>
          <a:noFill/>
        </p:spPr>
        <p:txBody>
          <a:bodyPr wrap="square">
            <a:spAutoFit/>
          </a:bodyPr>
          <a:lstStyle/>
          <a:p>
            <a:pPr algn="l"/>
            <a:r>
              <a:rPr sz="1000" b="0" i="0">
                <a:solidFill>
                  <a:srgbClr val="999999"/>
                </a:solidFill>
                <a:latin typeface="Arial"/>
              </a:rPr>
              <a:t>The height difference between
two connected rooms
becomes the step. Gap is the lost wall.</a:t>
            </a:r>
          </a:p>
        </p:txBody>
      </p:sp>
      <p:sp>
        <p:nvSpPr>
          <p:cNvPr id="24" name="Rectangle 23"/>
          <p:cNvSpPr/>
          <p:nvPr/>
        </p:nvSpPr>
        <p:spPr>
          <a:xfrm>
            <a:off x="9290304" y="2395728"/>
            <a:ext cx="2761488" cy="32918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90304" y="2395728"/>
            <a:ext cx="2761488" cy="457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7464" y="2505456"/>
            <a:ext cx="2514600" cy="274320"/>
          </a:xfrm>
          <a:prstGeom prst="rect">
            <a:avLst/>
          </a:prstGeom>
          <a:noFill/>
        </p:spPr>
        <p:txBody>
          <a:bodyPr wrap="square">
            <a:spAutoFit/>
          </a:bodyPr>
          <a:lstStyle/>
          <a:p>
            <a:pPr algn="l"/>
            <a:r>
              <a:rPr sz="850" b="0" i="0">
                <a:solidFill>
                  <a:srgbClr val="999999"/>
                </a:solidFill>
                <a:latin typeface="Arial"/>
              </a:rPr>
              <a:t>The formula</a:t>
            </a:r>
          </a:p>
        </p:txBody>
      </p:sp>
      <p:sp>
        <p:nvSpPr>
          <p:cNvPr id="27" name="TextBox 26"/>
          <p:cNvSpPr txBox="1"/>
          <p:nvPr/>
        </p:nvSpPr>
        <p:spPr>
          <a:xfrm>
            <a:off x="9427464" y="2798064"/>
            <a:ext cx="2514600" cy="502920"/>
          </a:xfrm>
          <a:prstGeom prst="rect">
            <a:avLst/>
          </a:prstGeom>
          <a:noFill/>
        </p:spPr>
        <p:txBody>
          <a:bodyPr wrap="square">
            <a:spAutoFit/>
          </a:bodyPr>
          <a:lstStyle/>
          <a:p>
            <a:pPr algn="l"/>
            <a:r>
              <a:rPr sz="1300" b="1" i="0">
                <a:solidFill>
                  <a:srgbClr val="FFFFFF"/>
                </a:solidFill>
                <a:latin typeface="Arial"/>
              </a:rPr>
              <a:t>slab Z  =  -step x depth</a:t>
            </a:r>
          </a:p>
        </p:txBody>
      </p:sp>
      <p:sp>
        <p:nvSpPr>
          <p:cNvPr id="28" name="Rectangle 27"/>
          <p:cNvSpPr/>
          <p:nvPr/>
        </p:nvSpPr>
        <p:spPr>
          <a:xfrm>
            <a:off x="9427464" y="3364992"/>
            <a:ext cx="2487168"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27464" y="3493008"/>
            <a:ext cx="2514600" cy="868680"/>
          </a:xfrm>
          <a:prstGeom prst="rect">
            <a:avLst/>
          </a:prstGeom>
          <a:noFill/>
        </p:spPr>
        <p:txBody>
          <a:bodyPr wrap="square">
            <a:spAutoFit/>
          </a:bodyPr>
          <a:lstStyle/>
          <a:p>
            <a:pPr algn="l"/>
            <a:r>
              <a:rPr sz="1000" b="0" i="0">
                <a:solidFill>
                  <a:srgbClr val="999999"/>
                </a:solidFill>
                <a:latin typeface="Arial"/>
              </a:rPr>
              <a:t>One equation.
Derived entirely from the building's
own topological structure.</a:t>
            </a:r>
          </a:p>
        </p:txBody>
      </p:sp>
      <p:sp>
        <p:nvSpPr>
          <p:cNvPr id="30" name="TextBox 29"/>
          <p:cNvSpPr txBox="1"/>
          <p:nvPr/>
        </p:nvSpPr>
        <p:spPr>
          <a:xfrm>
            <a:off x="457200" y="5961888"/>
            <a:ext cx="11731752" cy="457200"/>
          </a:xfrm>
          <a:prstGeom prst="rect">
            <a:avLst/>
          </a:prstGeom>
          <a:noFill/>
        </p:spPr>
        <p:txBody>
          <a:bodyPr wrap="square">
            <a:spAutoFit/>
          </a:bodyPr>
          <a:lstStyle/>
          <a:p>
            <a:pPr algn="ctr"/>
            <a:r>
              <a:rPr sz="1400" b="0" i="1">
                <a:solidFill>
                  <a:srgbClr val="D4A888"/>
                </a:solidFill>
                <a:latin typeface="Arial"/>
              </a:rPr>
              <a:t>The promenade is the access graph of the lost apartment, made walkable.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WORKFLOW</a:t>
            </a:r>
          </a:p>
        </p:txBody>
      </p:sp>
      <p:sp>
        <p:nvSpPr>
          <p:cNvPr id="3" name="TextBox 2"/>
          <p:cNvSpPr txBox="1"/>
          <p:nvPr/>
        </p:nvSpPr>
        <p:spPr>
          <a:xfrm>
            <a:off x="457200" y="475488"/>
            <a:ext cx="7315200" cy="566928"/>
          </a:xfrm>
          <a:prstGeom prst="rect">
            <a:avLst/>
          </a:prstGeom>
          <a:noFill/>
        </p:spPr>
        <p:txBody>
          <a:bodyPr wrap="square">
            <a:spAutoFit/>
          </a:bodyPr>
          <a:lstStyle/>
          <a:p>
            <a:pPr algn="l"/>
            <a:r>
              <a:rPr sz="2800" b="1" i="0">
                <a:solidFill>
                  <a:srgbClr val="FFFFFF"/>
                </a:solidFill>
                <a:latin typeface="Arial"/>
              </a:rPr>
              <a:t>Analysis Pipeline</a:t>
            </a:r>
          </a:p>
        </p:txBody>
      </p:sp>
      <p:sp>
        <p:nvSpPr>
          <p:cNvPr id="4" name="Rectangle 3"/>
          <p:cNvSpPr/>
          <p:nvPr/>
        </p:nvSpPr>
        <p:spPr>
          <a:xfrm>
            <a:off x="457200" y="1115568"/>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59"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59" y="1335024"/>
            <a:ext cx="50292" cy="1389888"/>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408176"/>
            <a:ext cx="2212848" cy="228600"/>
          </a:xfrm>
          <a:prstGeom prst="rect">
            <a:avLst/>
          </a:prstGeom>
          <a:noFill/>
        </p:spPr>
        <p:txBody>
          <a:bodyPr wrap="square">
            <a:spAutoFit/>
          </a:bodyPr>
          <a:lstStyle/>
          <a:p>
            <a:pPr algn="l"/>
            <a:r>
              <a:rPr sz="850" b="1" i="0">
                <a:solidFill>
                  <a:srgbClr val="B07858"/>
                </a:solidFill>
                <a:latin typeface="Arial"/>
              </a:rPr>
              <a:t>01</a:t>
            </a:r>
          </a:p>
        </p:txBody>
      </p:sp>
      <p:sp>
        <p:nvSpPr>
          <p:cNvPr id="8" name="TextBox 7"/>
          <p:cNvSpPr txBox="1"/>
          <p:nvPr/>
        </p:nvSpPr>
        <p:spPr>
          <a:xfrm>
            <a:off x="978407" y="1655064"/>
            <a:ext cx="2212848" cy="347472"/>
          </a:xfrm>
          <a:prstGeom prst="rect">
            <a:avLst/>
          </a:prstGeom>
          <a:noFill/>
        </p:spPr>
        <p:txBody>
          <a:bodyPr wrap="square">
            <a:spAutoFit/>
          </a:bodyPr>
          <a:lstStyle/>
          <a:p>
            <a:pPr algn="l"/>
            <a:r>
              <a:rPr sz="1100" b="1" i="0">
                <a:solidFill>
                  <a:srgbClr val="FFFFFF"/>
                </a:solidFill>
                <a:latin typeface="Arial"/>
              </a:rPr>
              <a:t>Rhino Geometry</a:t>
            </a:r>
          </a:p>
        </p:txBody>
      </p:sp>
      <p:sp>
        <p:nvSpPr>
          <p:cNvPr id="9" name="TextBox 8"/>
          <p:cNvSpPr txBox="1"/>
          <p:nvPr/>
        </p:nvSpPr>
        <p:spPr>
          <a:xfrm>
            <a:off x="978407" y="2020824"/>
            <a:ext cx="2212848" cy="694944"/>
          </a:xfrm>
          <a:prstGeom prst="rect">
            <a:avLst/>
          </a:prstGeom>
          <a:noFill/>
        </p:spPr>
        <p:txBody>
          <a:bodyPr wrap="square">
            <a:spAutoFit/>
          </a:bodyPr>
          <a:lstStyle/>
          <a:p>
            <a:pPr algn="l"/>
            <a:r>
              <a:rPr sz="850" b="0" i="0">
                <a:solidFill>
                  <a:srgbClr val="999999"/>
                </a:solidFill>
                <a:latin typeface="Arial"/>
              </a:rPr>
              <a:t>Closed room solids.
Door aperture faces
exported as OBJ.</a:t>
            </a:r>
          </a:p>
        </p:txBody>
      </p:sp>
      <p:sp>
        <p:nvSpPr>
          <p:cNvPr id="10" name="Right Arrow 9"/>
          <p:cNvSpPr/>
          <p:nvPr/>
        </p:nvSpPr>
        <p:spPr>
          <a:xfrm>
            <a:off x="3255263" y="1929384"/>
            <a:ext cx="246887"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38728"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38728" y="1335024"/>
            <a:ext cx="50292" cy="1389888"/>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1408176"/>
            <a:ext cx="2212848" cy="228600"/>
          </a:xfrm>
          <a:prstGeom prst="rect">
            <a:avLst/>
          </a:prstGeom>
          <a:noFill/>
        </p:spPr>
        <p:txBody>
          <a:bodyPr wrap="square">
            <a:spAutoFit/>
          </a:bodyPr>
          <a:lstStyle/>
          <a:p>
            <a:pPr algn="l"/>
            <a:r>
              <a:rPr sz="850" b="1" i="0">
                <a:solidFill>
                  <a:srgbClr val="B07858"/>
                </a:solidFill>
                <a:latin typeface="Arial"/>
              </a:rPr>
              <a:t>02</a:t>
            </a:r>
          </a:p>
        </p:txBody>
      </p:sp>
      <p:sp>
        <p:nvSpPr>
          <p:cNvPr id="14" name="TextBox 13"/>
          <p:cNvSpPr txBox="1"/>
          <p:nvPr/>
        </p:nvSpPr>
        <p:spPr>
          <a:xfrm>
            <a:off x="3694176" y="1655064"/>
            <a:ext cx="2212848" cy="347472"/>
          </a:xfrm>
          <a:prstGeom prst="rect">
            <a:avLst/>
          </a:prstGeom>
          <a:noFill/>
        </p:spPr>
        <p:txBody>
          <a:bodyPr wrap="square">
            <a:spAutoFit/>
          </a:bodyPr>
          <a:lstStyle/>
          <a:p>
            <a:pPr algn="l"/>
            <a:r>
              <a:rPr sz="1100" b="1" i="0">
                <a:solidFill>
                  <a:srgbClr val="FFFFFF"/>
                </a:solidFill>
                <a:latin typeface="Arial"/>
              </a:rPr>
              <a:t>CellComplex</a:t>
            </a:r>
          </a:p>
        </p:txBody>
      </p:sp>
      <p:sp>
        <p:nvSpPr>
          <p:cNvPr id="15" name="TextBox 14"/>
          <p:cNvSpPr txBox="1"/>
          <p:nvPr/>
        </p:nvSpPr>
        <p:spPr>
          <a:xfrm>
            <a:off x="3694176" y="2020824"/>
            <a:ext cx="2212848" cy="694944"/>
          </a:xfrm>
          <a:prstGeom prst="rect">
            <a:avLst/>
          </a:prstGeom>
          <a:noFill/>
        </p:spPr>
        <p:txBody>
          <a:bodyPr wrap="square">
            <a:spAutoFit/>
          </a:bodyPr>
          <a:lstStyle/>
          <a:p>
            <a:pPr algn="l"/>
            <a:r>
              <a:rPr sz="850" b="0" i="0">
                <a:solidFill>
                  <a:srgbClr val="999999"/>
                </a:solidFill>
                <a:latin typeface="Arial"/>
              </a:rPr>
              <a:t>TopologicPy reads OBJ.
Builds 3D cell adjacency
from shared faces.</a:t>
            </a:r>
          </a:p>
        </p:txBody>
      </p:sp>
      <p:sp>
        <p:nvSpPr>
          <p:cNvPr id="16" name="Right Arrow 15"/>
          <p:cNvSpPr/>
          <p:nvPr/>
        </p:nvSpPr>
        <p:spPr>
          <a:xfrm>
            <a:off x="5971032" y="1929384"/>
            <a:ext cx="246887"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4496" y="1335024"/>
            <a:ext cx="50292" cy="1389888"/>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9944" y="1408176"/>
            <a:ext cx="2212848" cy="228600"/>
          </a:xfrm>
          <a:prstGeom prst="rect">
            <a:avLst/>
          </a:prstGeom>
          <a:noFill/>
        </p:spPr>
        <p:txBody>
          <a:bodyPr wrap="square">
            <a:spAutoFit/>
          </a:bodyPr>
          <a:lstStyle/>
          <a:p>
            <a:pPr algn="l"/>
            <a:r>
              <a:rPr sz="850" b="1" i="0">
                <a:solidFill>
                  <a:srgbClr val="B07858"/>
                </a:solidFill>
                <a:latin typeface="Arial"/>
              </a:rPr>
              <a:t>03</a:t>
            </a:r>
          </a:p>
        </p:txBody>
      </p:sp>
      <p:sp>
        <p:nvSpPr>
          <p:cNvPr id="20" name="TextBox 19"/>
          <p:cNvSpPr txBox="1"/>
          <p:nvPr/>
        </p:nvSpPr>
        <p:spPr>
          <a:xfrm>
            <a:off x="6409944" y="1655064"/>
            <a:ext cx="2212848" cy="347472"/>
          </a:xfrm>
          <a:prstGeom prst="rect">
            <a:avLst/>
          </a:prstGeom>
          <a:noFill/>
        </p:spPr>
        <p:txBody>
          <a:bodyPr wrap="square">
            <a:spAutoFit/>
          </a:bodyPr>
          <a:lstStyle/>
          <a:p>
            <a:pPr algn="l"/>
            <a:r>
              <a:rPr sz="1100" b="1" i="0">
                <a:solidFill>
                  <a:srgbClr val="FFFFFF"/>
                </a:solidFill>
                <a:latin typeface="Arial"/>
              </a:rPr>
              <a:t>Graph Construction</a:t>
            </a:r>
          </a:p>
        </p:txBody>
      </p:sp>
      <p:sp>
        <p:nvSpPr>
          <p:cNvPr id="21" name="TextBox 20"/>
          <p:cNvSpPr txBox="1"/>
          <p:nvPr/>
        </p:nvSpPr>
        <p:spPr>
          <a:xfrm>
            <a:off x="6409944" y="2020824"/>
            <a:ext cx="2212848" cy="694944"/>
          </a:xfrm>
          <a:prstGeom prst="rect">
            <a:avLst/>
          </a:prstGeom>
          <a:noFill/>
        </p:spPr>
        <p:txBody>
          <a:bodyPr wrap="square">
            <a:spAutoFit/>
          </a:bodyPr>
          <a:lstStyle/>
          <a:p>
            <a:pPr algn="l"/>
            <a:r>
              <a:rPr sz="850" b="0" i="0">
                <a:solidFill>
                  <a:srgbClr val="999999"/>
                </a:solidFill>
                <a:latin typeface="Arial"/>
              </a:rPr>
              <a:t>Adjacency graph g1
(all shared faces) +
Access graph g2 (doors only).</a:t>
            </a:r>
          </a:p>
        </p:txBody>
      </p:sp>
      <p:sp>
        <p:nvSpPr>
          <p:cNvPr id="22" name="Right Arrow 21"/>
          <p:cNvSpPr/>
          <p:nvPr/>
        </p:nvSpPr>
        <p:spPr>
          <a:xfrm>
            <a:off x="8686800" y="1929384"/>
            <a:ext cx="246887"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70264" y="1335024"/>
            <a:ext cx="2395728" cy="1389888"/>
          </a:xfrm>
          <a:prstGeom prst="rect">
            <a:avLst/>
          </a:prstGeom>
          <a:solidFill>
            <a:srgbClr val="1C1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0264" y="1335024"/>
            <a:ext cx="50292" cy="1389888"/>
          </a:xfrm>
          <a:prstGeom prst="rect">
            <a:avLst/>
          </a:prstGeom>
          <a:solidFill>
            <a:srgbClr val="D4A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5712" y="1408176"/>
            <a:ext cx="2212848" cy="228600"/>
          </a:xfrm>
          <a:prstGeom prst="rect">
            <a:avLst/>
          </a:prstGeom>
          <a:noFill/>
        </p:spPr>
        <p:txBody>
          <a:bodyPr wrap="square">
            <a:spAutoFit/>
          </a:bodyPr>
          <a:lstStyle/>
          <a:p>
            <a:pPr algn="l"/>
            <a:r>
              <a:rPr sz="850" b="1" i="0">
                <a:solidFill>
                  <a:srgbClr val="D4A888"/>
                </a:solidFill>
                <a:latin typeface="Arial"/>
              </a:rPr>
              <a:t>04</a:t>
            </a:r>
          </a:p>
        </p:txBody>
      </p:sp>
      <p:sp>
        <p:nvSpPr>
          <p:cNvPr id="26" name="TextBox 25"/>
          <p:cNvSpPr txBox="1"/>
          <p:nvPr/>
        </p:nvSpPr>
        <p:spPr>
          <a:xfrm>
            <a:off x="9125712" y="1655064"/>
            <a:ext cx="2212848" cy="347472"/>
          </a:xfrm>
          <a:prstGeom prst="rect">
            <a:avLst/>
          </a:prstGeom>
          <a:noFill/>
        </p:spPr>
        <p:txBody>
          <a:bodyPr wrap="square">
            <a:spAutoFit/>
          </a:bodyPr>
          <a:lstStyle/>
          <a:p>
            <a:pPr algn="l"/>
            <a:r>
              <a:rPr sz="1100" b="1" i="0">
                <a:solidFill>
                  <a:srgbClr val="FFFFFF"/>
                </a:solidFill>
                <a:latin typeface="Arial"/>
              </a:rPr>
              <a:t>BFS Depth Analysis</a:t>
            </a:r>
          </a:p>
        </p:txBody>
      </p:sp>
      <p:sp>
        <p:nvSpPr>
          <p:cNvPr id="27" name="TextBox 26"/>
          <p:cNvSpPr txBox="1"/>
          <p:nvPr/>
        </p:nvSpPr>
        <p:spPr>
          <a:xfrm>
            <a:off x="9125712" y="2020824"/>
            <a:ext cx="2212848" cy="694944"/>
          </a:xfrm>
          <a:prstGeom prst="rect">
            <a:avLst/>
          </a:prstGeom>
          <a:noFill/>
        </p:spPr>
        <p:txBody>
          <a:bodyPr wrap="square">
            <a:spAutoFit/>
          </a:bodyPr>
          <a:lstStyle/>
          <a:p>
            <a:pPr algn="l"/>
            <a:r>
              <a:rPr sz="850" b="0" i="0">
                <a:solidFill>
                  <a:srgbClr val="999999"/>
                </a:solidFill>
                <a:latin typeface="Arial"/>
              </a:rPr>
              <a:t>NetworkX BFS from
staircase landing.
Hop count per room.</a:t>
            </a:r>
          </a:p>
        </p:txBody>
      </p:sp>
      <p:sp>
        <p:nvSpPr>
          <p:cNvPr id="28" name="Down Arrow 27"/>
          <p:cNvSpPr/>
          <p:nvPr/>
        </p:nvSpPr>
        <p:spPr>
          <a:xfrm>
            <a:off x="10067544" y="2779776"/>
            <a:ext cx="201168" cy="493776"/>
          </a:xfrm>
          <a:prstGeom prst="downArrow">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0264" y="3310128"/>
            <a:ext cx="2395728" cy="1389888"/>
          </a:xfrm>
          <a:prstGeom prst="rect">
            <a:avLst/>
          </a:prstGeom>
          <a:solidFill>
            <a:srgbClr val="1C1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70264" y="3310128"/>
            <a:ext cx="50292" cy="1389888"/>
          </a:xfrm>
          <a:prstGeom prst="rect">
            <a:avLst/>
          </a:prstGeom>
          <a:solidFill>
            <a:srgbClr val="D4A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25712" y="3383280"/>
            <a:ext cx="2212848" cy="228600"/>
          </a:xfrm>
          <a:prstGeom prst="rect">
            <a:avLst/>
          </a:prstGeom>
          <a:noFill/>
        </p:spPr>
        <p:txBody>
          <a:bodyPr wrap="square">
            <a:spAutoFit/>
          </a:bodyPr>
          <a:lstStyle/>
          <a:p>
            <a:pPr algn="l"/>
            <a:r>
              <a:rPr sz="850" b="1" i="0">
                <a:solidFill>
                  <a:srgbClr val="D4A888"/>
                </a:solidFill>
                <a:latin typeface="Arial"/>
              </a:rPr>
              <a:t>05</a:t>
            </a:r>
          </a:p>
        </p:txBody>
      </p:sp>
      <p:sp>
        <p:nvSpPr>
          <p:cNvPr id="32" name="TextBox 31"/>
          <p:cNvSpPr txBox="1"/>
          <p:nvPr/>
        </p:nvSpPr>
        <p:spPr>
          <a:xfrm>
            <a:off x="9125712" y="3630168"/>
            <a:ext cx="2212848" cy="347472"/>
          </a:xfrm>
          <a:prstGeom prst="rect">
            <a:avLst/>
          </a:prstGeom>
          <a:noFill/>
        </p:spPr>
        <p:txBody>
          <a:bodyPr wrap="square">
            <a:spAutoFit/>
          </a:bodyPr>
          <a:lstStyle/>
          <a:p>
            <a:pPr algn="l"/>
            <a:r>
              <a:rPr sz="1100" b="1" i="0">
                <a:solidFill>
                  <a:srgbClr val="FFFFFF"/>
                </a:solidFill>
                <a:latin typeface="Arial"/>
              </a:rPr>
              <a:t>Slab Formula</a:t>
            </a:r>
          </a:p>
        </p:txBody>
      </p:sp>
      <p:sp>
        <p:nvSpPr>
          <p:cNvPr id="33" name="TextBox 32"/>
          <p:cNvSpPr txBox="1"/>
          <p:nvPr/>
        </p:nvSpPr>
        <p:spPr>
          <a:xfrm>
            <a:off x="9125712" y="3995928"/>
            <a:ext cx="2212848" cy="694944"/>
          </a:xfrm>
          <a:prstGeom prst="rect">
            <a:avLst/>
          </a:prstGeom>
          <a:noFill/>
        </p:spPr>
        <p:txBody>
          <a:bodyPr wrap="square">
            <a:spAutoFit/>
          </a:bodyPr>
          <a:lstStyle/>
          <a:p>
            <a:pPr algn="l"/>
            <a:r>
              <a:rPr sz="850" b="0" i="0">
                <a:solidFill>
                  <a:srgbClr val="999999"/>
                </a:solidFill>
                <a:latin typeface="Arial"/>
              </a:rPr>
              <a:t>slab Z = -step x depth
Rhino: memorial slabs
+ step-bridges.</a:t>
            </a:r>
          </a:p>
        </p:txBody>
      </p:sp>
      <p:sp>
        <p:nvSpPr>
          <p:cNvPr id="34" name="Left Arrow 33"/>
          <p:cNvSpPr/>
          <p:nvPr/>
        </p:nvSpPr>
        <p:spPr>
          <a:xfrm>
            <a:off x="8686800" y="3904487"/>
            <a:ext cx="246887" cy="201168"/>
          </a:xfrm>
          <a:prstGeom prst="lef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54496" y="3310128"/>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54496" y="3310128"/>
            <a:ext cx="50292" cy="1389888"/>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9944" y="3383280"/>
            <a:ext cx="2212848" cy="228600"/>
          </a:xfrm>
          <a:prstGeom prst="rect">
            <a:avLst/>
          </a:prstGeom>
          <a:noFill/>
        </p:spPr>
        <p:txBody>
          <a:bodyPr wrap="square">
            <a:spAutoFit/>
          </a:bodyPr>
          <a:lstStyle/>
          <a:p>
            <a:pPr algn="l"/>
            <a:r>
              <a:rPr sz="850" b="1" i="0">
                <a:solidFill>
                  <a:srgbClr val="B07858"/>
                </a:solidFill>
                <a:latin typeface="Arial"/>
              </a:rPr>
              <a:t>06</a:t>
            </a:r>
          </a:p>
        </p:txBody>
      </p:sp>
      <p:sp>
        <p:nvSpPr>
          <p:cNvPr id="38" name="TextBox 37"/>
          <p:cNvSpPr txBox="1"/>
          <p:nvPr/>
        </p:nvSpPr>
        <p:spPr>
          <a:xfrm>
            <a:off x="6409944" y="3630168"/>
            <a:ext cx="2212848" cy="347472"/>
          </a:xfrm>
          <a:prstGeom prst="rect">
            <a:avLst/>
          </a:prstGeom>
          <a:noFill/>
        </p:spPr>
        <p:txBody>
          <a:bodyPr wrap="square">
            <a:spAutoFit/>
          </a:bodyPr>
          <a:lstStyle/>
          <a:p>
            <a:pPr algn="l"/>
            <a:r>
              <a:rPr sz="1100" b="1" i="0">
                <a:solidFill>
                  <a:srgbClr val="FFFFFF"/>
                </a:solidFill>
                <a:latin typeface="Arial"/>
              </a:rPr>
              <a:t>Combined Graph</a:t>
            </a:r>
          </a:p>
        </p:txBody>
      </p:sp>
      <p:sp>
        <p:nvSpPr>
          <p:cNvPr id="39" name="TextBox 38"/>
          <p:cNvSpPr txBox="1"/>
          <p:nvPr/>
        </p:nvSpPr>
        <p:spPr>
          <a:xfrm>
            <a:off x="6409944" y="3995928"/>
            <a:ext cx="2212848" cy="694944"/>
          </a:xfrm>
          <a:prstGeom prst="rect">
            <a:avLst/>
          </a:prstGeom>
          <a:noFill/>
        </p:spPr>
        <p:txBody>
          <a:bodyPr wrap="square">
            <a:spAutoFit/>
          </a:bodyPr>
          <a:lstStyle/>
          <a:p>
            <a:pPr algn="l"/>
            <a:r>
              <a:rPr sz="850" b="0" i="0">
                <a:solidFill>
                  <a:srgbClr val="999999"/>
                </a:solidFill>
                <a:latin typeface="Arial"/>
              </a:rPr>
              <a:t>Intact section +
damaged block +
memorial in one graph.</a:t>
            </a:r>
          </a:p>
        </p:txBody>
      </p:sp>
      <p:sp>
        <p:nvSpPr>
          <p:cNvPr id="40" name="Left Arrow 39"/>
          <p:cNvSpPr/>
          <p:nvPr/>
        </p:nvSpPr>
        <p:spPr>
          <a:xfrm>
            <a:off x="5971032" y="3904487"/>
            <a:ext cx="246887" cy="201168"/>
          </a:xfrm>
          <a:prstGeom prst="lef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538728" y="3310128"/>
            <a:ext cx="2395728" cy="1389888"/>
          </a:xfrm>
          <a:prstGeom prst="rect">
            <a:avLst/>
          </a:prstGeom>
          <a:solidFill>
            <a:srgbClr val="0C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538728" y="3310128"/>
            <a:ext cx="50292" cy="1389888"/>
          </a:xfrm>
          <a:prstGeom prst="rect">
            <a:avLst/>
          </a:prstGeom>
          <a:solidFill>
            <a:srgbClr val="448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4176" y="3383280"/>
            <a:ext cx="2212848" cy="228600"/>
          </a:xfrm>
          <a:prstGeom prst="rect">
            <a:avLst/>
          </a:prstGeom>
          <a:noFill/>
        </p:spPr>
        <p:txBody>
          <a:bodyPr wrap="square">
            <a:spAutoFit/>
          </a:bodyPr>
          <a:lstStyle/>
          <a:p>
            <a:pPr algn="l"/>
            <a:r>
              <a:rPr sz="850" b="1" i="0">
                <a:solidFill>
                  <a:srgbClr val="448844"/>
                </a:solidFill>
                <a:latin typeface="Arial"/>
              </a:rPr>
              <a:t>07</a:t>
            </a:r>
          </a:p>
        </p:txBody>
      </p:sp>
      <p:sp>
        <p:nvSpPr>
          <p:cNvPr id="44" name="TextBox 43"/>
          <p:cNvSpPr txBox="1"/>
          <p:nvPr/>
        </p:nvSpPr>
        <p:spPr>
          <a:xfrm>
            <a:off x="3694176" y="3630168"/>
            <a:ext cx="2212848" cy="347472"/>
          </a:xfrm>
          <a:prstGeom prst="rect">
            <a:avLst/>
          </a:prstGeom>
          <a:noFill/>
        </p:spPr>
        <p:txBody>
          <a:bodyPr wrap="square">
            <a:spAutoFit/>
          </a:bodyPr>
          <a:lstStyle/>
          <a:p>
            <a:pPr algn="l"/>
            <a:r>
              <a:rPr sz="1100" b="1" i="0">
                <a:solidFill>
                  <a:srgbClr val="FFFFFF"/>
                </a:solidFill>
                <a:latin typeface="Arial"/>
              </a:rPr>
              <a:t>Feature Encoding</a:t>
            </a:r>
          </a:p>
        </p:txBody>
      </p:sp>
      <p:sp>
        <p:nvSpPr>
          <p:cNvPr id="45" name="TextBox 44"/>
          <p:cNvSpPr txBox="1"/>
          <p:nvPr/>
        </p:nvSpPr>
        <p:spPr>
          <a:xfrm>
            <a:off x="3694176" y="3995928"/>
            <a:ext cx="2212848" cy="694944"/>
          </a:xfrm>
          <a:prstGeom prst="rect">
            <a:avLst/>
          </a:prstGeom>
          <a:noFill/>
        </p:spPr>
        <p:txBody>
          <a:bodyPr wrap="square">
            <a:spAutoFit/>
          </a:bodyPr>
          <a:lstStyle/>
          <a:p>
            <a:pPr algn="l"/>
            <a:r>
              <a:rPr sz="850" b="0" i="0">
                <a:solidFill>
                  <a:srgbClr val="999999"/>
                </a:solidFill>
                <a:latin typeface="Arial"/>
              </a:rPr>
              <a:t>7-dim node vector:
4 zoning one-hot +
3 connectivity ratios.</a:t>
            </a:r>
          </a:p>
        </p:txBody>
      </p:sp>
      <p:sp>
        <p:nvSpPr>
          <p:cNvPr id="46" name="Left Arrow 45"/>
          <p:cNvSpPr/>
          <p:nvPr/>
        </p:nvSpPr>
        <p:spPr>
          <a:xfrm>
            <a:off x="3255263" y="3904487"/>
            <a:ext cx="246887" cy="201168"/>
          </a:xfrm>
          <a:prstGeom prst="lef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2959" y="3310128"/>
            <a:ext cx="2395728" cy="1389888"/>
          </a:xfrm>
          <a:prstGeom prst="rect">
            <a:avLst/>
          </a:prstGeom>
          <a:solidFill>
            <a:srgbClr val="0C1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2959" y="3310128"/>
            <a:ext cx="50292" cy="1389888"/>
          </a:xfrm>
          <a:prstGeom prst="rect">
            <a:avLst/>
          </a:prstGeom>
          <a:solidFill>
            <a:srgbClr val="448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8407" y="3383280"/>
            <a:ext cx="2212848" cy="228600"/>
          </a:xfrm>
          <a:prstGeom prst="rect">
            <a:avLst/>
          </a:prstGeom>
          <a:noFill/>
        </p:spPr>
        <p:txBody>
          <a:bodyPr wrap="square">
            <a:spAutoFit/>
          </a:bodyPr>
          <a:lstStyle/>
          <a:p>
            <a:pPr algn="l"/>
            <a:r>
              <a:rPr sz="850" b="1" i="0">
                <a:solidFill>
                  <a:srgbClr val="448844"/>
                </a:solidFill>
                <a:latin typeface="Arial"/>
              </a:rPr>
              <a:t>08</a:t>
            </a:r>
          </a:p>
        </p:txBody>
      </p:sp>
      <p:sp>
        <p:nvSpPr>
          <p:cNvPr id="50" name="TextBox 49"/>
          <p:cNvSpPr txBox="1"/>
          <p:nvPr/>
        </p:nvSpPr>
        <p:spPr>
          <a:xfrm>
            <a:off x="978407" y="3630168"/>
            <a:ext cx="2212848" cy="347472"/>
          </a:xfrm>
          <a:prstGeom prst="rect">
            <a:avLst/>
          </a:prstGeom>
          <a:noFill/>
        </p:spPr>
        <p:txBody>
          <a:bodyPr wrap="square">
            <a:spAutoFit/>
          </a:bodyPr>
          <a:lstStyle/>
          <a:p>
            <a:pPr algn="l"/>
            <a:r>
              <a:rPr sz="1100" b="1" i="0">
                <a:solidFill>
                  <a:srgbClr val="FFFFFF"/>
                </a:solidFill>
                <a:latin typeface="Arial"/>
              </a:rPr>
              <a:t>ML Prediction</a:t>
            </a:r>
          </a:p>
        </p:txBody>
      </p:sp>
      <p:sp>
        <p:nvSpPr>
          <p:cNvPr id="51" name="TextBox 50"/>
          <p:cNvSpPr txBox="1"/>
          <p:nvPr/>
        </p:nvSpPr>
        <p:spPr>
          <a:xfrm>
            <a:off x="978407" y="3995928"/>
            <a:ext cx="2212848" cy="694944"/>
          </a:xfrm>
          <a:prstGeom prst="rect">
            <a:avLst/>
          </a:prstGeom>
          <a:noFill/>
        </p:spPr>
        <p:txBody>
          <a:bodyPr wrap="square">
            <a:spAutoFit/>
          </a:bodyPr>
          <a:lstStyle/>
          <a:p>
            <a:pPr algn="l"/>
            <a:r>
              <a:rPr sz="850" b="0" i="0">
                <a:solidFill>
                  <a:srgbClr val="999999"/>
                </a:solidFill>
                <a:latin typeface="Arial"/>
              </a:rPr>
              <a:t>Pretrained GraphSAGE
(MSD dataset) predicts
new room functions.</a:t>
            </a:r>
          </a:p>
        </p:txBody>
      </p:sp>
      <p:sp>
        <p:nvSpPr>
          <p:cNvPr id="52" name="TextBox 51"/>
          <p:cNvSpPr txBox="1"/>
          <p:nvPr/>
        </p:nvSpPr>
        <p:spPr>
          <a:xfrm>
            <a:off x="822959" y="4864608"/>
            <a:ext cx="10972800" cy="320040"/>
          </a:xfrm>
          <a:prstGeom prst="rect">
            <a:avLst/>
          </a:prstGeom>
          <a:noFill/>
        </p:spPr>
        <p:txBody>
          <a:bodyPr wrap="square">
            <a:spAutoFit/>
          </a:bodyPr>
          <a:lstStyle/>
          <a:p>
            <a:pPr algn="l"/>
            <a:r>
              <a:rPr sz="950" b="0" i="1">
                <a:solidFill>
                  <a:srgbClr val="D4A888"/>
                </a:solidFill>
                <a:latin typeface="Arial"/>
              </a:rPr>
              <a:t>Output: 90 corridor  +  63 kitchen  +  9 livingroom  --  predicted new functions for 162 surviving rooms</a:t>
            </a:r>
          </a:p>
        </p:txBody>
      </p:sp>
      <p:sp>
        <p:nvSpPr>
          <p:cNvPr id="53" name="Rectangle 52"/>
          <p:cNvSpPr/>
          <p:nvPr/>
        </p:nvSpPr>
        <p:spPr>
          <a:xfrm>
            <a:off x="457200" y="6309360"/>
            <a:ext cx="137160" cy="13716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368" y="6281928"/>
            <a:ext cx="2011680" cy="228600"/>
          </a:xfrm>
          <a:prstGeom prst="rect">
            <a:avLst/>
          </a:prstGeom>
          <a:noFill/>
        </p:spPr>
        <p:txBody>
          <a:bodyPr wrap="square">
            <a:spAutoFit/>
          </a:bodyPr>
          <a:lstStyle/>
          <a:p>
            <a:pPr algn="l"/>
            <a:r>
              <a:rPr sz="800" b="0" i="0">
                <a:solidFill>
                  <a:srgbClr val="999999"/>
                </a:solidFill>
                <a:latin typeface="Arial"/>
              </a:rPr>
              <a:t>Geometry / topology</a:t>
            </a:r>
          </a:p>
        </p:txBody>
      </p:sp>
      <p:sp>
        <p:nvSpPr>
          <p:cNvPr id="55" name="Rectangle 54"/>
          <p:cNvSpPr/>
          <p:nvPr/>
        </p:nvSpPr>
        <p:spPr>
          <a:xfrm>
            <a:off x="2743200" y="6309360"/>
            <a:ext cx="137160" cy="137160"/>
          </a:xfrm>
          <a:prstGeom prst="rect">
            <a:avLst/>
          </a:prstGeom>
          <a:solidFill>
            <a:srgbClr val="D4A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44368" y="6281928"/>
            <a:ext cx="2011680" cy="228600"/>
          </a:xfrm>
          <a:prstGeom prst="rect">
            <a:avLst/>
          </a:prstGeom>
          <a:noFill/>
        </p:spPr>
        <p:txBody>
          <a:bodyPr wrap="square">
            <a:spAutoFit/>
          </a:bodyPr>
          <a:lstStyle/>
          <a:p>
            <a:pPr algn="l"/>
            <a:r>
              <a:rPr sz="800" b="0" i="0">
                <a:solidFill>
                  <a:srgbClr val="999999"/>
                </a:solidFill>
                <a:latin typeface="Arial"/>
              </a:rPr>
              <a:t>Analysis / design</a:t>
            </a:r>
          </a:p>
        </p:txBody>
      </p:sp>
      <p:sp>
        <p:nvSpPr>
          <p:cNvPr id="57" name="Rectangle 56"/>
          <p:cNvSpPr/>
          <p:nvPr/>
        </p:nvSpPr>
        <p:spPr>
          <a:xfrm>
            <a:off x="5029200" y="6309360"/>
            <a:ext cx="137160" cy="137160"/>
          </a:xfrm>
          <a:prstGeom prst="rect">
            <a:avLst/>
          </a:prstGeom>
          <a:solidFill>
            <a:srgbClr val="448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30368" y="6281928"/>
            <a:ext cx="2011680" cy="228600"/>
          </a:xfrm>
          <a:prstGeom prst="rect">
            <a:avLst/>
          </a:prstGeom>
          <a:noFill/>
        </p:spPr>
        <p:txBody>
          <a:bodyPr wrap="square">
            <a:spAutoFit/>
          </a:bodyPr>
          <a:lstStyle/>
          <a:p>
            <a:pPr algn="l"/>
            <a:r>
              <a:rPr sz="800" b="0" i="0">
                <a:solidFill>
                  <a:srgbClr val="999999"/>
                </a:solidFill>
                <a:latin typeface="Arial"/>
              </a:rPr>
              <a: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3 -- GRAPH CONSTRUCTION</a:t>
            </a:r>
          </a:p>
        </p:txBody>
      </p:sp>
      <p:sp>
        <p:nvSpPr>
          <p:cNvPr id="3" name="TextBox 2"/>
          <p:cNvSpPr txBox="1"/>
          <p:nvPr/>
        </p:nvSpPr>
        <p:spPr>
          <a:xfrm>
            <a:off x="457200" y="475488"/>
            <a:ext cx="7315200" cy="594360"/>
          </a:xfrm>
          <a:prstGeom prst="rect">
            <a:avLst/>
          </a:prstGeom>
          <a:noFill/>
        </p:spPr>
        <p:txBody>
          <a:bodyPr wrap="square">
            <a:spAutoFit/>
          </a:bodyPr>
          <a:lstStyle/>
          <a:p>
            <a:pPr algn="l"/>
            <a:r>
              <a:rPr sz="2800" b="1" i="0">
                <a:solidFill>
                  <a:srgbClr val="FFFFFF"/>
                </a:solidFill>
                <a:latin typeface="Arial"/>
              </a:rPr>
              <a:t>Why Two Graphs?</a:t>
            </a:r>
          </a:p>
        </p:txBody>
      </p:sp>
      <p:sp>
        <p:nvSpPr>
          <p:cNvPr id="4" name="Rectangle 3"/>
          <p:cNvSpPr/>
          <p:nvPr/>
        </p:nvSpPr>
        <p:spPr>
          <a:xfrm>
            <a:off x="457200" y="1133856"/>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61872"/>
            <a:ext cx="5394960" cy="25786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61872"/>
            <a:ext cx="54864" cy="2578608"/>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5029200" cy="347472"/>
          </a:xfrm>
          <a:prstGeom prst="rect">
            <a:avLst/>
          </a:prstGeom>
          <a:noFill/>
        </p:spPr>
        <p:txBody>
          <a:bodyPr wrap="square">
            <a:spAutoFit/>
          </a:bodyPr>
          <a:lstStyle/>
          <a:p>
            <a:pPr algn="l"/>
            <a:r>
              <a:rPr sz="1100" b="1" i="0">
                <a:solidFill>
                  <a:srgbClr val="FFFFFF"/>
                </a:solidFill>
                <a:latin typeface="Arial"/>
              </a:rPr>
              <a:t>g1   Adjacency graph      direct = True</a:t>
            </a:r>
          </a:p>
        </p:txBody>
      </p:sp>
      <p:sp>
        <p:nvSpPr>
          <p:cNvPr id="8" name="TextBox 7"/>
          <p:cNvSpPr txBox="1"/>
          <p:nvPr/>
        </p:nvSpPr>
        <p:spPr>
          <a:xfrm>
            <a:off x="566928" y="1792224"/>
            <a:ext cx="5074920" cy="1207008"/>
          </a:xfrm>
          <a:prstGeom prst="rect">
            <a:avLst/>
          </a:prstGeom>
          <a:noFill/>
        </p:spPr>
        <p:txBody>
          <a:bodyPr wrap="square">
            <a:spAutoFit/>
          </a:bodyPr>
          <a:lstStyle/>
          <a:p>
            <a:pPr algn="l"/>
            <a:r>
              <a:rPr sz="1000" b="0" i="0">
                <a:solidFill>
                  <a:srgbClr val="999999"/>
                </a:solidFill>
                <a:latin typeface="Arial"/>
              </a:rPr>
              <a:t>Every pair of rooms that share any face creates an edge -- including floors and ceilings. A bedroom on floor 3 connects directly to the bedroom above it on floor 4. The staircase, touching every floor slab, becomes an enormous hub with edges to every room in the building above and below it. The graph is dense and structurally misleading.</a:t>
            </a:r>
          </a:p>
        </p:txBody>
      </p:sp>
      <p:sp>
        <p:nvSpPr>
          <p:cNvPr id="9" name="TextBox 8"/>
          <p:cNvSpPr txBox="1"/>
          <p:nvPr/>
        </p:nvSpPr>
        <p:spPr>
          <a:xfrm>
            <a:off x="566928" y="3520440"/>
            <a:ext cx="5074920" cy="256032"/>
          </a:xfrm>
          <a:prstGeom prst="rect">
            <a:avLst/>
          </a:prstGeom>
          <a:noFill/>
        </p:spPr>
        <p:txBody>
          <a:bodyPr wrap="square">
            <a:spAutoFit/>
          </a:bodyPr>
          <a:lstStyle/>
          <a:p>
            <a:pPr algn="l"/>
            <a:r>
              <a:rPr sz="900" b="0" i="1">
                <a:solidFill>
                  <a:srgbClr val="666666"/>
                </a:solidFill>
                <a:latin typeface="Arial"/>
              </a:rPr>
              <a:t>Useful for: geometry inspection.   Not for: design or ML.</a:t>
            </a:r>
          </a:p>
        </p:txBody>
      </p:sp>
      <p:sp>
        <p:nvSpPr>
          <p:cNvPr id="10" name="Rectangle 9"/>
          <p:cNvSpPr/>
          <p:nvPr/>
        </p:nvSpPr>
        <p:spPr>
          <a:xfrm>
            <a:off x="6053328" y="1261872"/>
            <a:ext cx="5669280" cy="25786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53328" y="1261872"/>
            <a:ext cx="54864" cy="2578608"/>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371600"/>
            <a:ext cx="5349240" cy="347472"/>
          </a:xfrm>
          <a:prstGeom prst="rect">
            <a:avLst/>
          </a:prstGeom>
          <a:noFill/>
        </p:spPr>
        <p:txBody>
          <a:bodyPr wrap="square">
            <a:spAutoFit/>
          </a:bodyPr>
          <a:lstStyle/>
          <a:p>
            <a:pPr algn="l"/>
            <a:r>
              <a:rPr sz="1100" b="1" i="0">
                <a:solidFill>
                  <a:srgbClr val="FFFFFF"/>
                </a:solidFill>
                <a:latin typeface="Arial"/>
              </a:rPr>
              <a:t>g2   Access graph      direct = False,  viaSharedApertures = True</a:t>
            </a:r>
          </a:p>
        </p:txBody>
      </p:sp>
      <p:sp>
        <p:nvSpPr>
          <p:cNvPr id="13" name="TextBox 12"/>
          <p:cNvSpPr txBox="1"/>
          <p:nvPr/>
        </p:nvSpPr>
        <p:spPr>
          <a:xfrm>
            <a:off x="6254496" y="1792224"/>
            <a:ext cx="5394960" cy="1207008"/>
          </a:xfrm>
          <a:prstGeom prst="rect">
            <a:avLst/>
          </a:prstGeom>
          <a:noFill/>
        </p:spPr>
        <p:txBody>
          <a:bodyPr wrap="square">
            <a:spAutoFit/>
          </a:bodyPr>
          <a:lstStyle/>
          <a:p>
            <a:pPr algn="l"/>
            <a:r>
              <a:rPr sz="1000" b="0" i="0">
                <a:solidFill>
                  <a:srgbClr val="999999"/>
                </a:solidFill>
                <a:latin typeface="Arial"/>
              </a:rPr>
              <a:t>Only door aperture faces create edges. The OBJ export explicitly tags which shared faces are entrance doors, room doors, or passage thresholds. Bedrooms and bathrooms become leaf nodes -- reachable from one direction only. The staircase connects only to landings. This graph reflects how a person actually moves through the building.</a:t>
            </a:r>
          </a:p>
        </p:txBody>
      </p:sp>
      <p:sp>
        <p:nvSpPr>
          <p:cNvPr id="14" name="TextBox 13"/>
          <p:cNvSpPr txBox="1"/>
          <p:nvPr/>
        </p:nvSpPr>
        <p:spPr>
          <a:xfrm>
            <a:off x="6254496" y="3520440"/>
            <a:ext cx="5394960" cy="256032"/>
          </a:xfrm>
          <a:prstGeom prst="rect">
            <a:avLst/>
          </a:prstGeom>
          <a:noFill/>
        </p:spPr>
        <p:txBody>
          <a:bodyPr wrap="square">
            <a:spAutoFit/>
          </a:bodyPr>
          <a:lstStyle/>
          <a:p>
            <a:pPr algn="l"/>
            <a:r>
              <a:rPr sz="900" b="0" i="1">
                <a:solidFill>
                  <a:srgbClr val="D4A888"/>
                </a:solidFill>
                <a:latin typeface="Arial"/>
              </a:rPr>
              <a:t>Used for: BFS depth analysis, slab heights, ML feature encoding.</a:t>
            </a:r>
          </a:p>
        </p:txBody>
      </p:sp>
      <p:sp>
        <p:nvSpPr>
          <p:cNvPr id="15" name="Rectangle 14"/>
          <p:cNvSpPr/>
          <p:nvPr/>
        </p:nvSpPr>
        <p:spPr>
          <a:xfrm>
            <a:off x="365760" y="3968496"/>
            <a:ext cx="1145743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96512"/>
            <a:ext cx="11731752" cy="384048"/>
          </a:xfrm>
          <a:prstGeom prst="rect">
            <a:avLst/>
          </a:prstGeom>
          <a:noFill/>
        </p:spPr>
        <p:txBody>
          <a:bodyPr wrap="square">
            <a:spAutoFit/>
          </a:bodyPr>
          <a:lstStyle/>
          <a:p>
            <a:pPr algn="ctr"/>
            <a:r>
              <a:rPr sz="1100" b="0" i="0">
                <a:solidFill>
                  <a:srgbClr val="CCCCCC"/>
                </a:solidFill>
                <a:latin typeface="Arial"/>
              </a:rPr>
              <a:t>The same CellComplex. The same geometry. One flag changes the meaning of an edge -- and with it, the entire analysis.</a:t>
            </a:r>
          </a:p>
        </p:txBody>
      </p:sp>
      <p:sp>
        <p:nvSpPr>
          <p:cNvPr id="17" name="Rectangle 16"/>
          <p:cNvSpPr/>
          <p:nvPr/>
        </p:nvSpPr>
        <p:spPr>
          <a:xfrm>
            <a:off x="365760" y="4645152"/>
            <a:ext cx="3566160" cy="15727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754880"/>
            <a:ext cx="3200400" cy="274320"/>
          </a:xfrm>
          <a:prstGeom prst="rect">
            <a:avLst/>
          </a:prstGeom>
          <a:noFill/>
        </p:spPr>
        <p:txBody>
          <a:bodyPr wrap="square">
            <a:spAutoFit/>
          </a:bodyPr>
          <a:lstStyle/>
          <a:p>
            <a:pPr algn="l"/>
            <a:r>
              <a:rPr sz="900" b="0" i="0">
                <a:solidFill>
                  <a:srgbClr val="999999"/>
                </a:solidFill>
                <a:latin typeface="Arial"/>
              </a:rPr>
              <a:t>306 apertures -- intact section</a:t>
            </a:r>
          </a:p>
        </p:txBody>
      </p:sp>
      <p:sp>
        <p:nvSpPr>
          <p:cNvPr id="19" name="TextBox 18"/>
          <p:cNvSpPr txBox="1"/>
          <p:nvPr/>
        </p:nvSpPr>
        <p:spPr>
          <a:xfrm>
            <a:off x="594360" y="5084064"/>
            <a:ext cx="658368" cy="274320"/>
          </a:xfrm>
          <a:prstGeom prst="rect">
            <a:avLst/>
          </a:prstGeom>
          <a:noFill/>
        </p:spPr>
        <p:txBody>
          <a:bodyPr wrap="square">
            <a:spAutoFit/>
          </a:bodyPr>
          <a:lstStyle/>
          <a:p>
            <a:pPr algn="l"/>
            <a:r>
              <a:rPr sz="1800" b="1" i="0">
                <a:solidFill>
                  <a:srgbClr val="D4A888"/>
                </a:solidFill>
                <a:latin typeface="Arial"/>
              </a:rPr>
              <a:t>36</a:t>
            </a:r>
          </a:p>
        </p:txBody>
      </p:sp>
      <p:sp>
        <p:nvSpPr>
          <p:cNvPr id="20" name="TextBox 19"/>
          <p:cNvSpPr txBox="1"/>
          <p:nvPr/>
        </p:nvSpPr>
        <p:spPr>
          <a:xfrm>
            <a:off x="1353312" y="5120640"/>
            <a:ext cx="2377440" cy="228600"/>
          </a:xfrm>
          <a:prstGeom prst="rect">
            <a:avLst/>
          </a:prstGeom>
          <a:noFill/>
        </p:spPr>
        <p:txBody>
          <a:bodyPr wrap="square">
            <a:spAutoFit/>
          </a:bodyPr>
          <a:lstStyle/>
          <a:p>
            <a:pPr algn="l"/>
            <a:r>
              <a:rPr sz="1000" b="0" i="0">
                <a:solidFill>
                  <a:srgbClr val="999999"/>
                </a:solidFill>
                <a:latin typeface="Arial"/>
              </a:rPr>
              <a:t>entrance doors</a:t>
            </a:r>
          </a:p>
        </p:txBody>
      </p:sp>
      <p:sp>
        <p:nvSpPr>
          <p:cNvPr id="21" name="TextBox 20"/>
          <p:cNvSpPr txBox="1"/>
          <p:nvPr/>
        </p:nvSpPr>
        <p:spPr>
          <a:xfrm>
            <a:off x="594360" y="5449824"/>
            <a:ext cx="658368" cy="274320"/>
          </a:xfrm>
          <a:prstGeom prst="rect">
            <a:avLst/>
          </a:prstGeom>
          <a:noFill/>
        </p:spPr>
        <p:txBody>
          <a:bodyPr wrap="square">
            <a:spAutoFit/>
          </a:bodyPr>
          <a:lstStyle/>
          <a:p>
            <a:pPr algn="l"/>
            <a:r>
              <a:rPr sz="1800" b="1" i="0">
                <a:solidFill>
                  <a:srgbClr val="FFFFFF"/>
                </a:solidFill>
                <a:latin typeface="Arial"/>
              </a:rPr>
              <a:t>252</a:t>
            </a:r>
          </a:p>
        </p:txBody>
      </p:sp>
      <p:sp>
        <p:nvSpPr>
          <p:cNvPr id="22" name="TextBox 21"/>
          <p:cNvSpPr txBox="1"/>
          <p:nvPr/>
        </p:nvSpPr>
        <p:spPr>
          <a:xfrm>
            <a:off x="1353312" y="5486400"/>
            <a:ext cx="2377440" cy="228600"/>
          </a:xfrm>
          <a:prstGeom prst="rect">
            <a:avLst/>
          </a:prstGeom>
          <a:noFill/>
        </p:spPr>
        <p:txBody>
          <a:bodyPr wrap="square">
            <a:spAutoFit/>
          </a:bodyPr>
          <a:lstStyle/>
          <a:p>
            <a:pPr algn="l"/>
            <a:r>
              <a:rPr sz="1000" b="0" i="0">
                <a:solidFill>
                  <a:srgbClr val="999999"/>
                </a:solidFill>
                <a:latin typeface="Arial"/>
              </a:rPr>
              <a:t>room doors</a:t>
            </a:r>
          </a:p>
        </p:txBody>
      </p:sp>
      <p:sp>
        <p:nvSpPr>
          <p:cNvPr id="23" name="TextBox 22"/>
          <p:cNvSpPr txBox="1"/>
          <p:nvPr/>
        </p:nvSpPr>
        <p:spPr>
          <a:xfrm>
            <a:off x="594360" y="5815583"/>
            <a:ext cx="658368" cy="274320"/>
          </a:xfrm>
          <a:prstGeom prst="rect">
            <a:avLst/>
          </a:prstGeom>
          <a:noFill/>
        </p:spPr>
        <p:txBody>
          <a:bodyPr wrap="square">
            <a:spAutoFit/>
          </a:bodyPr>
          <a:lstStyle/>
          <a:p>
            <a:pPr algn="l"/>
            <a:r>
              <a:rPr sz="1800" b="1" i="0">
                <a:solidFill>
                  <a:srgbClr val="999999"/>
                </a:solidFill>
                <a:latin typeface="Arial"/>
              </a:rPr>
              <a:t>18</a:t>
            </a:r>
          </a:p>
        </p:txBody>
      </p:sp>
      <p:sp>
        <p:nvSpPr>
          <p:cNvPr id="24" name="TextBox 23"/>
          <p:cNvSpPr txBox="1"/>
          <p:nvPr/>
        </p:nvSpPr>
        <p:spPr>
          <a:xfrm>
            <a:off x="1353312" y="5852159"/>
            <a:ext cx="2377440" cy="228600"/>
          </a:xfrm>
          <a:prstGeom prst="rect">
            <a:avLst/>
          </a:prstGeom>
          <a:noFill/>
        </p:spPr>
        <p:txBody>
          <a:bodyPr wrap="square">
            <a:spAutoFit/>
          </a:bodyPr>
          <a:lstStyle/>
          <a:p>
            <a:pPr algn="l"/>
            <a:r>
              <a:rPr sz="1000" b="0" i="0">
                <a:solidFill>
                  <a:srgbClr val="999999"/>
                </a:solidFill>
                <a:latin typeface="Arial"/>
              </a:rPr>
              <a:t>passage thresholds</a:t>
            </a:r>
          </a:p>
        </p:txBody>
      </p:sp>
      <p:sp>
        <p:nvSpPr>
          <p:cNvPr id="25" name="Rectangle 24"/>
          <p:cNvSpPr/>
          <p:nvPr/>
        </p:nvSpPr>
        <p:spPr>
          <a:xfrm>
            <a:off x="4160520" y="4645152"/>
            <a:ext cx="7360920" cy="15727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754880"/>
            <a:ext cx="7040880" cy="1417320"/>
          </a:xfrm>
          <a:prstGeom prst="rect">
            <a:avLst/>
          </a:prstGeom>
          <a:noFill/>
        </p:spPr>
        <p:txBody>
          <a:bodyPr wrap="square">
            <a:spAutoFit/>
          </a:bodyPr>
          <a:lstStyle/>
          <a:p>
            <a:pPr algn="l"/>
            <a:r>
              <a:rPr sz="950" b="0" i="0">
                <a:solidFill>
                  <a:srgbClr val="999999"/>
                </a:solidFill>
                <a:latin typeface="Arial"/>
              </a:rPr>
              <a:t>Door types become edge features in the ML feature vector: each node stores the fraction of its edges that are entrance doors, room doors, or passage thresholds. The model has learned from real apartment plans that kitchens sit behind 1 door + 1 balcony edge; bathrooms are single-door leaves. These ratios let the classifier distinguish room types from topology alone.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3 -- INTACT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Adjacency Graph  g1</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99999"/>
                </a:solidFill>
                <a:latin typeface="Arial"/>
              </a:rPr>
              <a:t>direct = True  --  every shared face including floors and ceilings creates an edge.</a:t>
            </a:r>
          </a:p>
        </p:txBody>
      </p:sp>
      <p:sp>
        <p:nvSpPr>
          <p:cNvPr id="6" name="TextBox 5"/>
          <p:cNvSpPr txBox="1"/>
          <p:nvPr/>
        </p:nvSpPr>
        <p:spPr>
          <a:xfrm>
            <a:off x="457200" y="1481328"/>
            <a:ext cx="11430000" cy="502920"/>
          </a:xfrm>
          <a:prstGeom prst="rect">
            <a:avLst/>
          </a:prstGeom>
          <a:noFill/>
        </p:spPr>
        <p:txBody>
          <a:bodyPr wrap="square">
            <a:spAutoFit/>
          </a:bodyPr>
          <a:lstStyle/>
          <a:p>
            <a:pPr algn="l"/>
            <a:r>
              <a:rPr sz="1000" b="0" i="0">
                <a:solidFill>
                  <a:srgbClr val="999999"/>
                </a:solidFill>
                <a:latin typeface="Arial"/>
              </a:rPr>
              <a:t>Left: nodes colored by room type inside the transparent CellComplex -- the geometry is still readable. Center: the graph without geometry -- the staircase dominates as a central hub with edges to every floor. Right: plan view -- all 9 floors collapsed, the repeating double-fan apartment pattern visible, through-slab connections converging at center.</a:t>
            </a:r>
          </a:p>
        </p:txBody>
      </p:sp>
      <p:pic>
        <p:nvPicPr>
          <p:cNvPr id="7" name="Picture 6" descr="adjacency.png"/>
          <p:cNvPicPr>
            <a:picLocks noChangeAspect="1"/>
          </p:cNvPicPr>
          <p:nvPr/>
        </p:nvPicPr>
        <p:blipFill>
          <a:blip r:embed="rId2"/>
          <a:stretch>
            <a:fillRect/>
          </a:stretch>
        </p:blipFill>
        <p:spPr>
          <a:xfrm>
            <a:off x="274320" y="2084831"/>
            <a:ext cx="3767328" cy="2077541"/>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66666"/>
                </a:solidFill>
                <a:latin typeface="Arial"/>
              </a:rPr>
              <a:t>On geometry</a:t>
            </a:r>
          </a:p>
        </p:txBody>
      </p:sp>
      <p:pic>
        <p:nvPicPr>
          <p:cNvPr id="9" name="Picture 8" descr="adjacency1.png"/>
          <p:cNvPicPr>
            <a:picLocks noChangeAspect="1"/>
          </p:cNvPicPr>
          <p:nvPr/>
        </p:nvPicPr>
        <p:blipFill>
          <a:blip r:embed="rId3"/>
          <a:stretch>
            <a:fillRect/>
          </a:stretch>
        </p:blipFill>
        <p:spPr>
          <a:xfrm>
            <a:off x="4178808" y="2084831"/>
            <a:ext cx="3767328" cy="2059364"/>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66666"/>
                </a:solidFill>
                <a:latin typeface="Arial"/>
              </a:rPr>
              <a:t>3D isolated -- dense through-slab edges</a:t>
            </a:r>
          </a:p>
        </p:txBody>
      </p:sp>
      <p:pic>
        <p:nvPicPr>
          <p:cNvPr id="11" name="Picture 10" descr="adjacency2.png"/>
          <p:cNvPicPr>
            <a:picLocks noChangeAspect="1"/>
          </p:cNvPicPr>
          <p:nvPr/>
        </p:nvPicPr>
        <p:blipFill>
          <a:blip r:embed="rId4"/>
          <a:stretch>
            <a:fillRect/>
          </a:stretch>
        </p:blipFill>
        <p:spPr>
          <a:xfrm>
            <a:off x="8092440" y="2084831"/>
            <a:ext cx="3767328" cy="2036939"/>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66666"/>
                </a:solidFill>
                <a:latin typeface="Arial"/>
              </a:rPr>
              <a:t>Plan view -- repeating double fan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3 -- INTACT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Access Graph  g2</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99999"/>
                </a:solidFill>
                <a:latin typeface="Arial"/>
              </a:rPr>
              <a:t>direct = False,  viaSharedApertures = True  --  only door apertures create edges.</a:t>
            </a:r>
          </a:p>
        </p:txBody>
      </p:sp>
      <p:sp>
        <p:nvSpPr>
          <p:cNvPr id="6" name="TextBox 5"/>
          <p:cNvSpPr txBox="1"/>
          <p:nvPr/>
        </p:nvSpPr>
        <p:spPr>
          <a:xfrm>
            <a:off x="457200" y="1481328"/>
            <a:ext cx="11430000" cy="640080"/>
          </a:xfrm>
          <a:prstGeom prst="rect">
            <a:avLst/>
          </a:prstGeom>
          <a:noFill/>
        </p:spPr>
        <p:txBody>
          <a:bodyPr wrap="square">
            <a:spAutoFit/>
          </a:bodyPr>
          <a:lstStyle/>
          <a:p>
            <a:pPr algn="l"/>
            <a:r>
              <a:rPr sz="1000" b="0" i="0">
                <a:solidFill>
                  <a:srgbClr val="999999"/>
                </a:solidFill>
                <a:latin typeface="Arial"/>
              </a:rPr>
              <a:t>The same building. The same CellComplex. Far fewer edges. Through-slab connections are gone entirely. Bedrooms and bathrooms are now leaf nodes -- reachable from one direction only. The staircase connects only to its own landings, not to every room above and below it. This is the graph that correctly represents how a person navigates the building, and the graph used for all subsequent analysis and design.</a:t>
            </a:r>
          </a:p>
        </p:txBody>
      </p:sp>
      <p:pic>
        <p:nvPicPr>
          <p:cNvPr id="7" name="Picture 6" descr="access.png"/>
          <p:cNvPicPr>
            <a:picLocks noChangeAspect="1"/>
          </p:cNvPicPr>
          <p:nvPr/>
        </p:nvPicPr>
        <p:blipFill>
          <a:blip r:embed="rId2"/>
          <a:stretch>
            <a:fillRect/>
          </a:stretch>
        </p:blipFill>
        <p:spPr>
          <a:xfrm>
            <a:off x="365760" y="2267712"/>
            <a:ext cx="11457432" cy="6334698"/>
          </a:xfrm>
          <a:prstGeom prst="rect">
            <a:avLst/>
          </a:prstGeom>
        </p:spPr>
      </p:pic>
      <p:sp>
        <p:nvSpPr>
          <p:cNvPr id="8" name="TextBox 7"/>
          <p:cNvSpPr txBox="1"/>
          <p:nvPr/>
        </p:nvSpPr>
        <p:spPr>
          <a:xfrm>
            <a:off x="365760" y="6565392"/>
            <a:ext cx="9144000" cy="256032"/>
          </a:xfrm>
          <a:prstGeom prst="rect">
            <a:avLst/>
          </a:prstGeom>
          <a:noFill/>
        </p:spPr>
        <p:txBody>
          <a:bodyPr wrap="square">
            <a:spAutoFit/>
          </a:bodyPr>
          <a:lstStyle/>
          <a:p>
            <a:pPr algn="l"/>
            <a:r>
              <a:rPr sz="800" b="0" i="1">
                <a:solidFill>
                  <a:srgbClr val="666666"/>
                </a:solidFill>
                <a:latin typeface="Arial"/>
              </a:rPr>
              <a:t>Access graph on geometry -- node colors = room type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4 -- SPATIAL ANALYSIS</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Depth from Entrance</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7132320" cy="621792"/>
          </a:xfrm>
          <a:prstGeom prst="rect">
            <a:avLst/>
          </a:prstGeom>
          <a:noFill/>
        </p:spPr>
        <p:txBody>
          <a:bodyPr wrap="square">
            <a:spAutoFit/>
          </a:bodyPr>
          <a:lstStyle/>
          <a:p>
            <a:pPr algn="l"/>
            <a:r>
              <a:rPr sz="1000" b="0" i="0">
                <a:solidFill>
                  <a:srgbClr val="999999"/>
                </a:solidFill>
                <a:latin typeface="Arial"/>
              </a:rPr>
              <a:t>Breadth-first search (BFS) starts at the staircase landing node and counts how many door edges must be crossed to reach each room. This hop count -- depth -- is the key metric driving the design. It is purely topological: no coordinates, no area, no geometry involved.</a:t>
            </a:r>
          </a:p>
        </p:txBody>
      </p:sp>
      <p:sp>
        <p:nvSpPr>
          <p:cNvPr id="6" name="Rectangle 5"/>
          <p:cNvSpPr/>
          <p:nvPr/>
        </p:nvSpPr>
        <p:spPr>
          <a:xfrm>
            <a:off x="365760" y="1993392"/>
            <a:ext cx="7132320" cy="868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029968"/>
            <a:ext cx="502920" cy="502920"/>
          </a:xfrm>
          <a:prstGeom prst="rect">
            <a:avLst/>
          </a:prstGeom>
          <a:noFill/>
        </p:spPr>
        <p:txBody>
          <a:bodyPr wrap="square">
            <a:spAutoFit/>
          </a:bodyPr>
          <a:lstStyle/>
          <a:p>
            <a:pPr algn="l"/>
            <a:r>
              <a:rPr sz="2800" b="1" i="0">
                <a:solidFill>
                  <a:srgbClr val="B07858"/>
                </a:solidFill>
                <a:latin typeface="Arial"/>
              </a:rPr>
              <a:t>0</a:t>
            </a:r>
          </a:p>
        </p:txBody>
      </p:sp>
      <p:sp>
        <p:nvSpPr>
          <p:cNvPr id="8" name="TextBox 7"/>
          <p:cNvSpPr txBox="1"/>
          <p:nvPr/>
        </p:nvSpPr>
        <p:spPr>
          <a:xfrm>
            <a:off x="1188720" y="2048256"/>
            <a:ext cx="4114800" cy="274320"/>
          </a:xfrm>
          <a:prstGeom prst="rect">
            <a:avLst/>
          </a:prstGeom>
          <a:noFill/>
        </p:spPr>
        <p:txBody>
          <a:bodyPr wrap="square">
            <a:spAutoFit/>
          </a:bodyPr>
          <a:lstStyle/>
          <a:p>
            <a:pPr algn="l"/>
            <a:r>
              <a:rPr sz="1100" b="1" i="0">
                <a:solidFill>
                  <a:srgbClr val="FFFFFF"/>
                </a:solidFill>
                <a:latin typeface="Arial"/>
              </a:rPr>
              <a:t>Staircase landing</a:t>
            </a:r>
          </a:p>
        </p:txBody>
      </p:sp>
      <p:sp>
        <p:nvSpPr>
          <p:cNvPr id="9" name="TextBox 8"/>
          <p:cNvSpPr txBox="1"/>
          <p:nvPr/>
        </p:nvSpPr>
        <p:spPr>
          <a:xfrm>
            <a:off x="1188720" y="2340864"/>
            <a:ext cx="6126480" cy="274320"/>
          </a:xfrm>
          <a:prstGeom prst="rect">
            <a:avLst/>
          </a:prstGeom>
          <a:noFill/>
        </p:spPr>
        <p:txBody>
          <a:bodyPr wrap="square">
            <a:spAutoFit/>
          </a:bodyPr>
          <a:lstStyle/>
          <a:p>
            <a:pPr algn="l"/>
            <a:r>
              <a:rPr sz="900" b="0" i="0">
                <a:solidFill>
                  <a:srgbClr val="999999"/>
                </a:solidFill>
                <a:latin typeface="Arial"/>
              </a:rPr>
              <a:t>The graph origin. Every BFS path starts here.</a:t>
            </a:r>
          </a:p>
        </p:txBody>
      </p:sp>
      <p:sp>
        <p:nvSpPr>
          <p:cNvPr id="10" name="Rectangle 9"/>
          <p:cNvSpPr/>
          <p:nvPr/>
        </p:nvSpPr>
        <p:spPr>
          <a:xfrm>
            <a:off x="365760" y="2944368"/>
            <a:ext cx="7132320" cy="868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980944"/>
            <a:ext cx="502920" cy="502920"/>
          </a:xfrm>
          <a:prstGeom prst="rect">
            <a:avLst/>
          </a:prstGeom>
          <a:noFill/>
        </p:spPr>
        <p:txBody>
          <a:bodyPr wrap="square">
            <a:spAutoFit/>
          </a:bodyPr>
          <a:lstStyle/>
          <a:p>
            <a:pPr algn="l"/>
            <a:r>
              <a:rPr sz="2800" b="1" i="0">
                <a:solidFill>
                  <a:srgbClr val="B07858"/>
                </a:solidFill>
                <a:latin typeface="Arial"/>
              </a:rPr>
              <a:t>1</a:t>
            </a:r>
          </a:p>
        </p:txBody>
      </p:sp>
      <p:sp>
        <p:nvSpPr>
          <p:cNvPr id="12" name="TextBox 11"/>
          <p:cNvSpPr txBox="1"/>
          <p:nvPr/>
        </p:nvSpPr>
        <p:spPr>
          <a:xfrm>
            <a:off x="1188720" y="2999232"/>
            <a:ext cx="4114800" cy="274320"/>
          </a:xfrm>
          <a:prstGeom prst="rect">
            <a:avLst/>
          </a:prstGeom>
          <a:noFill/>
        </p:spPr>
        <p:txBody>
          <a:bodyPr wrap="square">
            <a:spAutoFit/>
          </a:bodyPr>
          <a:lstStyle/>
          <a:p>
            <a:pPr algn="l"/>
            <a:r>
              <a:rPr sz="1100" b="1" i="0">
                <a:solidFill>
                  <a:srgbClr val="FFFFFF"/>
                </a:solidFill>
                <a:latin typeface="Arial"/>
              </a:rPr>
              <a:t>Apartment hall / corridor</a:t>
            </a:r>
          </a:p>
        </p:txBody>
      </p:sp>
      <p:sp>
        <p:nvSpPr>
          <p:cNvPr id="13" name="TextBox 12"/>
          <p:cNvSpPr txBox="1"/>
          <p:nvPr/>
        </p:nvSpPr>
        <p:spPr>
          <a:xfrm>
            <a:off x="1188720" y="3291840"/>
            <a:ext cx="6126480" cy="274320"/>
          </a:xfrm>
          <a:prstGeom prst="rect">
            <a:avLst/>
          </a:prstGeom>
          <a:noFill/>
        </p:spPr>
        <p:txBody>
          <a:bodyPr wrap="square">
            <a:spAutoFit/>
          </a:bodyPr>
          <a:lstStyle/>
          <a:p>
            <a:pPr algn="l"/>
            <a:r>
              <a:rPr sz="900" b="0" i="0">
                <a:solidFill>
                  <a:srgbClr val="999999"/>
                </a:solidFill>
                <a:latin typeface="Arial"/>
              </a:rPr>
              <a:t>Directly behind the entrance door -- 1 crossing.</a:t>
            </a:r>
          </a:p>
        </p:txBody>
      </p:sp>
      <p:sp>
        <p:nvSpPr>
          <p:cNvPr id="14" name="Rectangle 13"/>
          <p:cNvSpPr/>
          <p:nvPr/>
        </p:nvSpPr>
        <p:spPr>
          <a:xfrm>
            <a:off x="365760" y="3895344"/>
            <a:ext cx="7132320" cy="868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931920"/>
            <a:ext cx="502920" cy="502920"/>
          </a:xfrm>
          <a:prstGeom prst="rect">
            <a:avLst/>
          </a:prstGeom>
          <a:noFill/>
        </p:spPr>
        <p:txBody>
          <a:bodyPr wrap="square">
            <a:spAutoFit/>
          </a:bodyPr>
          <a:lstStyle/>
          <a:p>
            <a:pPr algn="l"/>
            <a:r>
              <a:rPr sz="2800" b="1" i="0">
                <a:solidFill>
                  <a:srgbClr val="B07858"/>
                </a:solidFill>
                <a:latin typeface="Arial"/>
              </a:rPr>
              <a:t>2</a:t>
            </a:r>
          </a:p>
        </p:txBody>
      </p:sp>
      <p:sp>
        <p:nvSpPr>
          <p:cNvPr id="16" name="TextBox 15"/>
          <p:cNvSpPr txBox="1"/>
          <p:nvPr/>
        </p:nvSpPr>
        <p:spPr>
          <a:xfrm>
            <a:off x="1188720" y="3950207"/>
            <a:ext cx="4114800" cy="274320"/>
          </a:xfrm>
          <a:prstGeom prst="rect">
            <a:avLst/>
          </a:prstGeom>
          <a:noFill/>
        </p:spPr>
        <p:txBody>
          <a:bodyPr wrap="square">
            <a:spAutoFit/>
          </a:bodyPr>
          <a:lstStyle/>
          <a:p>
            <a:pPr algn="l"/>
            <a:r>
              <a:rPr sz="1100" b="1" i="0">
                <a:solidFill>
                  <a:srgbClr val="FFFFFF"/>
                </a:solidFill>
                <a:latin typeface="Arial"/>
              </a:rPr>
              <a:t>Kitchen, bathroom, storeroom</a:t>
            </a:r>
          </a:p>
        </p:txBody>
      </p:sp>
      <p:sp>
        <p:nvSpPr>
          <p:cNvPr id="17" name="TextBox 16"/>
          <p:cNvSpPr txBox="1"/>
          <p:nvPr/>
        </p:nvSpPr>
        <p:spPr>
          <a:xfrm>
            <a:off x="1188720" y="4242816"/>
            <a:ext cx="6126480" cy="274320"/>
          </a:xfrm>
          <a:prstGeom prst="rect">
            <a:avLst/>
          </a:prstGeom>
          <a:noFill/>
        </p:spPr>
        <p:txBody>
          <a:bodyPr wrap="square">
            <a:spAutoFit/>
          </a:bodyPr>
          <a:lstStyle/>
          <a:p>
            <a:pPr algn="l"/>
            <a:r>
              <a:rPr sz="900" b="0" i="0">
                <a:solidFill>
                  <a:srgbClr val="999999"/>
                </a:solidFill>
                <a:latin typeface="Arial"/>
              </a:rPr>
              <a:t>One internal door from the hall -- 2 crossings.</a:t>
            </a:r>
          </a:p>
        </p:txBody>
      </p:sp>
      <p:sp>
        <p:nvSpPr>
          <p:cNvPr id="18" name="Rectangle 17"/>
          <p:cNvSpPr/>
          <p:nvPr/>
        </p:nvSpPr>
        <p:spPr>
          <a:xfrm>
            <a:off x="365760" y="4846320"/>
            <a:ext cx="7132320" cy="8686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882896"/>
            <a:ext cx="502920" cy="502920"/>
          </a:xfrm>
          <a:prstGeom prst="rect">
            <a:avLst/>
          </a:prstGeom>
          <a:noFill/>
        </p:spPr>
        <p:txBody>
          <a:bodyPr wrap="square">
            <a:spAutoFit/>
          </a:bodyPr>
          <a:lstStyle/>
          <a:p>
            <a:pPr algn="l"/>
            <a:r>
              <a:rPr sz="2800" b="1" i="0">
                <a:solidFill>
                  <a:srgbClr val="B07858"/>
                </a:solidFill>
                <a:latin typeface="Arial"/>
              </a:rPr>
              <a:t>3</a:t>
            </a:r>
          </a:p>
        </p:txBody>
      </p:sp>
      <p:sp>
        <p:nvSpPr>
          <p:cNvPr id="20" name="TextBox 19"/>
          <p:cNvSpPr txBox="1"/>
          <p:nvPr/>
        </p:nvSpPr>
        <p:spPr>
          <a:xfrm>
            <a:off x="1188720" y="4901184"/>
            <a:ext cx="4114800" cy="274320"/>
          </a:xfrm>
          <a:prstGeom prst="rect">
            <a:avLst/>
          </a:prstGeom>
          <a:noFill/>
        </p:spPr>
        <p:txBody>
          <a:bodyPr wrap="square">
            <a:spAutoFit/>
          </a:bodyPr>
          <a:lstStyle/>
          <a:p>
            <a:pPr algn="l"/>
            <a:r>
              <a:rPr sz="1100" b="1" i="0">
                <a:solidFill>
                  <a:srgbClr val="FFFFFF"/>
                </a:solidFill>
                <a:latin typeface="Arial"/>
              </a:rPr>
              <a:t>Bedroom, livingroom, balcony</a:t>
            </a:r>
          </a:p>
        </p:txBody>
      </p:sp>
      <p:sp>
        <p:nvSpPr>
          <p:cNvPr id="21" name="TextBox 20"/>
          <p:cNvSpPr txBox="1"/>
          <p:nvPr/>
        </p:nvSpPr>
        <p:spPr>
          <a:xfrm>
            <a:off x="1188720" y="5193792"/>
            <a:ext cx="6126480" cy="274320"/>
          </a:xfrm>
          <a:prstGeom prst="rect">
            <a:avLst/>
          </a:prstGeom>
          <a:noFill/>
        </p:spPr>
        <p:txBody>
          <a:bodyPr wrap="square">
            <a:spAutoFit/>
          </a:bodyPr>
          <a:lstStyle/>
          <a:p>
            <a:pPr algn="l"/>
            <a:r>
              <a:rPr sz="900" b="0" i="0">
                <a:solidFill>
                  <a:srgbClr val="999999"/>
                </a:solidFill>
                <a:latin typeface="Arial"/>
              </a:rPr>
              <a:t>Two internal doors from the hall -- 3 crossings.</a:t>
            </a:r>
          </a:p>
        </p:txBody>
      </p:sp>
      <p:sp>
        <p:nvSpPr>
          <p:cNvPr id="22" name="Rectangle 21"/>
          <p:cNvSpPr/>
          <p:nvPr/>
        </p:nvSpPr>
        <p:spPr>
          <a:xfrm>
            <a:off x="7882127" y="1993392"/>
            <a:ext cx="3913632" cy="21214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7" y="1993392"/>
            <a:ext cx="3913632" cy="50292"/>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65008" y="2121408"/>
            <a:ext cx="3657600" cy="256032"/>
          </a:xfrm>
          <a:prstGeom prst="rect">
            <a:avLst/>
          </a:prstGeom>
          <a:noFill/>
        </p:spPr>
        <p:txBody>
          <a:bodyPr wrap="square">
            <a:spAutoFit/>
          </a:bodyPr>
          <a:lstStyle/>
          <a:p>
            <a:pPr algn="l"/>
            <a:r>
              <a:rPr sz="900" b="0" i="0">
                <a:solidFill>
                  <a:srgbClr val="999999"/>
                </a:solidFill>
                <a:latin typeface="Arial"/>
              </a:rPr>
              <a:t>The design formula</a:t>
            </a:r>
          </a:p>
        </p:txBody>
      </p:sp>
      <p:sp>
        <p:nvSpPr>
          <p:cNvPr id="25" name="TextBox 24"/>
          <p:cNvSpPr txBox="1"/>
          <p:nvPr/>
        </p:nvSpPr>
        <p:spPr>
          <a:xfrm>
            <a:off x="8065008" y="2450592"/>
            <a:ext cx="3657600" cy="749808"/>
          </a:xfrm>
          <a:prstGeom prst="rect">
            <a:avLst/>
          </a:prstGeom>
          <a:noFill/>
        </p:spPr>
        <p:txBody>
          <a:bodyPr wrap="square">
            <a:spAutoFit/>
          </a:bodyPr>
          <a:lstStyle/>
          <a:p>
            <a:pPr algn="l"/>
            <a:r>
              <a:rPr sz="1800" b="1" i="0">
                <a:solidFill>
                  <a:srgbClr val="FFFFFF"/>
                </a:solidFill>
                <a:latin typeface="Arial"/>
              </a:rPr>
              <a:t>slab Z  =
-step x depth</a:t>
            </a:r>
          </a:p>
        </p:txBody>
      </p:sp>
      <p:sp>
        <p:nvSpPr>
          <p:cNvPr id="26" name="TextBox 25"/>
          <p:cNvSpPr txBox="1"/>
          <p:nvPr/>
        </p:nvSpPr>
        <p:spPr>
          <a:xfrm>
            <a:off x="8065008" y="3291840"/>
            <a:ext cx="3657600" cy="768096"/>
          </a:xfrm>
          <a:prstGeom prst="rect">
            <a:avLst/>
          </a:prstGeom>
          <a:noFill/>
        </p:spPr>
        <p:txBody>
          <a:bodyPr wrap="square">
            <a:spAutoFit/>
          </a:bodyPr>
          <a:lstStyle/>
          <a:p>
            <a:pPr algn="l"/>
            <a:r>
              <a:rPr sz="1000" b="0" i="0">
                <a:solidFill>
                  <a:srgbClr val="999999"/>
                </a:solidFill>
                <a:latin typeface="Arial"/>
              </a:rPr>
              <a:t>depth 0  --&gt;  ground level
depth 12  --&gt;  lowest slab
13 distinct Z levels in the promenade</a:t>
            </a:r>
          </a:p>
        </p:txBody>
      </p:sp>
      <p:sp>
        <p:nvSpPr>
          <p:cNvPr id="27" name="Rectangle 26"/>
          <p:cNvSpPr/>
          <p:nvPr/>
        </p:nvSpPr>
        <p:spPr>
          <a:xfrm>
            <a:off x="7882127" y="4251960"/>
            <a:ext cx="3913632" cy="15727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5008" y="4370832"/>
            <a:ext cx="3657600" cy="256032"/>
          </a:xfrm>
          <a:prstGeom prst="rect">
            <a:avLst/>
          </a:prstGeom>
          <a:noFill/>
        </p:spPr>
        <p:txBody>
          <a:bodyPr wrap="square">
            <a:spAutoFit/>
          </a:bodyPr>
          <a:lstStyle/>
          <a:p>
            <a:pPr algn="l"/>
            <a:r>
              <a:rPr sz="900" b="0" i="0">
                <a:solidFill>
                  <a:srgbClr val="999999"/>
                </a:solidFill>
                <a:latin typeface="Arial"/>
              </a:rPr>
              <a:t>What it means spatially</a:t>
            </a:r>
          </a:p>
        </p:txBody>
      </p:sp>
      <p:sp>
        <p:nvSpPr>
          <p:cNvPr id="29" name="TextBox 28"/>
          <p:cNvSpPr txBox="1"/>
          <p:nvPr/>
        </p:nvSpPr>
        <p:spPr>
          <a:xfrm>
            <a:off x="8065008" y="4663440"/>
            <a:ext cx="3657600" cy="1115568"/>
          </a:xfrm>
          <a:prstGeom prst="rect">
            <a:avLst/>
          </a:prstGeom>
          <a:noFill/>
        </p:spPr>
        <p:txBody>
          <a:bodyPr wrap="square">
            <a:spAutoFit/>
          </a:bodyPr>
          <a:lstStyle/>
          <a:p>
            <a:pPr algn="l"/>
            <a:r>
              <a:rPr sz="1000" b="0" i="0">
                <a:solidFill>
                  <a:srgbClr val="CCCCCC"/>
                </a:solidFill>
                <a:latin typeface="Arial"/>
              </a:rPr>
              <a:t>A room at depth 3 was 3 doors from the staircase. Its memorial slab sits 3 steps below the landing. Walking the promenade physically re-enacts the graph traversal of the lost apartment.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topology_all.png"/>
          <p:cNvPicPr>
            <a:picLocks noChangeAspect="1"/>
          </p:cNvPicPr>
          <p:nvPr/>
        </p:nvPicPr>
        <p:blipFill>
          <a:blip r:embed="rId2"/>
          <a:stretch>
            <a:fillRect/>
          </a:stretch>
        </p:blipFill>
        <p:spPr>
          <a:xfrm>
            <a:off x="0" y="0"/>
            <a:ext cx="12188952" cy="6584386"/>
          </a:xfrm>
          <a:prstGeom prst="rect">
            <a:avLst/>
          </a:prstGeom>
        </p:spPr>
      </p:pic>
      <p:sp>
        <p:nvSpPr>
          <p:cNvPr id="3" name="Rectangle 2"/>
          <p:cNvSpPr/>
          <p:nvPr/>
        </p:nvSpPr>
        <p:spPr>
          <a:xfrm>
            <a:off x="0" y="5321808"/>
            <a:ext cx="12188952" cy="153619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94960"/>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522976"/>
            <a:ext cx="5486400" cy="201168"/>
          </a:xfrm>
          <a:prstGeom prst="rect">
            <a:avLst/>
          </a:prstGeom>
          <a:noFill/>
        </p:spPr>
        <p:txBody>
          <a:bodyPr wrap="square">
            <a:spAutoFit/>
          </a:bodyPr>
          <a:lstStyle/>
          <a:p>
            <a:pPr algn="l"/>
            <a:r>
              <a:rPr sz="700" b="0" i="0">
                <a:solidFill>
                  <a:srgbClr val="666666"/>
                </a:solidFill>
                <a:latin typeface="Arial"/>
              </a:rPr>
              <a:t>PHASE 6 -- COMBINED CELLCOMPLEX</a:t>
            </a:r>
          </a:p>
        </p:txBody>
      </p:sp>
      <p:sp>
        <p:nvSpPr>
          <p:cNvPr id="6" name="TextBox 5"/>
          <p:cNvSpPr txBox="1"/>
          <p:nvPr/>
        </p:nvSpPr>
        <p:spPr>
          <a:xfrm>
            <a:off x="457200" y="5742432"/>
            <a:ext cx="6858000" cy="411480"/>
          </a:xfrm>
          <a:prstGeom prst="rect">
            <a:avLst/>
          </a:prstGeom>
          <a:noFill/>
        </p:spPr>
        <p:txBody>
          <a:bodyPr wrap="square">
            <a:spAutoFit/>
          </a:bodyPr>
          <a:lstStyle/>
          <a:p>
            <a:pPr algn="l"/>
            <a:r>
              <a:rPr sz="1400" b="1" i="0">
                <a:solidFill>
                  <a:srgbClr val="FFFFFF"/>
                </a:solidFill>
                <a:latin typeface="Arial"/>
              </a:rPr>
              <a:t>Intact section  +  Damaged block  +  Memorial intervention</a:t>
            </a:r>
          </a:p>
        </p:txBody>
      </p:sp>
      <p:sp>
        <p:nvSpPr>
          <p:cNvPr id="7" name="TextBox 6"/>
          <p:cNvSpPr txBox="1"/>
          <p:nvPr/>
        </p:nvSpPr>
        <p:spPr>
          <a:xfrm>
            <a:off x="457200" y="6236208"/>
            <a:ext cx="8229600" cy="411480"/>
          </a:xfrm>
          <a:prstGeom prst="rect">
            <a:avLst/>
          </a:prstGeom>
          <a:noFill/>
        </p:spPr>
        <p:txBody>
          <a:bodyPr wrap="square">
            <a:spAutoFit/>
          </a:bodyPr>
          <a:lstStyle/>
          <a:p>
            <a:pPr algn="l"/>
            <a:r>
              <a:rPr sz="950" b="0" i="0">
                <a:solidFill>
                  <a:srgbClr val="999999"/>
                </a:solidFill>
                <a:latin typeface="Arial"/>
              </a:rPr>
              <a:t>596 cells total. The staircase spine at center connects the two halves. Right: real apartment types. Left: corridor placeholders + balcony memorial slabs.</a:t>
            </a:r>
          </a:p>
        </p:txBody>
      </p:sp>
      <p:sp>
        <p:nvSpPr>
          <p:cNvPr id="8" name="Rectangle 7"/>
          <p:cNvSpPr/>
          <p:nvPr/>
        </p:nvSpPr>
        <p:spPr>
          <a:xfrm>
            <a:off x="8869680" y="6126480"/>
            <a:ext cx="146304" cy="146304"/>
          </a:xfrm>
          <a:prstGeom prst="rect">
            <a:avLst/>
          </a:prstGeom>
          <a:solidFill>
            <a:srgbClr val="222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61704" y="6089904"/>
            <a:ext cx="1691640" cy="256032"/>
          </a:xfrm>
          <a:prstGeom prst="rect">
            <a:avLst/>
          </a:prstGeom>
          <a:noFill/>
        </p:spPr>
        <p:txBody>
          <a:bodyPr wrap="square">
            <a:spAutoFit/>
          </a:bodyPr>
          <a:lstStyle/>
          <a:p>
            <a:pPr algn="l"/>
            <a:r>
              <a:rPr sz="800" b="0" i="0">
                <a:solidFill>
                  <a:srgbClr val="666666"/>
                </a:solidFill>
                <a:latin typeface="Arial"/>
              </a:rPr>
              <a:t>bedroom</a:t>
            </a:r>
          </a:p>
        </p:txBody>
      </p:sp>
      <p:sp>
        <p:nvSpPr>
          <p:cNvPr id="10" name="Rectangle 9"/>
          <p:cNvSpPr/>
          <p:nvPr/>
        </p:nvSpPr>
        <p:spPr>
          <a:xfrm>
            <a:off x="9517989" y="6126480"/>
            <a:ext cx="146304" cy="146304"/>
          </a:xfrm>
          <a:prstGeom prst="rect">
            <a:avLst/>
          </a:prstGeom>
          <a:solidFill>
            <a:srgbClr val="CCC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013" y="6089904"/>
            <a:ext cx="1691640" cy="256032"/>
          </a:xfrm>
          <a:prstGeom prst="rect">
            <a:avLst/>
          </a:prstGeom>
          <a:noFill/>
        </p:spPr>
        <p:txBody>
          <a:bodyPr wrap="square">
            <a:spAutoFit/>
          </a:bodyPr>
          <a:lstStyle/>
          <a:p>
            <a:pPr algn="l"/>
            <a:r>
              <a:rPr sz="800" b="0" i="0">
                <a:solidFill>
                  <a:srgbClr val="666666"/>
                </a:solidFill>
                <a:latin typeface="Arial"/>
              </a:rPr>
              <a:t>living/kitchen/corridor</a:t>
            </a:r>
          </a:p>
        </p:txBody>
      </p:sp>
      <p:sp>
        <p:nvSpPr>
          <p:cNvPr id="12" name="Rectangle 11"/>
          <p:cNvSpPr/>
          <p:nvPr/>
        </p:nvSpPr>
        <p:spPr>
          <a:xfrm>
            <a:off x="11146536" y="6126480"/>
            <a:ext cx="146304" cy="146304"/>
          </a:xfrm>
          <a:prstGeom prst="rect">
            <a:avLst/>
          </a:prstGeom>
          <a:solidFill>
            <a:srgbClr val="448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0" y="6089904"/>
            <a:ext cx="1691640" cy="256032"/>
          </a:xfrm>
          <a:prstGeom prst="rect">
            <a:avLst/>
          </a:prstGeom>
          <a:noFill/>
        </p:spPr>
        <p:txBody>
          <a:bodyPr wrap="square">
            <a:spAutoFit/>
          </a:bodyPr>
          <a:lstStyle/>
          <a:p>
            <a:pPr algn="l"/>
            <a:r>
              <a:rPr sz="800" b="0" i="0">
                <a:solidFill>
                  <a:srgbClr val="666666"/>
                </a:solidFill>
                <a:latin typeface="Arial"/>
              </a:rPr>
              <a:t>memorial slabs (balcony)</a:t>
            </a:r>
          </a:p>
        </p:txBody>
      </p:sp>
      <p:sp>
        <p:nvSpPr>
          <p:cNvPr id="14" name="Rectangle 13"/>
          <p:cNvSpPr/>
          <p:nvPr/>
        </p:nvSpPr>
        <p:spPr>
          <a:xfrm>
            <a:off x="12836347" y="6126480"/>
            <a:ext cx="146304" cy="146304"/>
          </a:xfrm>
          <a:prstGeom prst="rect">
            <a:avLst/>
          </a:prstGeom>
          <a:solidFill>
            <a:srgbClr val="882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028371" y="6089904"/>
            <a:ext cx="1691640" cy="256032"/>
          </a:xfrm>
          <a:prstGeom prst="rect">
            <a:avLst/>
          </a:prstGeom>
          <a:noFill/>
        </p:spPr>
        <p:txBody>
          <a:bodyPr wrap="square">
            <a:spAutoFit/>
          </a:bodyPr>
          <a:lstStyle/>
          <a:p>
            <a:pPr algn="l"/>
            <a:r>
              <a:rPr sz="800" b="0" i="0">
                <a:solidFill>
                  <a:srgbClr val="666666"/>
                </a:solidFill>
                <a:latin typeface="Arial"/>
              </a:rPr>
              <a:t>storeroom/bathroom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6 -- COMBINED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Adjacency Graph  g1 -- Both Sections</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99999"/>
                </a:solidFill>
                <a:latin typeface="Arial"/>
              </a:rPr>
              <a:t>Through-face adjacency, now across the full 596-node graph.</a:t>
            </a:r>
          </a:p>
        </p:txBody>
      </p:sp>
      <p:sp>
        <p:nvSpPr>
          <p:cNvPr id="6" name="TextBox 5"/>
          <p:cNvSpPr txBox="1"/>
          <p:nvPr/>
        </p:nvSpPr>
        <p:spPr>
          <a:xfrm>
            <a:off x="457200" y="1481328"/>
            <a:ext cx="11430000" cy="548640"/>
          </a:xfrm>
          <a:prstGeom prst="rect">
            <a:avLst/>
          </a:prstGeom>
          <a:noFill/>
        </p:spPr>
        <p:txBody>
          <a:bodyPr wrap="square">
            <a:spAutoFit/>
          </a:bodyPr>
          <a:lstStyle/>
          <a:p>
            <a:pPr algn="l"/>
            <a:r>
              <a:rPr sz="1000" b="0" i="0">
                <a:solidFill>
                  <a:srgbClr val="999999"/>
                </a:solidFill>
                <a:latin typeface="Arial"/>
              </a:rPr>
              <a:t>The broken symmetry is immediately readable. Right (intact): tight double-fan apartment clusters repeating every floor. Left (damaged): the green balcony slab nodes form a distinct, sparser outer cloud -- a new typology that did not exist in the original building. The intervention has visibly altered the graph structure.</a:t>
            </a:r>
          </a:p>
        </p:txBody>
      </p:sp>
      <p:pic>
        <p:nvPicPr>
          <p:cNvPr id="7" name="Picture 6" descr="adjacency_all.png"/>
          <p:cNvPicPr>
            <a:picLocks noChangeAspect="1"/>
          </p:cNvPicPr>
          <p:nvPr/>
        </p:nvPicPr>
        <p:blipFill>
          <a:blip r:embed="rId2"/>
          <a:stretch>
            <a:fillRect/>
          </a:stretch>
        </p:blipFill>
        <p:spPr>
          <a:xfrm>
            <a:off x="274320" y="2103120"/>
            <a:ext cx="3767328" cy="2080220"/>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66666"/>
                </a:solidFill>
                <a:latin typeface="Arial"/>
              </a:rPr>
              <a:t>On geometry</a:t>
            </a:r>
          </a:p>
        </p:txBody>
      </p:sp>
      <p:pic>
        <p:nvPicPr>
          <p:cNvPr id="9" name="Picture 8" descr="adjacency_all1.png"/>
          <p:cNvPicPr>
            <a:picLocks noChangeAspect="1"/>
          </p:cNvPicPr>
          <p:nvPr/>
        </p:nvPicPr>
        <p:blipFill>
          <a:blip r:embed="rId3"/>
          <a:stretch>
            <a:fillRect/>
          </a:stretch>
        </p:blipFill>
        <p:spPr>
          <a:xfrm>
            <a:off x="4178808" y="2103120"/>
            <a:ext cx="3767328" cy="2068337"/>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66666"/>
                </a:solidFill>
                <a:latin typeface="Arial"/>
              </a:rPr>
              <a:t>3D isolated -- green balcony cluster (left) vs apartment fan (right)</a:t>
            </a:r>
          </a:p>
        </p:txBody>
      </p:sp>
      <p:pic>
        <p:nvPicPr>
          <p:cNvPr id="11" name="Picture 10" descr="adjacency_all2.png"/>
          <p:cNvPicPr>
            <a:picLocks noChangeAspect="1"/>
          </p:cNvPicPr>
          <p:nvPr/>
        </p:nvPicPr>
        <p:blipFill>
          <a:blip r:embed="rId4"/>
          <a:stretch>
            <a:fillRect/>
          </a:stretch>
        </p:blipFill>
        <p:spPr>
          <a:xfrm>
            <a:off x="8092440" y="2103120"/>
            <a:ext cx="3767328" cy="2024236"/>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66666"/>
                </a:solidFill>
                <a:latin typeface="Arial"/>
              </a:rPr>
              <a:t>Plan -- asymmetric double fan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6 -- COMBINED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Access Graph  g2 -- Both Sections</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99999"/>
                </a:solidFill>
                <a:latin typeface="Arial"/>
              </a:rPr>
              <a:t>Only door apertures. 596 nodes, 594 edges. The staircase landing is the sole topological bridge between the two sections.</a:t>
            </a:r>
          </a:p>
        </p:txBody>
      </p:sp>
      <p:sp>
        <p:nvSpPr>
          <p:cNvPr id="6" name="TextBox 5"/>
          <p:cNvSpPr txBox="1"/>
          <p:nvPr/>
        </p:nvSpPr>
        <p:spPr>
          <a:xfrm>
            <a:off x="457200" y="1481328"/>
            <a:ext cx="11430000" cy="548640"/>
          </a:xfrm>
          <a:prstGeom prst="rect">
            <a:avLst/>
          </a:prstGeom>
          <a:noFill/>
        </p:spPr>
        <p:txBody>
          <a:bodyPr wrap="square">
            <a:spAutoFit/>
          </a:bodyPr>
          <a:lstStyle/>
          <a:p>
            <a:pPr algn="l"/>
            <a:r>
              <a:rPr sz="1000" b="0" i="0">
                <a:solidFill>
                  <a:srgbClr val="999999"/>
                </a:solidFill>
                <a:latin typeface="Arial"/>
              </a:rPr>
              <a:t>Right (intact): the regular apartment tree -- corridors branch to rooms, rooms end at leaves. Left (damaged): surviving corridor nodes fan out to balcony slab leaves at their original positions, with stair-bridges at the door openings. The lost apartment's topology is preserved as structure, even though the space is gone.</a:t>
            </a:r>
          </a:p>
        </p:txBody>
      </p:sp>
      <p:pic>
        <p:nvPicPr>
          <p:cNvPr id="7" name="Picture 6" descr="access_all.png"/>
          <p:cNvPicPr>
            <a:picLocks noChangeAspect="1"/>
          </p:cNvPicPr>
          <p:nvPr/>
        </p:nvPicPr>
        <p:blipFill>
          <a:blip r:embed="rId2"/>
          <a:stretch>
            <a:fillRect/>
          </a:stretch>
        </p:blipFill>
        <p:spPr>
          <a:xfrm>
            <a:off x="274320" y="2103120"/>
            <a:ext cx="3767328" cy="2070810"/>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66666"/>
                </a:solidFill>
                <a:latin typeface="Arial"/>
              </a:rPr>
              <a:t>On geometry</a:t>
            </a:r>
          </a:p>
        </p:txBody>
      </p:sp>
      <p:pic>
        <p:nvPicPr>
          <p:cNvPr id="9" name="Picture 8" descr="access_all1.png"/>
          <p:cNvPicPr>
            <a:picLocks noChangeAspect="1"/>
          </p:cNvPicPr>
          <p:nvPr/>
        </p:nvPicPr>
        <p:blipFill>
          <a:blip r:embed="rId3"/>
          <a:stretch>
            <a:fillRect/>
          </a:stretch>
        </p:blipFill>
        <p:spPr>
          <a:xfrm>
            <a:off x="4178808" y="2103120"/>
            <a:ext cx="3767328" cy="2068178"/>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66666"/>
                </a:solidFill>
                <a:latin typeface="Arial"/>
              </a:rPr>
              <a:t>3D isolated -- corridors fan to balcony slab leaves</a:t>
            </a:r>
          </a:p>
        </p:txBody>
      </p:sp>
      <p:pic>
        <p:nvPicPr>
          <p:cNvPr id="11" name="Picture 10" descr="access_all2.png"/>
          <p:cNvPicPr>
            <a:picLocks noChangeAspect="1"/>
          </p:cNvPicPr>
          <p:nvPr/>
        </p:nvPicPr>
        <p:blipFill>
          <a:blip r:embed="rId4"/>
          <a:stretch>
            <a:fillRect/>
          </a:stretch>
        </p:blipFill>
        <p:spPr>
          <a:xfrm>
            <a:off x="8092440" y="2103120"/>
            <a:ext cx="3767328" cy="1991921"/>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66666"/>
                </a:solidFill>
                <a:latin typeface="Arial"/>
              </a:rPr>
              <a:t>Plan -- staircase at hourglass center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8 -- ML NODE CLASSIFICATION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GraphSAGE Node Classifier</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530352"/>
          </a:xfrm>
          <a:prstGeom prst="rect">
            <a:avLst/>
          </a:prstGeom>
          <a:noFill/>
        </p:spPr>
        <p:txBody>
          <a:bodyPr wrap="square">
            <a:spAutoFit/>
          </a:bodyPr>
          <a:lstStyle/>
          <a:p>
            <a:pPr algn="l"/>
            <a:r>
              <a:rPr sz="1000" b="0" i="0">
                <a:solidFill>
                  <a:srgbClr val="999999"/>
                </a:solidFill>
                <a:latin typeface="Arial"/>
              </a:rPr>
              <a:t>The pretrained model (MSD -- Milan Spatial Dataset) has learned room-type patterns from hundreds of real apartment plans. It knows what a kitchen looks like in graph form: typically depth 2, 1 room door + 1 balcony edge. It has never seen this building.</a:t>
            </a:r>
          </a:p>
        </p:txBody>
      </p:sp>
      <p:pic>
        <p:nvPicPr>
          <p:cNvPr id="6" name="Picture 5" descr="room labels.png"/>
          <p:cNvPicPr>
            <a:picLocks noChangeAspect="1"/>
          </p:cNvPicPr>
          <p:nvPr/>
        </p:nvPicPr>
        <p:blipFill>
          <a:blip r:embed="rId2"/>
          <a:stretch>
            <a:fillRect/>
          </a:stretch>
        </p:blipFill>
        <p:spPr>
          <a:xfrm>
            <a:off x="365760" y="1874519"/>
            <a:ext cx="6858000" cy="6739173"/>
          </a:xfrm>
          <a:prstGeom prst="rect">
            <a:avLst/>
          </a:prstGeom>
        </p:spPr>
      </p:pic>
      <p:sp>
        <p:nvSpPr>
          <p:cNvPr id="7" name="Rectangle 6"/>
          <p:cNvSpPr/>
          <p:nvPr/>
        </p:nvSpPr>
        <p:spPr>
          <a:xfrm>
            <a:off x="7571231" y="1874519"/>
            <a:ext cx="4251960" cy="47091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54112" y="1993392"/>
            <a:ext cx="3950208" cy="274320"/>
          </a:xfrm>
          <a:prstGeom prst="rect">
            <a:avLst/>
          </a:prstGeom>
          <a:noFill/>
        </p:spPr>
        <p:txBody>
          <a:bodyPr wrap="square">
            <a:spAutoFit/>
          </a:bodyPr>
          <a:lstStyle/>
          <a:p>
            <a:pPr algn="l"/>
            <a:r>
              <a:rPr sz="900" b="0" i="0">
                <a:solidFill>
                  <a:srgbClr val="999999"/>
                </a:solidFill>
                <a:latin typeface="Arial"/>
              </a:rPr>
              <a:t>7-dimensional node feature vector</a:t>
            </a:r>
          </a:p>
        </p:txBody>
      </p:sp>
      <p:sp>
        <p:nvSpPr>
          <p:cNvPr id="9" name="TextBox 8"/>
          <p:cNvSpPr txBox="1"/>
          <p:nvPr/>
        </p:nvSpPr>
        <p:spPr>
          <a:xfrm>
            <a:off x="7754112" y="2331720"/>
            <a:ext cx="3950208" cy="713232"/>
          </a:xfrm>
          <a:prstGeom prst="rect">
            <a:avLst/>
          </a:prstGeom>
          <a:noFill/>
        </p:spPr>
        <p:txBody>
          <a:bodyPr wrap="square">
            <a:spAutoFit/>
          </a:bodyPr>
          <a:lstStyle/>
          <a:p>
            <a:pPr algn="l"/>
            <a:r>
              <a:rPr sz="1400" b="1" i="0">
                <a:solidFill>
                  <a:srgbClr val="FFFFFF"/>
                </a:solidFill>
                <a:latin typeface="Arial"/>
              </a:rPr>
              <a:t>No geometry.
No coordinates.
No area.</a:t>
            </a:r>
          </a:p>
        </p:txBody>
      </p:sp>
      <p:sp>
        <p:nvSpPr>
          <p:cNvPr id="10" name="Rectangle 9"/>
          <p:cNvSpPr/>
          <p:nvPr/>
        </p:nvSpPr>
        <p:spPr>
          <a:xfrm>
            <a:off x="7754112" y="3108960"/>
            <a:ext cx="3858768"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54112" y="3246120"/>
            <a:ext cx="2834640" cy="219456"/>
          </a:xfrm>
          <a:prstGeom prst="rect">
            <a:avLst/>
          </a:prstGeom>
          <a:noFill/>
        </p:spPr>
        <p:txBody>
          <a:bodyPr wrap="square">
            <a:spAutoFit/>
          </a:bodyPr>
          <a:lstStyle/>
          <a:p>
            <a:pPr algn="l"/>
            <a:r>
              <a:rPr sz="800" b="1" i="0">
                <a:solidFill>
                  <a:srgbClr val="B07858"/>
                </a:solidFill>
                <a:latin typeface="Arial"/>
              </a:rPr>
              <a:t>feat_zoning_type_0</a:t>
            </a:r>
          </a:p>
        </p:txBody>
      </p:sp>
      <p:sp>
        <p:nvSpPr>
          <p:cNvPr id="12" name="TextBox 11"/>
          <p:cNvSpPr txBox="1"/>
          <p:nvPr/>
        </p:nvSpPr>
        <p:spPr>
          <a:xfrm>
            <a:off x="7754112" y="3456432"/>
            <a:ext cx="3840480" cy="201168"/>
          </a:xfrm>
          <a:prstGeom prst="rect">
            <a:avLst/>
          </a:prstGeom>
          <a:noFill/>
        </p:spPr>
        <p:txBody>
          <a:bodyPr wrap="square">
            <a:spAutoFit/>
          </a:bodyPr>
          <a:lstStyle/>
          <a:p>
            <a:pPr algn="l"/>
            <a:r>
              <a:rPr sz="850" b="0" i="0">
                <a:solidFill>
                  <a:srgbClr val="999999"/>
                </a:solidFill>
                <a:latin typeface="Arial"/>
              </a:rPr>
              <a:t>private / static  (bedroom)</a:t>
            </a:r>
          </a:p>
        </p:txBody>
      </p:sp>
      <p:sp>
        <p:nvSpPr>
          <p:cNvPr id="13" name="TextBox 12"/>
          <p:cNvSpPr txBox="1"/>
          <p:nvPr/>
        </p:nvSpPr>
        <p:spPr>
          <a:xfrm>
            <a:off x="7754112" y="3703320"/>
            <a:ext cx="2834640" cy="219456"/>
          </a:xfrm>
          <a:prstGeom prst="rect">
            <a:avLst/>
          </a:prstGeom>
          <a:noFill/>
        </p:spPr>
        <p:txBody>
          <a:bodyPr wrap="square">
            <a:spAutoFit/>
          </a:bodyPr>
          <a:lstStyle/>
          <a:p>
            <a:pPr algn="l"/>
            <a:r>
              <a:rPr sz="800" b="1" i="0">
                <a:solidFill>
                  <a:srgbClr val="B07858"/>
                </a:solidFill>
                <a:latin typeface="Arial"/>
              </a:rPr>
              <a:t>feat_zoning_type_1</a:t>
            </a:r>
          </a:p>
        </p:txBody>
      </p:sp>
      <p:sp>
        <p:nvSpPr>
          <p:cNvPr id="14" name="TextBox 13"/>
          <p:cNvSpPr txBox="1"/>
          <p:nvPr/>
        </p:nvSpPr>
        <p:spPr>
          <a:xfrm>
            <a:off x="7754112" y="3913632"/>
            <a:ext cx="3840480" cy="201168"/>
          </a:xfrm>
          <a:prstGeom prst="rect">
            <a:avLst/>
          </a:prstGeom>
          <a:noFill/>
        </p:spPr>
        <p:txBody>
          <a:bodyPr wrap="square">
            <a:spAutoFit/>
          </a:bodyPr>
          <a:lstStyle/>
          <a:p>
            <a:pPr algn="l"/>
            <a:r>
              <a:rPr sz="850" b="0" i="0">
                <a:solidFill>
                  <a:srgbClr val="999999"/>
                </a:solidFill>
                <a:latin typeface="Arial"/>
              </a:rPr>
              <a:t>living / dynamic  (kitchen, corridor)</a:t>
            </a:r>
          </a:p>
        </p:txBody>
      </p:sp>
      <p:sp>
        <p:nvSpPr>
          <p:cNvPr id="15" name="TextBox 14"/>
          <p:cNvSpPr txBox="1"/>
          <p:nvPr/>
        </p:nvSpPr>
        <p:spPr>
          <a:xfrm>
            <a:off x="7754112" y="4160520"/>
            <a:ext cx="2834640" cy="219456"/>
          </a:xfrm>
          <a:prstGeom prst="rect">
            <a:avLst/>
          </a:prstGeom>
          <a:noFill/>
        </p:spPr>
        <p:txBody>
          <a:bodyPr wrap="square">
            <a:spAutoFit/>
          </a:bodyPr>
          <a:lstStyle/>
          <a:p>
            <a:pPr algn="l"/>
            <a:r>
              <a:rPr sz="800" b="1" i="0">
                <a:solidFill>
                  <a:srgbClr val="B07858"/>
                </a:solidFill>
                <a:latin typeface="Arial"/>
              </a:rPr>
              <a:t>feat_zoning_type_2</a:t>
            </a:r>
          </a:p>
        </p:txBody>
      </p:sp>
      <p:sp>
        <p:nvSpPr>
          <p:cNvPr id="16" name="TextBox 15"/>
          <p:cNvSpPr txBox="1"/>
          <p:nvPr/>
        </p:nvSpPr>
        <p:spPr>
          <a:xfrm>
            <a:off x="7754112" y="4370832"/>
            <a:ext cx="3840480" cy="201168"/>
          </a:xfrm>
          <a:prstGeom prst="rect">
            <a:avLst/>
          </a:prstGeom>
          <a:noFill/>
        </p:spPr>
        <p:txBody>
          <a:bodyPr wrap="square">
            <a:spAutoFit/>
          </a:bodyPr>
          <a:lstStyle/>
          <a:p>
            <a:pPr algn="l"/>
            <a:r>
              <a:rPr sz="850" b="0" i="0">
                <a:solidFill>
                  <a:srgbClr val="999999"/>
                </a:solidFill>
                <a:latin typeface="Arial"/>
              </a:rPr>
              <a:t>service / functional  (bath, stairs)</a:t>
            </a:r>
          </a:p>
        </p:txBody>
      </p:sp>
      <p:sp>
        <p:nvSpPr>
          <p:cNvPr id="17" name="TextBox 16"/>
          <p:cNvSpPr txBox="1"/>
          <p:nvPr/>
        </p:nvSpPr>
        <p:spPr>
          <a:xfrm>
            <a:off x="7754112" y="4617720"/>
            <a:ext cx="2834640" cy="219456"/>
          </a:xfrm>
          <a:prstGeom prst="rect">
            <a:avLst/>
          </a:prstGeom>
          <a:noFill/>
        </p:spPr>
        <p:txBody>
          <a:bodyPr wrap="square">
            <a:spAutoFit/>
          </a:bodyPr>
          <a:lstStyle/>
          <a:p>
            <a:pPr algn="l"/>
            <a:r>
              <a:rPr sz="800" b="1" i="0">
                <a:solidFill>
                  <a:srgbClr val="B07858"/>
                </a:solidFill>
                <a:latin typeface="Arial"/>
              </a:rPr>
              <a:t>feat_zoning_type_3</a:t>
            </a:r>
          </a:p>
        </p:txBody>
      </p:sp>
      <p:sp>
        <p:nvSpPr>
          <p:cNvPr id="18" name="TextBox 17"/>
          <p:cNvSpPr txBox="1"/>
          <p:nvPr/>
        </p:nvSpPr>
        <p:spPr>
          <a:xfrm>
            <a:off x="7754112" y="4828032"/>
            <a:ext cx="3840480" cy="201168"/>
          </a:xfrm>
          <a:prstGeom prst="rect">
            <a:avLst/>
          </a:prstGeom>
          <a:noFill/>
        </p:spPr>
        <p:txBody>
          <a:bodyPr wrap="square">
            <a:spAutoFit/>
          </a:bodyPr>
          <a:lstStyle/>
          <a:p>
            <a:pPr algn="l"/>
            <a:r>
              <a:rPr sz="850" b="0" i="0">
                <a:solidFill>
                  <a:srgbClr val="999999"/>
                </a:solidFill>
                <a:latin typeface="Arial"/>
              </a:rPr>
              <a:t>outdoor  (balcony)</a:t>
            </a:r>
          </a:p>
        </p:txBody>
      </p:sp>
      <p:sp>
        <p:nvSpPr>
          <p:cNvPr id="19" name="TextBox 18"/>
          <p:cNvSpPr txBox="1"/>
          <p:nvPr/>
        </p:nvSpPr>
        <p:spPr>
          <a:xfrm>
            <a:off x="7754112" y="5074920"/>
            <a:ext cx="2834640" cy="219456"/>
          </a:xfrm>
          <a:prstGeom prst="rect">
            <a:avLst/>
          </a:prstGeom>
          <a:noFill/>
        </p:spPr>
        <p:txBody>
          <a:bodyPr wrap="square">
            <a:spAutoFit/>
          </a:bodyPr>
          <a:lstStyle/>
          <a:p>
            <a:pPr algn="l"/>
            <a:r>
              <a:rPr sz="800" b="1" i="0">
                <a:solidFill>
                  <a:srgbClr val="B07858"/>
                </a:solidFill>
                <a:latin typeface="Arial"/>
              </a:rPr>
              <a:t>feat_connectivity_0</a:t>
            </a:r>
          </a:p>
        </p:txBody>
      </p:sp>
      <p:sp>
        <p:nvSpPr>
          <p:cNvPr id="20" name="TextBox 19"/>
          <p:cNvSpPr txBox="1"/>
          <p:nvPr/>
        </p:nvSpPr>
        <p:spPr>
          <a:xfrm>
            <a:off x="7754112" y="5285232"/>
            <a:ext cx="3840480" cy="201168"/>
          </a:xfrm>
          <a:prstGeom prst="rect">
            <a:avLst/>
          </a:prstGeom>
          <a:noFill/>
        </p:spPr>
        <p:txBody>
          <a:bodyPr wrap="square">
            <a:spAutoFit/>
          </a:bodyPr>
          <a:lstStyle/>
          <a:p>
            <a:pPr algn="l"/>
            <a:r>
              <a:rPr sz="850" b="0" i="0">
                <a:solidFill>
                  <a:srgbClr val="999999"/>
                </a:solidFill>
                <a:latin typeface="Arial"/>
              </a:rPr>
              <a:t>fraction of edges that are passage</a:t>
            </a:r>
          </a:p>
        </p:txBody>
      </p:sp>
      <p:sp>
        <p:nvSpPr>
          <p:cNvPr id="21" name="TextBox 20"/>
          <p:cNvSpPr txBox="1"/>
          <p:nvPr/>
        </p:nvSpPr>
        <p:spPr>
          <a:xfrm>
            <a:off x="7754112" y="5532120"/>
            <a:ext cx="2834640" cy="219456"/>
          </a:xfrm>
          <a:prstGeom prst="rect">
            <a:avLst/>
          </a:prstGeom>
          <a:noFill/>
        </p:spPr>
        <p:txBody>
          <a:bodyPr wrap="square">
            <a:spAutoFit/>
          </a:bodyPr>
          <a:lstStyle/>
          <a:p>
            <a:pPr algn="l"/>
            <a:r>
              <a:rPr sz="800" b="1" i="0">
                <a:solidFill>
                  <a:srgbClr val="B07858"/>
                </a:solidFill>
                <a:latin typeface="Arial"/>
              </a:rPr>
              <a:t>feat_connectivity_1</a:t>
            </a:r>
          </a:p>
        </p:txBody>
      </p:sp>
      <p:sp>
        <p:nvSpPr>
          <p:cNvPr id="22" name="TextBox 21"/>
          <p:cNvSpPr txBox="1"/>
          <p:nvPr/>
        </p:nvSpPr>
        <p:spPr>
          <a:xfrm>
            <a:off x="7754112" y="5742432"/>
            <a:ext cx="3840480" cy="201168"/>
          </a:xfrm>
          <a:prstGeom prst="rect">
            <a:avLst/>
          </a:prstGeom>
          <a:noFill/>
        </p:spPr>
        <p:txBody>
          <a:bodyPr wrap="square">
            <a:spAutoFit/>
          </a:bodyPr>
          <a:lstStyle/>
          <a:p>
            <a:pPr algn="l"/>
            <a:r>
              <a:rPr sz="850" b="0" i="0">
                <a:solidFill>
                  <a:srgbClr val="999999"/>
                </a:solidFill>
                <a:latin typeface="Arial"/>
              </a:rPr>
              <a:t>fraction of edges that are door</a:t>
            </a:r>
          </a:p>
        </p:txBody>
      </p:sp>
      <p:sp>
        <p:nvSpPr>
          <p:cNvPr id="23" name="TextBox 22"/>
          <p:cNvSpPr txBox="1"/>
          <p:nvPr/>
        </p:nvSpPr>
        <p:spPr>
          <a:xfrm>
            <a:off x="7754112" y="5989320"/>
            <a:ext cx="2834640" cy="219456"/>
          </a:xfrm>
          <a:prstGeom prst="rect">
            <a:avLst/>
          </a:prstGeom>
          <a:noFill/>
        </p:spPr>
        <p:txBody>
          <a:bodyPr wrap="square">
            <a:spAutoFit/>
          </a:bodyPr>
          <a:lstStyle/>
          <a:p>
            <a:pPr algn="l"/>
            <a:r>
              <a:rPr sz="800" b="1" i="0">
                <a:solidFill>
                  <a:srgbClr val="B07858"/>
                </a:solidFill>
                <a:latin typeface="Arial"/>
              </a:rPr>
              <a:t>feat_connectivity_2</a:t>
            </a:r>
          </a:p>
        </p:txBody>
      </p:sp>
      <p:sp>
        <p:nvSpPr>
          <p:cNvPr id="24" name="TextBox 23"/>
          <p:cNvSpPr txBox="1"/>
          <p:nvPr/>
        </p:nvSpPr>
        <p:spPr>
          <a:xfrm>
            <a:off x="7754112" y="6199632"/>
            <a:ext cx="3840480" cy="201168"/>
          </a:xfrm>
          <a:prstGeom prst="rect">
            <a:avLst/>
          </a:prstGeom>
          <a:noFill/>
        </p:spPr>
        <p:txBody>
          <a:bodyPr wrap="square">
            <a:spAutoFit/>
          </a:bodyPr>
          <a:lstStyle/>
          <a:p>
            <a:pPr algn="l"/>
            <a:r>
              <a:rPr sz="850" b="0" i="0">
                <a:solidFill>
                  <a:srgbClr val="999999"/>
                </a:solidFill>
                <a:latin typeface="Arial"/>
              </a:rPr>
              <a:t>fraction of edges that are entrance door</a:t>
            </a:r>
          </a:p>
        </p:txBody>
      </p:sp>
      <p:pic>
        <p:nvPicPr>
          <p:cNvPr id="25" name="Picture 24" descr="legend.png"/>
          <p:cNvPicPr>
            <a:picLocks noChangeAspect="1"/>
          </p:cNvPicPr>
          <p:nvPr/>
        </p:nvPicPr>
        <p:blipFill>
          <a:blip r:embed="rId3"/>
          <a:stretch>
            <a:fillRect/>
          </a:stretch>
        </p:blipFill>
        <p:spPr>
          <a:xfrm>
            <a:off x="365760" y="5897880"/>
            <a:ext cx="6858000" cy="845574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8 -- BEFORE INFERENCE</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Assigned Labels -- The Placeholder Strategy</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11480"/>
          </a:xfrm>
          <a:prstGeom prst="rect">
            <a:avLst/>
          </a:prstGeom>
          <a:noFill/>
        </p:spPr>
        <p:txBody>
          <a:bodyPr wrap="square">
            <a:spAutoFit/>
          </a:bodyPr>
          <a:lstStyle/>
          <a:p>
            <a:pPr algn="l"/>
            <a:r>
              <a:rPr sz="1000" b="0" i="0">
                <a:solidFill>
                  <a:srgbClr val="999999"/>
                </a:solidFill>
                <a:latin typeface="Arial"/>
              </a:rPr>
              <a:t>The 162 surviving damaged-block rooms cannot have their real type -- they no longer exist as rooms. Each design decision about the memorial is encoded as a node label that the model will read.</a:t>
            </a:r>
          </a:p>
        </p:txBody>
      </p:sp>
      <p:sp>
        <p:nvSpPr>
          <p:cNvPr id="6" name="Rectangle 5"/>
          <p:cNvSpPr/>
          <p:nvPr/>
        </p:nvSpPr>
        <p:spPr>
          <a:xfrm>
            <a:off x="365760" y="1719072"/>
            <a:ext cx="11457432" cy="6217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883664"/>
            <a:ext cx="2697480" cy="274320"/>
          </a:xfrm>
          <a:prstGeom prst="rect">
            <a:avLst/>
          </a:prstGeom>
          <a:noFill/>
        </p:spPr>
        <p:txBody>
          <a:bodyPr wrap="square">
            <a:spAutoFit/>
          </a:bodyPr>
          <a:lstStyle/>
          <a:p>
            <a:pPr algn="l"/>
            <a:r>
              <a:rPr sz="1000" b="1" i="0">
                <a:solidFill>
                  <a:srgbClr val="CCCCCC"/>
                </a:solidFill>
                <a:latin typeface="Arial"/>
              </a:rPr>
              <a:t>Surviving damaged rooms</a:t>
            </a:r>
          </a:p>
        </p:txBody>
      </p:sp>
      <p:sp>
        <p:nvSpPr>
          <p:cNvPr id="8" name="TextBox 7"/>
          <p:cNvSpPr txBox="1"/>
          <p:nvPr/>
        </p:nvSpPr>
        <p:spPr>
          <a:xfrm>
            <a:off x="3319272" y="1883664"/>
            <a:ext cx="1444752" cy="274320"/>
          </a:xfrm>
          <a:prstGeom prst="rect">
            <a:avLst/>
          </a:prstGeom>
          <a:noFill/>
        </p:spPr>
        <p:txBody>
          <a:bodyPr wrap="square">
            <a:spAutoFit/>
          </a:bodyPr>
          <a:lstStyle/>
          <a:p>
            <a:pPr algn="l"/>
            <a:r>
              <a:rPr sz="1000" b="1" i="0">
                <a:solidFill>
                  <a:srgbClr val="B07858"/>
                </a:solidFill>
                <a:latin typeface="Arial"/>
              </a:rPr>
              <a:t>corridor</a:t>
            </a:r>
          </a:p>
        </p:txBody>
      </p:sp>
      <p:sp>
        <p:nvSpPr>
          <p:cNvPr id="9" name="TextBox 8"/>
          <p:cNvSpPr txBox="1"/>
          <p:nvPr/>
        </p:nvSpPr>
        <p:spPr>
          <a:xfrm>
            <a:off x="4864608" y="1883664"/>
            <a:ext cx="1810512" cy="274320"/>
          </a:xfrm>
          <a:prstGeom prst="rect">
            <a:avLst/>
          </a:prstGeom>
          <a:noFill/>
        </p:spPr>
        <p:txBody>
          <a:bodyPr wrap="square">
            <a:spAutoFit/>
          </a:bodyPr>
          <a:lstStyle/>
          <a:p>
            <a:pPr algn="l"/>
            <a:r>
              <a:rPr sz="950" b="0" i="0">
                <a:solidFill>
                  <a:srgbClr val="999999"/>
                </a:solidFill>
                <a:latin typeface="Arial"/>
              </a:rPr>
              <a:t>zoning [0,1,0,0]</a:t>
            </a:r>
          </a:p>
        </p:txBody>
      </p:sp>
      <p:sp>
        <p:nvSpPr>
          <p:cNvPr id="10" name="TextBox 9"/>
          <p:cNvSpPr txBox="1"/>
          <p:nvPr/>
        </p:nvSpPr>
        <p:spPr>
          <a:xfrm>
            <a:off x="6784848" y="1883664"/>
            <a:ext cx="4892040" cy="274320"/>
          </a:xfrm>
          <a:prstGeom prst="rect">
            <a:avLst/>
          </a:prstGeom>
          <a:noFill/>
        </p:spPr>
        <p:txBody>
          <a:bodyPr wrap="square">
            <a:spAutoFit/>
          </a:bodyPr>
          <a:lstStyle/>
          <a:p>
            <a:pPr algn="l"/>
            <a:r>
              <a:rPr sz="950" b="0" i="0">
                <a:solidFill>
                  <a:srgbClr val="999999"/>
                </a:solidFill>
                <a:latin typeface="Arial"/>
              </a:rPr>
              <a:t>Most neutral in-distribution label. Dynamic / living zone. ML predicts the new function.</a:t>
            </a:r>
          </a:p>
        </p:txBody>
      </p:sp>
      <p:sp>
        <p:nvSpPr>
          <p:cNvPr id="11" name="Rectangle 10"/>
          <p:cNvSpPr/>
          <p:nvPr/>
        </p:nvSpPr>
        <p:spPr>
          <a:xfrm>
            <a:off x="365760" y="2377439"/>
            <a:ext cx="11457432" cy="621792"/>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542032"/>
            <a:ext cx="2697480" cy="274320"/>
          </a:xfrm>
          <a:prstGeom prst="rect">
            <a:avLst/>
          </a:prstGeom>
          <a:noFill/>
        </p:spPr>
        <p:txBody>
          <a:bodyPr wrap="square">
            <a:spAutoFit/>
          </a:bodyPr>
          <a:lstStyle/>
          <a:p>
            <a:pPr algn="l"/>
            <a:r>
              <a:rPr sz="1000" b="1" i="0">
                <a:solidFill>
                  <a:srgbClr val="CCCCCC"/>
                </a:solidFill>
                <a:latin typeface="Arial"/>
              </a:rPr>
              <a:t>Memorial slabs</a:t>
            </a:r>
          </a:p>
        </p:txBody>
      </p:sp>
      <p:sp>
        <p:nvSpPr>
          <p:cNvPr id="13" name="TextBox 12"/>
          <p:cNvSpPr txBox="1"/>
          <p:nvPr/>
        </p:nvSpPr>
        <p:spPr>
          <a:xfrm>
            <a:off x="3319272" y="2542032"/>
            <a:ext cx="1444752" cy="274320"/>
          </a:xfrm>
          <a:prstGeom prst="rect">
            <a:avLst/>
          </a:prstGeom>
          <a:noFill/>
        </p:spPr>
        <p:txBody>
          <a:bodyPr wrap="square">
            <a:spAutoFit/>
          </a:bodyPr>
          <a:lstStyle/>
          <a:p>
            <a:pPr algn="l"/>
            <a:r>
              <a:rPr sz="1000" b="1" i="0">
                <a:solidFill>
                  <a:srgbClr val="B07858"/>
                </a:solidFill>
                <a:latin typeface="Arial"/>
              </a:rPr>
              <a:t>balcony</a:t>
            </a:r>
          </a:p>
        </p:txBody>
      </p:sp>
      <p:sp>
        <p:nvSpPr>
          <p:cNvPr id="14" name="TextBox 13"/>
          <p:cNvSpPr txBox="1"/>
          <p:nvPr/>
        </p:nvSpPr>
        <p:spPr>
          <a:xfrm>
            <a:off x="4864608" y="2542032"/>
            <a:ext cx="1810512" cy="274320"/>
          </a:xfrm>
          <a:prstGeom prst="rect">
            <a:avLst/>
          </a:prstGeom>
          <a:noFill/>
        </p:spPr>
        <p:txBody>
          <a:bodyPr wrap="square">
            <a:spAutoFit/>
          </a:bodyPr>
          <a:lstStyle/>
          <a:p>
            <a:pPr algn="l"/>
            <a:r>
              <a:rPr sz="950" b="0" i="0">
                <a:solidFill>
                  <a:srgbClr val="999999"/>
                </a:solidFill>
                <a:latin typeface="Arial"/>
              </a:rPr>
              <a:t>zoning [0,0,0,1]</a:t>
            </a:r>
          </a:p>
        </p:txBody>
      </p:sp>
      <p:sp>
        <p:nvSpPr>
          <p:cNvPr id="15" name="TextBox 14"/>
          <p:cNvSpPr txBox="1"/>
          <p:nvPr/>
        </p:nvSpPr>
        <p:spPr>
          <a:xfrm>
            <a:off x="6784848" y="2542032"/>
            <a:ext cx="4892040" cy="274320"/>
          </a:xfrm>
          <a:prstGeom prst="rect">
            <a:avLst/>
          </a:prstGeom>
          <a:noFill/>
        </p:spPr>
        <p:txBody>
          <a:bodyPr wrap="square">
            <a:spAutoFit/>
          </a:bodyPr>
          <a:lstStyle/>
          <a:p>
            <a:pPr algn="l"/>
            <a:r>
              <a:rPr sz="950" b="0" i="0">
                <a:solidFill>
                  <a:srgbClr val="999999"/>
                </a:solidFill>
                <a:latin typeface="Arial"/>
              </a:rPr>
              <a:t>Outdoor / semi-outdoor. Propagates 'open space' signal to neighboring corridor nodes.</a:t>
            </a:r>
          </a:p>
        </p:txBody>
      </p:sp>
      <p:sp>
        <p:nvSpPr>
          <p:cNvPr id="16" name="Rectangle 15"/>
          <p:cNvSpPr/>
          <p:nvPr/>
        </p:nvSpPr>
        <p:spPr>
          <a:xfrm>
            <a:off x="365760" y="3035808"/>
            <a:ext cx="11457432" cy="62179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200400"/>
            <a:ext cx="2697480" cy="274320"/>
          </a:xfrm>
          <a:prstGeom prst="rect">
            <a:avLst/>
          </a:prstGeom>
          <a:noFill/>
        </p:spPr>
        <p:txBody>
          <a:bodyPr wrap="square">
            <a:spAutoFit/>
          </a:bodyPr>
          <a:lstStyle/>
          <a:p>
            <a:pPr algn="l"/>
            <a:r>
              <a:rPr sz="1000" b="1" i="0">
                <a:solidFill>
                  <a:srgbClr val="CCCCCC"/>
                </a:solidFill>
                <a:latin typeface="Arial"/>
              </a:rPr>
              <a:t>Step-bridges</a:t>
            </a:r>
          </a:p>
        </p:txBody>
      </p:sp>
      <p:sp>
        <p:nvSpPr>
          <p:cNvPr id="18" name="TextBox 17"/>
          <p:cNvSpPr txBox="1"/>
          <p:nvPr/>
        </p:nvSpPr>
        <p:spPr>
          <a:xfrm>
            <a:off x="3319272" y="3200400"/>
            <a:ext cx="1444752" cy="274320"/>
          </a:xfrm>
          <a:prstGeom prst="rect">
            <a:avLst/>
          </a:prstGeom>
          <a:noFill/>
        </p:spPr>
        <p:txBody>
          <a:bodyPr wrap="square">
            <a:spAutoFit/>
          </a:bodyPr>
          <a:lstStyle/>
          <a:p>
            <a:pPr algn="l"/>
            <a:r>
              <a:rPr sz="1000" b="1" i="0">
                <a:solidFill>
                  <a:srgbClr val="B07858"/>
                </a:solidFill>
                <a:latin typeface="Arial"/>
              </a:rPr>
              <a:t>stairs</a:t>
            </a:r>
          </a:p>
        </p:txBody>
      </p:sp>
      <p:sp>
        <p:nvSpPr>
          <p:cNvPr id="19" name="TextBox 18"/>
          <p:cNvSpPr txBox="1"/>
          <p:nvPr/>
        </p:nvSpPr>
        <p:spPr>
          <a:xfrm>
            <a:off x="4864608" y="3200400"/>
            <a:ext cx="1810512" cy="274320"/>
          </a:xfrm>
          <a:prstGeom prst="rect">
            <a:avLst/>
          </a:prstGeom>
          <a:noFill/>
        </p:spPr>
        <p:txBody>
          <a:bodyPr wrap="square">
            <a:spAutoFit/>
          </a:bodyPr>
          <a:lstStyle/>
          <a:p>
            <a:pPr algn="l"/>
            <a:r>
              <a:rPr sz="950" b="0" i="0">
                <a:solidFill>
                  <a:srgbClr val="999999"/>
                </a:solidFill>
                <a:latin typeface="Arial"/>
              </a:rPr>
              <a:t>zoning [0,0,1,0]</a:t>
            </a:r>
          </a:p>
        </p:txBody>
      </p:sp>
      <p:sp>
        <p:nvSpPr>
          <p:cNvPr id="20" name="TextBox 19"/>
          <p:cNvSpPr txBox="1"/>
          <p:nvPr/>
        </p:nvSpPr>
        <p:spPr>
          <a:xfrm>
            <a:off x="6784848" y="3200400"/>
            <a:ext cx="4892040" cy="274320"/>
          </a:xfrm>
          <a:prstGeom prst="rect">
            <a:avLst/>
          </a:prstGeom>
          <a:noFill/>
        </p:spPr>
        <p:txBody>
          <a:bodyPr wrap="square">
            <a:spAutoFit/>
          </a:bodyPr>
          <a:lstStyle/>
          <a:p>
            <a:pPr algn="l"/>
            <a:r>
              <a:rPr sz="950" b="0" i="0">
                <a:solidFill>
                  <a:srgbClr val="999999"/>
                </a:solidFill>
                <a:latin typeface="Arial"/>
              </a:rPr>
              <a:t>Service / functional. Encodes the passage relationship between slabs at different heights.</a:t>
            </a:r>
          </a:p>
        </p:txBody>
      </p:sp>
      <p:pic>
        <p:nvPicPr>
          <p:cNvPr id="21" name="Picture 20" descr="existing.png"/>
          <p:cNvPicPr>
            <a:picLocks noChangeAspect="1"/>
          </p:cNvPicPr>
          <p:nvPr/>
        </p:nvPicPr>
        <p:blipFill>
          <a:blip r:embed="rId2"/>
          <a:stretch>
            <a:fillRect/>
          </a:stretch>
        </p:blipFill>
        <p:spPr>
          <a:xfrm>
            <a:off x="274320" y="3730752"/>
            <a:ext cx="5760720" cy="3069976"/>
          </a:xfrm>
          <a:prstGeom prst="rect">
            <a:avLst/>
          </a:prstGeom>
        </p:spPr>
      </p:pic>
      <p:pic>
        <p:nvPicPr>
          <p:cNvPr id="22" name="Picture 21" descr="existing1.png"/>
          <p:cNvPicPr>
            <a:picLocks noChangeAspect="1"/>
          </p:cNvPicPr>
          <p:nvPr/>
        </p:nvPicPr>
        <p:blipFill>
          <a:blip r:embed="rId3"/>
          <a:stretch>
            <a:fillRect/>
          </a:stretch>
        </p:blipFill>
        <p:spPr>
          <a:xfrm>
            <a:off x="6263640" y="3730752"/>
            <a:ext cx="5623560" cy="2940385"/>
          </a:xfrm>
          <a:prstGeom prst="rect">
            <a:avLst/>
          </a:prstGeom>
        </p:spPr>
      </p:pic>
      <p:sp>
        <p:nvSpPr>
          <p:cNvPr id="23" name="TextBox 22"/>
          <p:cNvSpPr txBox="1"/>
          <p:nvPr/>
        </p:nvSpPr>
        <p:spPr>
          <a:xfrm>
            <a:off x="274320" y="6565392"/>
            <a:ext cx="5760720" cy="256032"/>
          </a:xfrm>
          <a:prstGeom prst="rect">
            <a:avLst/>
          </a:prstGeom>
          <a:noFill/>
        </p:spPr>
        <p:txBody>
          <a:bodyPr wrap="square">
            <a:spAutoFit/>
          </a:bodyPr>
          <a:lstStyle/>
          <a:p>
            <a:pPr algn="l"/>
            <a:r>
              <a:rPr sz="800" b="0" i="1">
                <a:solidFill>
                  <a:srgbClr val="666666"/>
                </a:solidFill>
                <a:latin typeface="Arial"/>
              </a:rPr>
              <a:t>3D view -- yellow=corridor (162 placeholder), green=balcony slabs (216)</a:t>
            </a:r>
          </a:p>
        </p:txBody>
      </p:sp>
      <p:sp>
        <p:nvSpPr>
          <p:cNvPr id="24" name="TextBox 23"/>
          <p:cNvSpPr txBox="1"/>
          <p:nvPr/>
        </p:nvSpPr>
        <p:spPr>
          <a:xfrm>
            <a:off x="6263640" y="6565392"/>
            <a:ext cx="5623560" cy="256032"/>
          </a:xfrm>
          <a:prstGeom prst="rect">
            <a:avLst/>
          </a:prstGeom>
          <a:noFill/>
        </p:spPr>
        <p:txBody>
          <a:bodyPr wrap="square">
            <a:spAutoFit/>
          </a:bodyPr>
          <a:lstStyle/>
          <a:p>
            <a:pPr algn="l"/>
            <a:r>
              <a:rPr sz="800" b="0" i="1">
                <a:solidFill>
                  <a:srgbClr val="666666"/>
                </a:solidFill>
                <a:latin typeface="Arial"/>
              </a:rPr>
              <a:t>Plan view -- uniform placeholder assignment makes the asymmetry explicit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8 -- AFTER INFERENCE</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Predicted Functions -- What the Graph Suggests</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38912"/>
          </a:xfrm>
          <a:prstGeom prst="rect">
            <a:avLst/>
          </a:prstGeom>
          <a:noFill/>
        </p:spPr>
        <p:txBody>
          <a:bodyPr wrap="square">
            <a:spAutoFit/>
          </a:bodyPr>
          <a:lstStyle/>
          <a:p>
            <a:pPr algn="l"/>
            <a:r>
              <a:rPr sz="1000" b="0" i="0">
                <a:solidFill>
                  <a:srgbClr val="999999"/>
                </a:solidFill>
                <a:latin typeface="Arial"/>
              </a:rPr>
              <a:t>GraphSAGE aggregates each node's feature vector with a learned summary of its neighbors. The balcony slabs and stair-bridges introduced by the design now propagate information back into the surviving corridor nodes.</a:t>
            </a:r>
          </a:p>
        </p:txBody>
      </p:sp>
      <p:sp>
        <p:nvSpPr>
          <p:cNvPr id="6" name="TextBox 5"/>
          <p:cNvSpPr txBox="1"/>
          <p:nvPr/>
        </p:nvSpPr>
        <p:spPr>
          <a:xfrm>
            <a:off x="457200" y="1691640"/>
            <a:ext cx="11430000" cy="566928"/>
          </a:xfrm>
          <a:prstGeom prst="rect">
            <a:avLst/>
          </a:prstGeom>
          <a:noFill/>
        </p:spPr>
        <p:txBody>
          <a:bodyPr wrap="square">
            <a:spAutoFit/>
          </a:bodyPr>
          <a:lstStyle/>
          <a:p>
            <a:pPr algn="l"/>
            <a:r>
              <a:rPr sz="1000" b="0" i="0">
                <a:solidFill>
                  <a:srgbClr val="CCCCCC"/>
                </a:solidFill>
                <a:latin typeface="Arial"/>
              </a:rPr>
              <a:t>Cyan (kitchen) nodes emerge in the damaged section. These are rooms with 2-3 door connections and at least one balcony neighbor -- a connectivity profile the model associates with kitchens in real apartments. The design choice to label slabs as 'balcony' directly caused this reclassification. The memorial's spatial logic is architecturally legible to the model.</a:t>
            </a:r>
          </a:p>
        </p:txBody>
      </p:sp>
      <p:pic>
        <p:nvPicPr>
          <p:cNvPr id="7" name="Picture 6" descr="predicted.png"/>
          <p:cNvPicPr>
            <a:picLocks noChangeAspect="1"/>
          </p:cNvPicPr>
          <p:nvPr/>
        </p:nvPicPr>
        <p:blipFill>
          <a:blip r:embed="rId2"/>
          <a:stretch>
            <a:fillRect/>
          </a:stretch>
        </p:blipFill>
        <p:spPr>
          <a:xfrm>
            <a:off x="274320" y="2395728"/>
            <a:ext cx="5760720" cy="3117637"/>
          </a:xfrm>
          <a:prstGeom prst="rect">
            <a:avLst/>
          </a:prstGeom>
        </p:spPr>
      </p:pic>
      <p:pic>
        <p:nvPicPr>
          <p:cNvPr id="8" name="Picture 7" descr="predicted1.png"/>
          <p:cNvPicPr>
            <a:picLocks noChangeAspect="1"/>
          </p:cNvPicPr>
          <p:nvPr/>
        </p:nvPicPr>
        <p:blipFill>
          <a:blip r:embed="rId3"/>
          <a:stretch>
            <a:fillRect/>
          </a:stretch>
        </p:blipFill>
        <p:spPr>
          <a:xfrm>
            <a:off x="6263640" y="2395728"/>
            <a:ext cx="5623560" cy="2998049"/>
          </a:xfrm>
          <a:prstGeom prst="rect">
            <a:avLst/>
          </a:prstGeom>
        </p:spPr>
      </p:pic>
      <p:sp>
        <p:nvSpPr>
          <p:cNvPr id="9" name="TextBox 8"/>
          <p:cNvSpPr txBox="1"/>
          <p:nvPr/>
        </p:nvSpPr>
        <p:spPr>
          <a:xfrm>
            <a:off x="274320" y="6565392"/>
            <a:ext cx="5760720" cy="256032"/>
          </a:xfrm>
          <a:prstGeom prst="rect">
            <a:avLst/>
          </a:prstGeom>
          <a:noFill/>
        </p:spPr>
        <p:txBody>
          <a:bodyPr wrap="square">
            <a:spAutoFit/>
          </a:bodyPr>
          <a:lstStyle/>
          <a:p>
            <a:pPr algn="l"/>
            <a:r>
              <a:rPr sz="800" b="0" i="1">
                <a:solidFill>
                  <a:srgbClr val="666666"/>
                </a:solidFill>
                <a:latin typeface="Arial"/>
              </a:rPr>
              <a:t>3D view -- cyan=kitchen nodes emerge in damaged section</a:t>
            </a:r>
          </a:p>
        </p:txBody>
      </p:sp>
      <p:sp>
        <p:nvSpPr>
          <p:cNvPr id="10" name="TextBox 9"/>
          <p:cNvSpPr txBox="1"/>
          <p:nvPr/>
        </p:nvSpPr>
        <p:spPr>
          <a:xfrm>
            <a:off x="6263640" y="6565392"/>
            <a:ext cx="5623560" cy="256032"/>
          </a:xfrm>
          <a:prstGeom prst="rect">
            <a:avLst/>
          </a:prstGeom>
          <a:noFill/>
        </p:spPr>
        <p:txBody>
          <a:bodyPr wrap="square">
            <a:spAutoFit/>
          </a:bodyPr>
          <a:lstStyle/>
          <a:p>
            <a:pPr algn="l"/>
            <a:r>
              <a:rPr sz="800" b="0" i="1">
                <a:solidFill>
                  <a:srgbClr val="666666"/>
                </a:solidFill>
                <a:latin typeface="Arial"/>
              </a:rPr>
              <a:t>Plan view -- kitchen reclassification concentrates near staircase hub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8 -- RESULTS</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Predictions for the Damaged Block</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61872"/>
            <a:ext cx="11430000" cy="320040"/>
          </a:xfrm>
          <a:prstGeom prst="rect">
            <a:avLst/>
          </a:prstGeom>
          <a:noFill/>
        </p:spPr>
        <p:txBody>
          <a:bodyPr wrap="square">
            <a:spAutoFit/>
          </a:bodyPr>
          <a:lstStyle/>
          <a:p>
            <a:pPr algn="l"/>
            <a:r>
              <a:rPr sz="1100" b="0" i="0">
                <a:solidFill>
                  <a:srgbClr val="CCCCCC"/>
                </a:solidFill>
                <a:latin typeface="Arial"/>
              </a:rPr>
              <a:t>162 rooms assigned 'corridor' as placeholder.  Model predicts new functions:</a:t>
            </a:r>
          </a:p>
        </p:txBody>
      </p:sp>
      <p:sp>
        <p:nvSpPr>
          <p:cNvPr id="6" name="Rectangle 5"/>
          <p:cNvSpPr/>
          <p:nvPr/>
        </p:nvSpPr>
        <p:spPr>
          <a:xfrm>
            <a:off x="365760" y="1719072"/>
            <a:ext cx="3657600" cy="31272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719072"/>
            <a:ext cx="3657600" cy="50292"/>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10512"/>
            <a:ext cx="3200400" cy="1005840"/>
          </a:xfrm>
          <a:prstGeom prst="rect">
            <a:avLst/>
          </a:prstGeom>
          <a:noFill/>
        </p:spPr>
        <p:txBody>
          <a:bodyPr wrap="square">
            <a:spAutoFit/>
          </a:bodyPr>
          <a:lstStyle/>
          <a:p>
            <a:pPr algn="l"/>
            <a:r>
              <a:rPr sz="6400" b="1" i="0">
                <a:solidFill>
                  <a:srgbClr val="999999"/>
                </a:solidFill>
                <a:latin typeface="Arial"/>
              </a:rPr>
              <a:t>90</a:t>
            </a:r>
          </a:p>
        </p:txBody>
      </p:sp>
      <p:sp>
        <p:nvSpPr>
          <p:cNvPr id="9" name="TextBox 8"/>
          <p:cNvSpPr txBox="1"/>
          <p:nvPr/>
        </p:nvSpPr>
        <p:spPr>
          <a:xfrm>
            <a:off x="594360" y="2816352"/>
            <a:ext cx="3200400" cy="347472"/>
          </a:xfrm>
          <a:prstGeom prst="rect">
            <a:avLst/>
          </a:prstGeom>
          <a:noFill/>
        </p:spPr>
        <p:txBody>
          <a:bodyPr wrap="square">
            <a:spAutoFit/>
          </a:bodyPr>
          <a:lstStyle/>
          <a:p>
            <a:pPr algn="l"/>
            <a:r>
              <a:rPr sz="1400" b="1" i="0">
                <a:solidFill>
                  <a:srgbClr val="D4A888"/>
                </a:solidFill>
                <a:latin typeface="Arial"/>
              </a:rPr>
              <a:t>corridor</a:t>
            </a:r>
          </a:p>
        </p:txBody>
      </p:sp>
      <p:sp>
        <p:nvSpPr>
          <p:cNvPr id="10" name="TextBox 9"/>
          <p:cNvSpPr txBox="1"/>
          <p:nvPr/>
        </p:nvSpPr>
        <p:spPr>
          <a:xfrm>
            <a:off x="594360" y="3218688"/>
            <a:ext cx="3383280" cy="713232"/>
          </a:xfrm>
          <a:prstGeom prst="rect">
            <a:avLst/>
          </a:prstGeom>
          <a:noFill/>
        </p:spPr>
        <p:txBody>
          <a:bodyPr wrap="square">
            <a:spAutoFit/>
          </a:bodyPr>
          <a:lstStyle/>
          <a:p>
            <a:pPr algn="l"/>
            <a:r>
              <a:rPr sz="950" b="0" i="0">
                <a:solidFill>
                  <a:srgbClr val="999999"/>
                </a:solidFill>
                <a:latin typeface="Arial"/>
              </a:rPr>
              <a:t>Rooms read as pure circulation.
Deep from the entrance,
low degree, few connections.
They remain neutral.</a:t>
            </a:r>
          </a:p>
        </p:txBody>
      </p:sp>
      <p:sp>
        <p:nvSpPr>
          <p:cNvPr id="11" name="Rectangle 10"/>
          <p:cNvSpPr/>
          <p:nvPr/>
        </p:nvSpPr>
        <p:spPr>
          <a:xfrm>
            <a:off x="4297680" y="1719072"/>
            <a:ext cx="3657600" cy="31272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719072"/>
            <a:ext cx="3657600" cy="50292"/>
          </a:xfrm>
          <a:prstGeom prst="rect">
            <a:avLst/>
          </a:prstGeom>
          <a:solidFill>
            <a:srgbClr val="D4A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810512"/>
            <a:ext cx="3200400" cy="1005840"/>
          </a:xfrm>
          <a:prstGeom prst="rect">
            <a:avLst/>
          </a:prstGeom>
          <a:noFill/>
        </p:spPr>
        <p:txBody>
          <a:bodyPr wrap="square">
            <a:spAutoFit/>
          </a:bodyPr>
          <a:lstStyle/>
          <a:p>
            <a:pPr algn="l"/>
            <a:r>
              <a:rPr sz="6400" b="1" i="0">
                <a:solidFill>
                  <a:srgbClr val="D4A888"/>
                </a:solidFill>
                <a:latin typeface="Arial"/>
              </a:rPr>
              <a:t>63</a:t>
            </a:r>
          </a:p>
        </p:txBody>
      </p:sp>
      <p:sp>
        <p:nvSpPr>
          <p:cNvPr id="14" name="TextBox 13"/>
          <p:cNvSpPr txBox="1"/>
          <p:nvPr/>
        </p:nvSpPr>
        <p:spPr>
          <a:xfrm>
            <a:off x="4526280" y="2816352"/>
            <a:ext cx="3200400" cy="347472"/>
          </a:xfrm>
          <a:prstGeom prst="rect">
            <a:avLst/>
          </a:prstGeom>
          <a:noFill/>
        </p:spPr>
        <p:txBody>
          <a:bodyPr wrap="square">
            <a:spAutoFit/>
          </a:bodyPr>
          <a:lstStyle/>
          <a:p>
            <a:pPr algn="l"/>
            <a:r>
              <a:rPr sz="1400" b="1" i="0">
                <a:solidFill>
                  <a:srgbClr val="D4A888"/>
                </a:solidFill>
                <a:latin typeface="Arial"/>
              </a:rPr>
              <a:t>kitchen</a:t>
            </a:r>
          </a:p>
        </p:txBody>
      </p:sp>
      <p:sp>
        <p:nvSpPr>
          <p:cNvPr id="15" name="TextBox 14"/>
          <p:cNvSpPr txBox="1"/>
          <p:nvPr/>
        </p:nvSpPr>
        <p:spPr>
          <a:xfrm>
            <a:off x="4526280" y="3218688"/>
            <a:ext cx="3383280" cy="713232"/>
          </a:xfrm>
          <a:prstGeom prst="rect">
            <a:avLst/>
          </a:prstGeom>
          <a:noFill/>
        </p:spPr>
        <p:txBody>
          <a:bodyPr wrap="square">
            <a:spAutoFit/>
          </a:bodyPr>
          <a:lstStyle/>
          <a:p>
            <a:pPr algn="l"/>
            <a:r>
              <a:rPr sz="950" b="0" i="0">
                <a:solidFill>
                  <a:srgbClr val="999999"/>
                </a:solidFill>
                <a:latin typeface="Arial"/>
              </a:rPr>
              <a:t>Mixed door/balcony connectivity.
Depth 2 from the landing.
Matches the model's
learned kitchen profile.</a:t>
            </a:r>
          </a:p>
        </p:txBody>
      </p:sp>
      <p:sp>
        <p:nvSpPr>
          <p:cNvPr id="16" name="Rectangle 15"/>
          <p:cNvSpPr/>
          <p:nvPr/>
        </p:nvSpPr>
        <p:spPr>
          <a:xfrm>
            <a:off x="8229600" y="1719072"/>
            <a:ext cx="3657600" cy="31272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719072"/>
            <a:ext cx="365760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1810512"/>
            <a:ext cx="3200400" cy="1005840"/>
          </a:xfrm>
          <a:prstGeom prst="rect">
            <a:avLst/>
          </a:prstGeom>
          <a:noFill/>
        </p:spPr>
        <p:txBody>
          <a:bodyPr wrap="square">
            <a:spAutoFit/>
          </a:bodyPr>
          <a:lstStyle/>
          <a:p>
            <a:pPr algn="l"/>
            <a:r>
              <a:rPr sz="6400" b="1" i="0">
                <a:solidFill>
                  <a:srgbClr val="FFFFFF"/>
                </a:solidFill>
                <a:latin typeface="Arial"/>
              </a:rPr>
              <a:t> 9</a:t>
            </a:r>
          </a:p>
        </p:txBody>
      </p:sp>
      <p:sp>
        <p:nvSpPr>
          <p:cNvPr id="19" name="TextBox 18"/>
          <p:cNvSpPr txBox="1"/>
          <p:nvPr/>
        </p:nvSpPr>
        <p:spPr>
          <a:xfrm>
            <a:off x="8458200" y="2816352"/>
            <a:ext cx="3200400" cy="347472"/>
          </a:xfrm>
          <a:prstGeom prst="rect">
            <a:avLst/>
          </a:prstGeom>
          <a:noFill/>
        </p:spPr>
        <p:txBody>
          <a:bodyPr wrap="square">
            <a:spAutoFit/>
          </a:bodyPr>
          <a:lstStyle/>
          <a:p>
            <a:pPr algn="l"/>
            <a:r>
              <a:rPr sz="1400" b="1" i="0">
                <a:solidFill>
                  <a:srgbClr val="D4A888"/>
                </a:solidFill>
                <a:latin typeface="Arial"/>
              </a:rPr>
              <a:t>livingroom</a:t>
            </a:r>
          </a:p>
        </p:txBody>
      </p:sp>
      <p:sp>
        <p:nvSpPr>
          <p:cNvPr id="20" name="TextBox 19"/>
          <p:cNvSpPr txBox="1"/>
          <p:nvPr/>
        </p:nvSpPr>
        <p:spPr>
          <a:xfrm>
            <a:off x="8458200" y="3218688"/>
            <a:ext cx="3383280" cy="713232"/>
          </a:xfrm>
          <a:prstGeom prst="rect">
            <a:avLst/>
          </a:prstGeom>
          <a:noFill/>
        </p:spPr>
        <p:txBody>
          <a:bodyPr wrap="square">
            <a:spAutoFit/>
          </a:bodyPr>
          <a:lstStyle/>
          <a:p>
            <a:pPr algn="l"/>
            <a:r>
              <a:rPr sz="950" b="0" i="0">
                <a:solidFill>
                  <a:srgbClr val="999999"/>
                </a:solidFill>
                <a:latin typeface="Arial"/>
              </a:rPr>
              <a:t>Single door to a large
balcony or corridor node.
Larger spatial zoning --
read as living space.</a:t>
            </a:r>
          </a:p>
        </p:txBody>
      </p:sp>
      <p:sp>
        <p:nvSpPr>
          <p:cNvPr id="21" name="Rectangle 20"/>
          <p:cNvSpPr/>
          <p:nvPr/>
        </p:nvSpPr>
        <p:spPr>
          <a:xfrm>
            <a:off x="365760" y="4983480"/>
            <a:ext cx="11457432" cy="9601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102352"/>
            <a:ext cx="11109960" cy="804672"/>
          </a:xfrm>
          <a:prstGeom prst="rect">
            <a:avLst/>
          </a:prstGeom>
          <a:noFill/>
        </p:spPr>
        <p:txBody>
          <a:bodyPr wrap="square">
            <a:spAutoFit/>
          </a:bodyPr>
          <a:lstStyle/>
          <a:p>
            <a:pPr algn="l"/>
            <a:r>
              <a:rPr sz="1000" b="0" i="0">
                <a:solidFill>
                  <a:srgbClr val="CCCCCC"/>
                </a:solidFill>
                <a:latin typeface="Arial"/>
              </a:rPr>
              <a:t>Interpretation:  The design decision encodes meaning into the graph. Memorial slabs are labelled 'balcony' because they are open and outdoor-like. The model reads their proximity and reclassifies adjacent rooms as kitchens -- the room type most often found next to a balcony in the MSD training data. The memorial has the topology of a lived-in apartment.</a:t>
            </a:r>
          </a:p>
        </p:txBody>
      </p:sp>
      <p:pic>
        <p:nvPicPr>
          <p:cNvPr id="23" name="Picture 22" descr="affected_block_comparison.png"/>
          <p:cNvPicPr>
            <a:picLocks noChangeAspect="1"/>
          </p:cNvPicPr>
          <p:nvPr/>
        </p:nvPicPr>
        <p:blipFill>
          <a:blip r:embed="rId2"/>
          <a:stretch>
            <a:fillRect/>
          </a:stretch>
        </p:blipFill>
        <p:spPr>
          <a:xfrm>
            <a:off x="365760" y="6080760"/>
            <a:ext cx="11457432" cy="510357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PHASE 8 -- RESULTS DETAIL</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Floor-by-Floor Prediction</a:t>
            </a:r>
          </a:p>
        </p:txBody>
      </p:sp>
      <p:sp>
        <p:nvSpPr>
          <p:cNvPr id="4" name="Rectangle 3"/>
          <p:cNvSpPr/>
          <p:nvPr/>
        </p:nvSpPr>
        <p:spPr>
          <a:xfrm>
            <a:off x="457200" y="135331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384048"/>
          </a:xfrm>
          <a:prstGeom prst="rect">
            <a:avLst/>
          </a:prstGeom>
          <a:noFill/>
        </p:spPr>
        <p:txBody>
          <a:bodyPr wrap="square">
            <a:spAutoFit/>
          </a:bodyPr>
          <a:lstStyle/>
          <a:p>
            <a:pPr algn="l"/>
            <a:r>
              <a:rPr sz="1000" b="0" i="0">
                <a:solidFill>
                  <a:srgbClr val="999999"/>
                </a:solidFill>
                <a:latin typeface="Arial"/>
              </a:rPr>
              <a:t>Each row is one floor. Each dot is one room. Left panel: placeholder labels assigned before inference. Right panel: ML-predicted functions after GraphSAGE runs.</a:t>
            </a:r>
          </a:p>
        </p:txBody>
      </p:sp>
      <p:sp>
        <p:nvSpPr>
          <p:cNvPr id="6" name="TextBox 5"/>
          <p:cNvSpPr txBox="1"/>
          <p:nvPr/>
        </p:nvSpPr>
        <p:spPr>
          <a:xfrm>
            <a:off x="457200" y="1627632"/>
            <a:ext cx="11430000" cy="438912"/>
          </a:xfrm>
          <a:prstGeom prst="rect">
            <a:avLst/>
          </a:prstGeom>
          <a:noFill/>
        </p:spPr>
        <p:txBody>
          <a:bodyPr wrap="square">
            <a:spAutoFit/>
          </a:bodyPr>
          <a:lstStyle/>
          <a:p>
            <a:pPr algn="l"/>
            <a:r>
              <a:rPr sz="1000" b="0" i="0">
                <a:solidFill>
                  <a:srgbClr val="999999"/>
                </a:solidFill>
                <a:latin typeface="Arial"/>
              </a:rPr>
              <a:t>The kitchen reclassification concentrates on floors where the surviving corridor nodes have the richest balcony connectivity -- i.e. floors where the most memorial slabs are directly reachable. Rooms at greater depth from the staircase tend to remain corridor.</a:t>
            </a:r>
          </a:p>
        </p:txBody>
      </p:sp>
      <p:pic>
        <p:nvPicPr>
          <p:cNvPr id="7" name="Picture 6" descr="affected_block_prediction.png"/>
          <p:cNvPicPr>
            <a:picLocks noChangeAspect="1"/>
          </p:cNvPicPr>
          <p:nvPr/>
        </p:nvPicPr>
        <p:blipFill>
          <a:blip r:embed="rId2"/>
          <a:stretch>
            <a:fillRect/>
          </a:stretch>
        </p:blipFill>
        <p:spPr>
          <a:xfrm>
            <a:off x="365760" y="2176272"/>
            <a:ext cx="11457432" cy="4797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SYNTHESIS</a:t>
            </a:r>
          </a:p>
        </p:txBody>
      </p:sp>
      <p:sp>
        <p:nvSpPr>
          <p:cNvPr id="3" name="TextBox 2"/>
          <p:cNvSpPr txBox="1"/>
          <p:nvPr/>
        </p:nvSpPr>
        <p:spPr>
          <a:xfrm>
            <a:off x="457200" y="475488"/>
            <a:ext cx="8229600" cy="640080"/>
          </a:xfrm>
          <a:prstGeom prst="rect">
            <a:avLst/>
          </a:prstGeom>
          <a:noFill/>
        </p:spPr>
        <p:txBody>
          <a:bodyPr wrap="square">
            <a:spAutoFit/>
          </a:bodyPr>
          <a:lstStyle/>
          <a:p>
            <a:pPr algn="l"/>
            <a:r>
              <a:rPr sz="2800" b="1" i="0">
                <a:solidFill>
                  <a:srgbClr val="FFFFFF"/>
                </a:solidFill>
                <a:latin typeface="Arial"/>
              </a:rPr>
              <a:t>The Design-Analysis Loop</a:t>
            </a:r>
          </a:p>
        </p:txBody>
      </p:sp>
      <p:sp>
        <p:nvSpPr>
          <p:cNvPr id="4" name="Rectangle 3"/>
          <p:cNvSpPr/>
          <p:nvPr/>
        </p:nvSpPr>
        <p:spPr>
          <a:xfrm>
            <a:off x="457200" y="1188720"/>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35024"/>
            <a:ext cx="11430000" cy="475488"/>
          </a:xfrm>
          <a:prstGeom prst="rect">
            <a:avLst/>
          </a:prstGeom>
          <a:noFill/>
        </p:spPr>
        <p:txBody>
          <a:bodyPr wrap="square">
            <a:spAutoFit/>
          </a:bodyPr>
          <a:lstStyle/>
          <a:p>
            <a:pPr algn="l"/>
            <a:r>
              <a:rPr sz="1100" b="0" i="0">
                <a:solidFill>
                  <a:srgbClr val="CCCCCC"/>
                </a:solidFill>
                <a:latin typeface="Arial"/>
              </a:rPr>
              <a:t>Graph analysis does not document the design after the fact. The graph generates the form. The form changes the graph. The graph changes the ML result. The loop closes.</a:t>
            </a:r>
          </a:p>
        </p:txBody>
      </p:sp>
      <p:sp>
        <p:nvSpPr>
          <p:cNvPr id="6" name="Rectangle 5"/>
          <p:cNvSpPr/>
          <p:nvPr/>
        </p:nvSpPr>
        <p:spPr>
          <a:xfrm>
            <a:off x="1961388" y="193852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61388" y="193852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6836" y="2011680"/>
            <a:ext cx="365760" cy="256032"/>
          </a:xfrm>
          <a:prstGeom prst="rect">
            <a:avLst/>
          </a:prstGeom>
          <a:noFill/>
        </p:spPr>
        <p:txBody>
          <a:bodyPr wrap="square">
            <a:spAutoFit/>
          </a:bodyPr>
          <a:lstStyle/>
          <a:p>
            <a:pPr algn="l"/>
            <a:r>
              <a:rPr sz="1100" b="1" i="0">
                <a:solidFill>
                  <a:srgbClr val="B07858"/>
                </a:solidFill>
                <a:latin typeface="Arial"/>
              </a:rPr>
              <a:t>1</a:t>
            </a:r>
          </a:p>
        </p:txBody>
      </p:sp>
      <p:sp>
        <p:nvSpPr>
          <p:cNvPr id="9" name="TextBox 8"/>
          <p:cNvSpPr txBox="1"/>
          <p:nvPr/>
        </p:nvSpPr>
        <p:spPr>
          <a:xfrm>
            <a:off x="2116836" y="2286000"/>
            <a:ext cx="1673351" cy="438912"/>
          </a:xfrm>
          <a:prstGeom prst="rect">
            <a:avLst/>
          </a:prstGeom>
          <a:noFill/>
        </p:spPr>
        <p:txBody>
          <a:bodyPr wrap="square">
            <a:spAutoFit/>
          </a:bodyPr>
          <a:lstStyle/>
          <a:p>
            <a:pPr algn="l"/>
            <a:r>
              <a:rPr sz="1000" b="1" i="0">
                <a:solidFill>
                  <a:srgbClr val="FFFFFF"/>
                </a:solidFill>
                <a:latin typeface="Arial"/>
              </a:rPr>
              <a:t>Build access graph</a:t>
            </a:r>
          </a:p>
        </p:txBody>
      </p:sp>
      <p:sp>
        <p:nvSpPr>
          <p:cNvPr id="10" name="TextBox 9"/>
          <p:cNvSpPr txBox="1"/>
          <p:nvPr/>
        </p:nvSpPr>
        <p:spPr>
          <a:xfrm>
            <a:off x="2116836" y="2761488"/>
            <a:ext cx="1673351" cy="530352"/>
          </a:xfrm>
          <a:prstGeom prst="rect">
            <a:avLst/>
          </a:prstGeom>
          <a:noFill/>
        </p:spPr>
        <p:txBody>
          <a:bodyPr wrap="square">
            <a:spAutoFit/>
          </a:bodyPr>
          <a:lstStyle/>
          <a:p>
            <a:pPr algn="l"/>
            <a:r>
              <a:rPr sz="850" b="0" i="0">
                <a:solidFill>
                  <a:srgbClr val="999999"/>
                </a:solidFill>
                <a:latin typeface="Arial"/>
              </a:rPr>
              <a:t>TopologicPy builds g2 from door apertures. Only doors create edges.</a:t>
            </a:r>
          </a:p>
        </p:txBody>
      </p:sp>
      <p:sp>
        <p:nvSpPr>
          <p:cNvPr id="11" name="Right Arrow 10"/>
          <p:cNvSpPr/>
          <p:nvPr/>
        </p:nvSpPr>
        <p:spPr>
          <a:xfrm>
            <a:off x="3872484" y="2546604"/>
            <a:ext cx="182880"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91939" y="193852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91939" y="193852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7388" y="2011680"/>
            <a:ext cx="365760" cy="256032"/>
          </a:xfrm>
          <a:prstGeom prst="rect">
            <a:avLst/>
          </a:prstGeom>
          <a:noFill/>
        </p:spPr>
        <p:txBody>
          <a:bodyPr wrap="square">
            <a:spAutoFit/>
          </a:bodyPr>
          <a:lstStyle/>
          <a:p>
            <a:pPr algn="l"/>
            <a:r>
              <a:rPr sz="1100" b="1" i="0">
                <a:solidFill>
                  <a:srgbClr val="B07858"/>
                </a:solidFill>
                <a:latin typeface="Arial"/>
              </a:rPr>
              <a:t>2</a:t>
            </a:r>
          </a:p>
        </p:txBody>
      </p:sp>
      <p:sp>
        <p:nvSpPr>
          <p:cNvPr id="15" name="TextBox 14"/>
          <p:cNvSpPr txBox="1"/>
          <p:nvPr/>
        </p:nvSpPr>
        <p:spPr>
          <a:xfrm>
            <a:off x="4247388" y="2286000"/>
            <a:ext cx="1673351" cy="438912"/>
          </a:xfrm>
          <a:prstGeom prst="rect">
            <a:avLst/>
          </a:prstGeom>
          <a:noFill/>
        </p:spPr>
        <p:txBody>
          <a:bodyPr wrap="square">
            <a:spAutoFit/>
          </a:bodyPr>
          <a:lstStyle/>
          <a:p>
            <a:pPr algn="l"/>
            <a:r>
              <a:rPr sz="1000" b="1" i="0">
                <a:solidFill>
                  <a:srgbClr val="FFFFFF"/>
                </a:solidFill>
                <a:latin typeface="Arial"/>
              </a:rPr>
              <a:t>Compute depth</a:t>
            </a:r>
          </a:p>
        </p:txBody>
      </p:sp>
      <p:sp>
        <p:nvSpPr>
          <p:cNvPr id="16" name="TextBox 15"/>
          <p:cNvSpPr txBox="1"/>
          <p:nvPr/>
        </p:nvSpPr>
        <p:spPr>
          <a:xfrm>
            <a:off x="4247388" y="2761488"/>
            <a:ext cx="1673351" cy="530352"/>
          </a:xfrm>
          <a:prstGeom prst="rect">
            <a:avLst/>
          </a:prstGeom>
          <a:noFill/>
        </p:spPr>
        <p:txBody>
          <a:bodyPr wrap="square">
            <a:spAutoFit/>
          </a:bodyPr>
          <a:lstStyle/>
          <a:p>
            <a:pPr algn="l"/>
            <a:r>
              <a:rPr sz="850" b="0" i="0">
                <a:solidFill>
                  <a:srgbClr val="999999"/>
                </a:solidFill>
                <a:latin typeface="Arial"/>
              </a:rPr>
              <a:t>NetworkX BFS from the staircase landing. Hop count per room.</a:t>
            </a:r>
          </a:p>
        </p:txBody>
      </p:sp>
      <p:sp>
        <p:nvSpPr>
          <p:cNvPr id="17" name="Right Arrow 16"/>
          <p:cNvSpPr/>
          <p:nvPr/>
        </p:nvSpPr>
        <p:spPr>
          <a:xfrm>
            <a:off x="6003036" y="2546604"/>
            <a:ext cx="182880"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22492" y="193852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2492" y="193852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2011680"/>
            <a:ext cx="365760" cy="256032"/>
          </a:xfrm>
          <a:prstGeom prst="rect">
            <a:avLst/>
          </a:prstGeom>
          <a:noFill/>
        </p:spPr>
        <p:txBody>
          <a:bodyPr wrap="square">
            <a:spAutoFit/>
          </a:bodyPr>
          <a:lstStyle/>
          <a:p>
            <a:pPr algn="l"/>
            <a:r>
              <a:rPr sz="1100" b="1" i="0">
                <a:solidFill>
                  <a:srgbClr val="B07858"/>
                </a:solidFill>
                <a:latin typeface="Arial"/>
              </a:rPr>
              <a:t>3</a:t>
            </a:r>
          </a:p>
        </p:txBody>
      </p:sp>
      <p:sp>
        <p:nvSpPr>
          <p:cNvPr id="21" name="TextBox 20"/>
          <p:cNvSpPr txBox="1"/>
          <p:nvPr/>
        </p:nvSpPr>
        <p:spPr>
          <a:xfrm>
            <a:off x="6377940" y="2286000"/>
            <a:ext cx="1673351" cy="438912"/>
          </a:xfrm>
          <a:prstGeom prst="rect">
            <a:avLst/>
          </a:prstGeom>
          <a:noFill/>
        </p:spPr>
        <p:txBody>
          <a:bodyPr wrap="square">
            <a:spAutoFit/>
          </a:bodyPr>
          <a:lstStyle/>
          <a:p>
            <a:pPr algn="l"/>
            <a:r>
              <a:rPr sz="1000" b="1" i="0">
                <a:solidFill>
                  <a:srgbClr val="FFFFFF"/>
                </a:solidFill>
                <a:latin typeface="Arial"/>
              </a:rPr>
              <a:t>Map depth to height</a:t>
            </a:r>
          </a:p>
        </p:txBody>
      </p:sp>
      <p:sp>
        <p:nvSpPr>
          <p:cNvPr id="22" name="TextBox 21"/>
          <p:cNvSpPr txBox="1"/>
          <p:nvPr/>
        </p:nvSpPr>
        <p:spPr>
          <a:xfrm>
            <a:off x="6377940" y="2761488"/>
            <a:ext cx="1673351" cy="530352"/>
          </a:xfrm>
          <a:prstGeom prst="rect">
            <a:avLst/>
          </a:prstGeom>
          <a:noFill/>
        </p:spPr>
        <p:txBody>
          <a:bodyPr wrap="square">
            <a:spAutoFit/>
          </a:bodyPr>
          <a:lstStyle/>
          <a:p>
            <a:pPr algn="l"/>
            <a:r>
              <a:rPr sz="850" b="0" i="0">
                <a:solidFill>
                  <a:srgbClr val="999999"/>
                </a:solidFill>
                <a:latin typeface="Arial"/>
              </a:rPr>
              <a:t>slab Z = -step x depth. The access graph drives the Rhino model.</a:t>
            </a:r>
          </a:p>
        </p:txBody>
      </p:sp>
      <p:sp>
        <p:nvSpPr>
          <p:cNvPr id="23" name="Rectangle 22"/>
          <p:cNvSpPr/>
          <p:nvPr/>
        </p:nvSpPr>
        <p:spPr>
          <a:xfrm>
            <a:off x="1961388" y="363016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61388" y="363016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16836" y="3703320"/>
            <a:ext cx="365760" cy="256032"/>
          </a:xfrm>
          <a:prstGeom prst="rect">
            <a:avLst/>
          </a:prstGeom>
          <a:noFill/>
        </p:spPr>
        <p:txBody>
          <a:bodyPr wrap="square">
            <a:spAutoFit/>
          </a:bodyPr>
          <a:lstStyle/>
          <a:p>
            <a:pPr algn="l"/>
            <a:r>
              <a:rPr sz="1100" b="1" i="0">
                <a:solidFill>
                  <a:srgbClr val="B07858"/>
                </a:solidFill>
                <a:latin typeface="Arial"/>
              </a:rPr>
              <a:t>4</a:t>
            </a:r>
          </a:p>
        </p:txBody>
      </p:sp>
      <p:sp>
        <p:nvSpPr>
          <p:cNvPr id="26" name="TextBox 25"/>
          <p:cNvSpPr txBox="1"/>
          <p:nvPr/>
        </p:nvSpPr>
        <p:spPr>
          <a:xfrm>
            <a:off x="2116836" y="3977640"/>
            <a:ext cx="1673351" cy="438912"/>
          </a:xfrm>
          <a:prstGeom prst="rect">
            <a:avLst/>
          </a:prstGeom>
          <a:noFill/>
        </p:spPr>
        <p:txBody>
          <a:bodyPr wrap="square">
            <a:spAutoFit/>
          </a:bodyPr>
          <a:lstStyle/>
          <a:p>
            <a:pPr algn="l"/>
            <a:r>
              <a:rPr sz="1000" b="1" i="0">
                <a:solidFill>
                  <a:srgbClr val="FFFFFF"/>
                </a:solidFill>
                <a:latin typeface="Arial"/>
              </a:rPr>
              <a:t>Encode the memorial</a:t>
            </a:r>
          </a:p>
        </p:txBody>
      </p:sp>
      <p:sp>
        <p:nvSpPr>
          <p:cNvPr id="27" name="TextBox 26"/>
          <p:cNvSpPr txBox="1"/>
          <p:nvPr/>
        </p:nvSpPr>
        <p:spPr>
          <a:xfrm>
            <a:off x="2116836" y="4453128"/>
            <a:ext cx="1673351" cy="530352"/>
          </a:xfrm>
          <a:prstGeom prst="rect">
            <a:avLst/>
          </a:prstGeom>
          <a:noFill/>
        </p:spPr>
        <p:txBody>
          <a:bodyPr wrap="square">
            <a:spAutoFit/>
          </a:bodyPr>
          <a:lstStyle/>
          <a:p>
            <a:pPr algn="l"/>
            <a:r>
              <a:rPr sz="850" b="0" i="0">
                <a:solidFill>
                  <a:srgbClr val="999999"/>
                </a:solidFill>
                <a:latin typeface="Arial"/>
              </a:rPr>
              <a:t>Slabs = balcony. Bridges = stairs. Design choices become node labels.</a:t>
            </a:r>
          </a:p>
        </p:txBody>
      </p:sp>
      <p:sp>
        <p:nvSpPr>
          <p:cNvPr id="28" name="Right Arrow 27"/>
          <p:cNvSpPr/>
          <p:nvPr/>
        </p:nvSpPr>
        <p:spPr>
          <a:xfrm>
            <a:off x="3872484" y="4238244"/>
            <a:ext cx="182880"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91939" y="363016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91939" y="363016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47388" y="3703320"/>
            <a:ext cx="365760" cy="256032"/>
          </a:xfrm>
          <a:prstGeom prst="rect">
            <a:avLst/>
          </a:prstGeom>
          <a:noFill/>
        </p:spPr>
        <p:txBody>
          <a:bodyPr wrap="square">
            <a:spAutoFit/>
          </a:bodyPr>
          <a:lstStyle/>
          <a:p>
            <a:pPr algn="l"/>
            <a:r>
              <a:rPr sz="1100" b="1" i="0">
                <a:solidFill>
                  <a:srgbClr val="B07858"/>
                </a:solidFill>
                <a:latin typeface="Arial"/>
              </a:rPr>
              <a:t>5</a:t>
            </a:r>
          </a:p>
        </p:txBody>
      </p:sp>
      <p:sp>
        <p:nvSpPr>
          <p:cNvPr id="32" name="TextBox 31"/>
          <p:cNvSpPr txBox="1"/>
          <p:nvPr/>
        </p:nvSpPr>
        <p:spPr>
          <a:xfrm>
            <a:off x="4247388" y="3977640"/>
            <a:ext cx="1673351" cy="438912"/>
          </a:xfrm>
          <a:prstGeom prst="rect">
            <a:avLst/>
          </a:prstGeom>
          <a:noFill/>
        </p:spPr>
        <p:txBody>
          <a:bodyPr wrap="square">
            <a:spAutoFit/>
          </a:bodyPr>
          <a:lstStyle/>
          <a:p>
            <a:pPr algn="l"/>
            <a:r>
              <a:rPr sz="1000" b="1" i="0">
                <a:solidFill>
                  <a:srgbClr val="FFFFFF"/>
                </a:solidFill>
                <a:latin typeface="Arial"/>
              </a:rPr>
              <a:t>Run ML inference</a:t>
            </a:r>
          </a:p>
        </p:txBody>
      </p:sp>
      <p:sp>
        <p:nvSpPr>
          <p:cNvPr id="33" name="TextBox 32"/>
          <p:cNvSpPr txBox="1"/>
          <p:nvPr/>
        </p:nvSpPr>
        <p:spPr>
          <a:xfrm>
            <a:off x="4247388" y="4453128"/>
            <a:ext cx="1673351" cy="530352"/>
          </a:xfrm>
          <a:prstGeom prst="rect">
            <a:avLst/>
          </a:prstGeom>
          <a:noFill/>
        </p:spPr>
        <p:txBody>
          <a:bodyPr wrap="square">
            <a:spAutoFit/>
          </a:bodyPr>
          <a:lstStyle/>
          <a:p>
            <a:pPr algn="l"/>
            <a:r>
              <a:rPr sz="850" b="0" i="0">
                <a:solidFill>
                  <a:srgbClr val="999999"/>
                </a:solidFill>
                <a:latin typeface="Arial"/>
              </a:rPr>
              <a:t>Balcony neighbors change corridor node vectors via GraphSAGE aggregation.</a:t>
            </a:r>
          </a:p>
        </p:txBody>
      </p:sp>
      <p:sp>
        <p:nvSpPr>
          <p:cNvPr id="34" name="Right Arrow 33"/>
          <p:cNvSpPr/>
          <p:nvPr/>
        </p:nvSpPr>
        <p:spPr>
          <a:xfrm>
            <a:off x="6003036" y="4238244"/>
            <a:ext cx="182880" cy="201168"/>
          </a:xfrm>
          <a:prstGeom prst="rightArrow">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22492" y="3630168"/>
            <a:ext cx="1874519" cy="14173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22492" y="3630168"/>
            <a:ext cx="50292" cy="141732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7940" y="3703320"/>
            <a:ext cx="365760" cy="256032"/>
          </a:xfrm>
          <a:prstGeom prst="rect">
            <a:avLst/>
          </a:prstGeom>
          <a:noFill/>
        </p:spPr>
        <p:txBody>
          <a:bodyPr wrap="square">
            <a:spAutoFit/>
          </a:bodyPr>
          <a:lstStyle/>
          <a:p>
            <a:pPr algn="l"/>
            <a:r>
              <a:rPr sz="1100" b="1" i="0">
                <a:solidFill>
                  <a:srgbClr val="B07858"/>
                </a:solidFill>
                <a:latin typeface="Arial"/>
              </a:rPr>
              <a:t>6</a:t>
            </a:r>
          </a:p>
        </p:txBody>
      </p:sp>
      <p:sp>
        <p:nvSpPr>
          <p:cNvPr id="38" name="TextBox 37"/>
          <p:cNvSpPr txBox="1"/>
          <p:nvPr/>
        </p:nvSpPr>
        <p:spPr>
          <a:xfrm>
            <a:off x="6377940" y="3977640"/>
            <a:ext cx="1673351" cy="438912"/>
          </a:xfrm>
          <a:prstGeom prst="rect">
            <a:avLst/>
          </a:prstGeom>
          <a:noFill/>
        </p:spPr>
        <p:txBody>
          <a:bodyPr wrap="square">
            <a:spAutoFit/>
          </a:bodyPr>
          <a:lstStyle/>
          <a:p>
            <a:pPr algn="l"/>
            <a:r>
              <a:rPr sz="1000" b="1" i="0">
                <a:solidFill>
                  <a:srgbClr val="FFFFFF"/>
                </a:solidFill>
                <a:latin typeface="Arial"/>
              </a:rPr>
              <a:t>Read the result</a:t>
            </a:r>
          </a:p>
        </p:txBody>
      </p:sp>
      <p:sp>
        <p:nvSpPr>
          <p:cNvPr id="39" name="TextBox 38"/>
          <p:cNvSpPr txBox="1"/>
          <p:nvPr/>
        </p:nvSpPr>
        <p:spPr>
          <a:xfrm>
            <a:off x="6377940" y="4453128"/>
            <a:ext cx="1673351" cy="530352"/>
          </a:xfrm>
          <a:prstGeom prst="rect">
            <a:avLst/>
          </a:prstGeom>
          <a:noFill/>
        </p:spPr>
        <p:txBody>
          <a:bodyPr wrap="square">
            <a:spAutoFit/>
          </a:bodyPr>
          <a:lstStyle/>
          <a:p>
            <a:pPr algn="l"/>
            <a:r>
              <a:rPr sz="850" b="0" i="0">
                <a:solidFill>
                  <a:srgbClr val="999999"/>
                </a:solidFill>
                <a:latin typeface="Arial"/>
              </a:rPr>
              <a:t>63 rooms predicted as kitchen. The memorial has the topology of a lived-in apartment.</a:t>
            </a:r>
          </a:p>
        </p:txBody>
      </p:sp>
      <p:sp>
        <p:nvSpPr>
          <p:cNvPr id="40" name="TextBox 39"/>
          <p:cNvSpPr txBox="1"/>
          <p:nvPr/>
        </p:nvSpPr>
        <p:spPr>
          <a:xfrm>
            <a:off x="457200" y="6455664"/>
            <a:ext cx="11731752" cy="347472"/>
          </a:xfrm>
          <a:prstGeom prst="rect">
            <a:avLst/>
          </a:prstGeom>
          <a:noFill/>
        </p:spPr>
        <p:txBody>
          <a:bodyPr wrap="square">
            <a:spAutoFit/>
          </a:bodyPr>
          <a:lstStyle/>
          <a:p>
            <a:pPr algn="ctr"/>
            <a:r>
              <a:rPr sz="1000" b="0" i="1">
                <a:solidFill>
                  <a:srgbClr val="D4A888"/>
                </a:solidFill>
                <a:latin typeface="Arial"/>
              </a:rPr>
              <a:t>The design choice (labelling slabs 'balcony') affects the ML result. The ML result is a reading of the memorial's spatial quality -- what it would feel like to inhabit, according to a model trained on real apartments.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elev1.png"/>
          <p:cNvPicPr>
            <a:picLocks noChangeAspect="1"/>
          </p:cNvPicPr>
          <p:nvPr/>
        </p:nvPicPr>
        <p:blipFill>
          <a:blip r:embed="rId2"/>
          <a:stretch>
            <a:fillRect/>
          </a:stretch>
        </p:blipFill>
        <p:spPr>
          <a:xfrm>
            <a:off x="182880" y="594360"/>
            <a:ext cx="11823192" cy="8867394"/>
          </a:xfrm>
          <a:prstGeom prst="rect">
            <a:avLst/>
          </a:prstGeom>
        </p:spPr>
      </p:pic>
      <p:sp>
        <p:nvSpPr>
          <p:cNvPr id="3" name="Rectangle 2"/>
          <p:cNvSpPr/>
          <p:nvPr/>
        </p:nvSpPr>
        <p:spPr>
          <a:xfrm>
            <a:off x="0" y="0"/>
            <a:ext cx="12188952" cy="566928"/>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0352"/>
            <a:ext cx="11731752" cy="12700"/>
          </a:xfrm>
          <a:prstGeom prst="rect">
            <a:avLst/>
          </a:prstGeom>
          <a:solidFill>
            <a:srgbClr val="B07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5486400" cy="201168"/>
          </a:xfrm>
          <a:prstGeom prst="rect">
            <a:avLst/>
          </a:prstGeom>
          <a:noFill/>
        </p:spPr>
        <p:txBody>
          <a:bodyPr wrap="square">
            <a:spAutoFit/>
          </a:bodyPr>
          <a:lstStyle/>
          <a:p>
            <a:pPr algn="l"/>
            <a:r>
              <a:rPr sz="700" b="0" i="0">
                <a:solidFill>
                  <a:srgbClr val="666666"/>
                </a:solidFill>
                <a:latin typeface="Arial"/>
              </a:rPr>
              <a:t>RESULT</a:t>
            </a:r>
          </a:p>
        </p:txBody>
      </p:sp>
      <p:sp>
        <p:nvSpPr>
          <p:cNvPr id="6" name="TextBox 5"/>
          <p:cNvSpPr txBox="1"/>
          <p:nvPr/>
        </p:nvSpPr>
        <p:spPr>
          <a:xfrm>
            <a:off x="457200" y="274320"/>
            <a:ext cx="5486400" cy="228600"/>
          </a:xfrm>
          <a:prstGeom prst="rect">
            <a:avLst/>
          </a:prstGeom>
          <a:noFill/>
        </p:spPr>
        <p:txBody>
          <a:bodyPr wrap="square">
            <a:spAutoFit/>
          </a:bodyPr>
          <a:lstStyle/>
          <a:p>
            <a:pPr algn="l"/>
            <a:r>
              <a:rPr sz="1600" b="1" i="0">
                <a:solidFill>
                  <a:srgbClr val="FFFFFF"/>
                </a:solidFill>
                <a:latin typeface="Arial"/>
              </a:rPr>
              <a:t>The Memorial</a:t>
            </a:r>
          </a:p>
        </p:txBody>
      </p:sp>
      <p:sp>
        <p:nvSpPr>
          <p:cNvPr id="7" name="Rectangle 6"/>
          <p:cNvSpPr/>
          <p:nvPr/>
        </p:nvSpPr>
        <p:spPr>
          <a:xfrm>
            <a:off x="0" y="6291072"/>
            <a:ext cx="12188952" cy="566928"/>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64224"/>
            <a:ext cx="11731752" cy="320040"/>
          </a:xfrm>
          <a:prstGeom prst="rect">
            <a:avLst/>
          </a:prstGeom>
          <a:noFill/>
        </p:spPr>
        <p:txBody>
          <a:bodyPr wrap="square">
            <a:spAutoFit/>
          </a:bodyPr>
          <a:lstStyle/>
          <a:p>
            <a:pPr algn="ctr"/>
            <a:r>
              <a:rPr sz="1000" b="0" i="0">
                <a:solidFill>
                  <a:srgbClr val="999999"/>
                </a:solidFill>
                <a:latin typeface="Arial"/>
              </a:rPr>
              <a:t>Graph analysis translated into architectural form.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EXISTING CONDITION</a:t>
            </a:r>
          </a:p>
        </p:txBody>
      </p:sp>
      <p:sp>
        <p:nvSpPr>
          <p:cNvPr id="3" name="TextBox 2"/>
          <p:cNvSpPr txBox="1"/>
          <p:nvPr/>
        </p:nvSpPr>
        <p:spPr>
          <a:xfrm>
            <a:off x="457200" y="475488"/>
            <a:ext cx="6400800" cy="548640"/>
          </a:xfrm>
          <a:prstGeom prst="rect">
            <a:avLst/>
          </a:prstGeom>
          <a:noFill/>
        </p:spPr>
        <p:txBody>
          <a:bodyPr wrap="square">
            <a:spAutoFit/>
          </a:bodyPr>
          <a:lstStyle/>
          <a:p>
            <a:pPr algn="l"/>
            <a:r>
              <a:rPr sz="2600" b="1" i="0">
                <a:solidFill>
                  <a:srgbClr val="FFFFFF"/>
                </a:solidFill>
                <a:latin typeface="Arial"/>
              </a:rPr>
              <a:t>Existing Plan</a:t>
            </a:r>
          </a:p>
        </p:txBody>
      </p:sp>
      <p:sp>
        <p:nvSpPr>
          <p:cNvPr id="4" name="Rectangle 3"/>
          <p:cNvSpPr/>
          <p:nvPr/>
        </p:nvSpPr>
        <p:spPr>
          <a:xfrm>
            <a:off x="457200" y="107899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8229600" cy="411480"/>
          </a:xfrm>
          <a:prstGeom prst="rect">
            <a:avLst/>
          </a:prstGeom>
          <a:noFill/>
        </p:spPr>
        <p:txBody>
          <a:bodyPr wrap="square">
            <a:spAutoFit/>
          </a:bodyPr>
          <a:lstStyle/>
          <a:p>
            <a:pPr algn="l"/>
            <a:r>
              <a:rPr sz="1000" b="0" i="0">
                <a:solidFill>
                  <a:srgbClr val="999999"/>
                </a:solidFill>
                <a:latin typeface="Arial"/>
              </a:rPr>
              <a:t>The 87-02 section as it stands after the strike: the intact half (right), the destroyed half (left). The staircase core at center now connects to a void.</a:t>
            </a:r>
          </a:p>
        </p:txBody>
      </p:sp>
      <p:pic>
        <p:nvPicPr>
          <p:cNvPr id="6" name="Picture 5" descr="plan_existing2.png"/>
          <p:cNvPicPr>
            <a:picLocks noChangeAspect="1"/>
          </p:cNvPicPr>
          <p:nvPr/>
        </p:nvPicPr>
        <p:blipFill>
          <a:blip r:embed="rId2"/>
          <a:stretch>
            <a:fillRect/>
          </a:stretch>
        </p:blipFill>
        <p:spPr>
          <a:xfrm>
            <a:off x="274320" y="1719072"/>
            <a:ext cx="11640312" cy="873023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PROPOSAL</a:t>
            </a:r>
          </a:p>
        </p:txBody>
      </p:sp>
      <p:sp>
        <p:nvSpPr>
          <p:cNvPr id="3" name="TextBox 2"/>
          <p:cNvSpPr txBox="1"/>
          <p:nvPr/>
        </p:nvSpPr>
        <p:spPr>
          <a:xfrm>
            <a:off x="457200" y="475488"/>
            <a:ext cx="8229600" cy="548640"/>
          </a:xfrm>
          <a:prstGeom prst="rect">
            <a:avLst/>
          </a:prstGeom>
          <a:noFill/>
        </p:spPr>
        <p:txBody>
          <a:bodyPr wrap="square">
            <a:spAutoFit/>
          </a:bodyPr>
          <a:lstStyle/>
          <a:p>
            <a:pPr algn="l"/>
            <a:r>
              <a:rPr sz="2600" b="1" i="0">
                <a:solidFill>
                  <a:srgbClr val="FFFFFF"/>
                </a:solidFill>
                <a:latin typeface="Arial"/>
              </a:rPr>
              <a:t>Proposed Plan -- Memorial Slabs</a:t>
            </a:r>
          </a:p>
        </p:txBody>
      </p:sp>
      <p:sp>
        <p:nvSpPr>
          <p:cNvPr id="4" name="Rectangle 3"/>
          <p:cNvSpPr/>
          <p:nvPr/>
        </p:nvSpPr>
        <p:spPr>
          <a:xfrm>
            <a:off x="457200" y="107899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430000" cy="530352"/>
          </a:xfrm>
          <a:prstGeom prst="rect">
            <a:avLst/>
          </a:prstGeom>
          <a:noFill/>
        </p:spPr>
        <p:txBody>
          <a:bodyPr wrap="square">
            <a:spAutoFit/>
          </a:bodyPr>
          <a:lstStyle/>
          <a:p>
            <a:pPr algn="l"/>
            <a:r>
              <a:rPr sz="1000" b="0" i="0">
                <a:solidFill>
                  <a:srgbClr val="999999"/>
                </a:solidFill>
                <a:latin typeface="Arial"/>
              </a:rPr>
              <a:t>Each destroyed room returns as a slab at the room's original perimeter, shrunk inward by the missing wall thickness. Slab Z-height = -step x BFS depth from entrance. The deeper the room was from the apartment door, the lower its slab. The promenade descends as you move away from the staircase.</a:t>
            </a:r>
          </a:p>
        </p:txBody>
      </p:sp>
      <p:pic>
        <p:nvPicPr>
          <p:cNvPr id="6" name="Picture 5" descr="plan_proposed_1.png"/>
          <p:cNvPicPr>
            <a:picLocks noChangeAspect="1"/>
          </p:cNvPicPr>
          <p:nvPr/>
        </p:nvPicPr>
        <p:blipFill>
          <a:blip r:embed="rId2"/>
          <a:stretch>
            <a:fillRect/>
          </a:stretch>
        </p:blipFill>
        <p:spPr>
          <a:xfrm>
            <a:off x="274320" y="1828800"/>
            <a:ext cx="11640312" cy="873023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PROPOSAL -- DETAIL</a:t>
            </a:r>
          </a:p>
        </p:txBody>
      </p:sp>
      <p:sp>
        <p:nvSpPr>
          <p:cNvPr id="3" name="TextBox 2"/>
          <p:cNvSpPr txBox="1"/>
          <p:nvPr/>
        </p:nvSpPr>
        <p:spPr>
          <a:xfrm>
            <a:off x="457200" y="475488"/>
            <a:ext cx="8686800" cy="548640"/>
          </a:xfrm>
          <a:prstGeom prst="rect">
            <a:avLst/>
          </a:prstGeom>
          <a:noFill/>
        </p:spPr>
        <p:txBody>
          <a:bodyPr wrap="square">
            <a:spAutoFit/>
          </a:bodyPr>
          <a:lstStyle/>
          <a:p>
            <a:pPr algn="l"/>
            <a:r>
              <a:rPr sz="2600" b="1" i="0">
                <a:solidFill>
                  <a:srgbClr val="FFFFFF"/>
                </a:solidFill>
                <a:latin typeface="Arial"/>
              </a:rPr>
              <a:t>Proposed Plan -- With Step-Bridges</a:t>
            </a:r>
          </a:p>
        </p:txBody>
      </p:sp>
      <p:sp>
        <p:nvSpPr>
          <p:cNvPr id="4" name="Rectangle 3"/>
          <p:cNvSpPr/>
          <p:nvPr/>
        </p:nvSpPr>
        <p:spPr>
          <a:xfrm>
            <a:off x="457200" y="107899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430000" cy="530352"/>
          </a:xfrm>
          <a:prstGeom prst="rect">
            <a:avLst/>
          </a:prstGeom>
          <a:noFill/>
        </p:spPr>
        <p:txBody>
          <a:bodyPr wrap="square">
            <a:spAutoFit/>
          </a:bodyPr>
          <a:lstStyle/>
          <a:p>
            <a:pPr algn="l"/>
            <a:r>
              <a:rPr sz="1000" b="0" i="0">
                <a:solidFill>
                  <a:srgbClr val="999999"/>
                </a:solidFill>
                <a:latin typeface="Arial"/>
              </a:rPr>
              <a:t>Where two connected slabs sit at different heights, the original door position becomes a step-bridge. The height difference between the two slabs is the step height -- derived directly from the difference in BFS depth between the two rooms. The gap between slab edges at non-door positions is the missing wall.</a:t>
            </a:r>
          </a:p>
        </p:txBody>
      </p:sp>
      <p:pic>
        <p:nvPicPr>
          <p:cNvPr id="6" name="Picture 5" descr="plan_proposed_2.1.png"/>
          <p:cNvPicPr>
            <a:picLocks noChangeAspect="1"/>
          </p:cNvPicPr>
          <p:nvPr/>
        </p:nvPicPr>
        <p:blipFill>
          <a:blip r:embed="rId2"/>
          <a:stretch>
            <a:fillRect/>
          </a:stretch>
        </p:blipFill>
        <p:spPr>
          <a:xfrm>
            <a:off x="274320" y="1828800"/>
            <a:ext cx="11640312" cy="873023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RESULT -- AXONOMETRY</a:t>
            </a:r>
          </a:p>
        </p:txBody>
      </p:sp>
      <p:sp>
        <p:nvSpPr>
          <p:cNvPr id="3" name="TextBox 2"/>
          <p:cNvSpPr txBox="1"/>
          <p:nvPr/>
        </p:nvSpPr>
        <p:spPr>
          <a:xfrm>
            <a:off x="457200" y="475488"/>
            <a:ext cx="8686800" cy="548640"/>
          </a:xfrm>
          <a:prstGeom prst="rect">
            <a:avLst/>
          </a:prstGeom>
          <a:noFill/>
        </p:spPr>
        <p:txBody>
          <a:bodyPr wrap="square">
            <a:spAutoFit/>
          </a:bodyPr>
          <a:lstStyle/>
          <a:p>
            <a:pPr algn="l"/>
            <a:r>
              <a:rPr sz="2600" b="1" i="0">
                <a:solidFill>
                  <a:srgbClr val="FFFFFF"/>
                </a:solidFill>
                <a:latin typeface="Arial"/>
              </a:rPr>
              <a:t>Memorial Intervention in Context</a:t>
            </a:r>
          </a:p>
        </p:txBody>
      </p:sp>
      <p:sp>
        <p:nvSpPr>
          <p:cNvPr id="4" name="Rectangle 3"/>
          <p:cNvSpPr/>
          <p:nvPr/>
        </p:nvSpPr>
        <p:spPr>
          <a:xfrm>
            <a:off x="457200" y="107899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430000" cy="438912"/>
          </a:xfrm>
          <a:prstGeom prst="rect">
            <a:avLst/>
          </a:prstGeom>
          <a:noFill/>
        </p:spPr>
        <p:txBody>
          <a:bodyPr wrap="square">
            <a:spAutoFit/>
          </a:bodyPr>
          <a:lstStyle/>
          <a:p>
            <a:pPr algn="l"/>
            <a:r>
              <a:rPr sz="1000" b="0" i="0">
                <a:solidFill>
                  <a:srgbClr val="999999"/>
                </a:solidFill>
                <a:latin typeface="Arial"/>
              </a:rPr>
              <a:t>The depth-mapped slabs step down into the gap left by the strike. The intact section continues as before -- the memorial does not alter it. The staircase at center now leads somewhere: a descending spatial sequence that traces the topology of the lost apartment.</a:t>
            </a:r>
          </a:p>
        </p:txBody>
      </p:sp>
      <p:pic>
        <p:nvPicPr>
          <p:cNvPr id="6" name="Picture 5" descr="axon3.1.png"/>
          <p:cNvPicPr>
            <a:picLocks noChangeAspect="1"/>
          </p:cNvPicPr>
          <p:nvPr/>
        </p:nvPicPr>
        <p:blipFill>
          <a:blip r:embed="rId2"/>
          <a:stretch>
            <a:fillRect/>
          </a:stretch>
        </p:blipFill>
        <p:spPr>
          <a:xfrm>
            <a:off x="274320" y="1737360"/>
            <a:ext cx="5760720" cy="4320540"/>
          </a:xfrm>
          <a:prstGeom prst="rect">
            <a:avLst/>
          </a:prstGeom>
        </p:spPr>
      </p:pic>
      <p:pic>
        <p:nvPicPr>
          <p:cNvPr id="7" name="Picture 6" descr="axon3.2.png"/>
          <p:cNvPicPr>
            <a:picLocks noChangeAspect="1"/>
          </p:cNvPicPr>
          <p:nvPr/>
        </p:nvPicPr>
        <p:blipFill>
          <a:blip r:embed="rId3"/>
          <a:stretch>
            <a:fillRect/>
          </a:stretch>
        </p:blipFill>
        <p:spPr>
          <a:xfrm>
            <a:off x="6263640" y="1737360"/>
            <a:ext cx="5650992" cy="423824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RESULT -- MEMORIAL</a:t>
            </a:r>
          </a:p>
        </p:txBody>
      </p:sp>
      <p:sp>
        <p:nvSpPr>
          <p:cNvPr id="3" name="TextBox 2"/>
          <p:cNvSpPr txBox="1"/>
          <p:nvPr/>
        </p:nvSpPr>
        <p:spPr>
          <a:xfrm>
            <a:off x="457200" y="475488"/>
            <a:ext cx="6400800" cy="548640"/>
          </a:xfrm>
          <a:prstGeom prst="rect">
            <a:avLst/>
          </a:prstGeom>
          <a:noFill/>
        </p:spPr>
        <p:txBody>
          <a:bodyPr wrap="square">
            <a:spAutoFit/>
          </a:bodyPr>
          <a:lstStyle/>
          <a:p>
            <a:pPr algn="l"/>
            <a:r>
              <a:rPr sz="2800" b="1" i="0">
                <a:solidFill>
                  <a:srgbClr val="FFFFFF"/>
                </a:solidFill>
                <a:latin typeface="Arial"/>
              </a:rPr>
              <a:t>The Intervention</a:t>
            </a:r>
          </a:p>
        </p:txBody>
      </p:sp>
      <p:sp>
        <p:nvSpPr>
          <p:cNvPr id="4" name="Rectangle 3"/>
          <p:cNvSpPr/>
          <p:nvPr/>
        </p:nvSpPr>
        <p:spPr>
          <a:xfrm>
            <a:off x="457200" y="1078992"/>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9601200" cy="438912"/>
          </a:xfrm>
          <a:prstGeom prst="rect">
            <a:avLst/>
          </a:prstGeom>
          <a:noFill/>
        </p:spPr>
        <p:txBody>
          <a:bodyPr wrap="square">
            <a:spAutoFit/>
          </a:bodyPr>
          <a:lstStyle/>
          <a:p>
            <a:pPr algn="l"/>
            <a:r>
              <a:rPr sz="1000" b="0" i="0">
                <a:solidFill>
                  <a:srgbClr val="999999"/>
                </a:solidFill>
                <a:latin typeface="Arial"/>
              </a:rPr>
              <a:t>Slabs at depth-mapped Z heights. Perimeters shrunk by missing wall thickness. Gaps between edges = the vanished walls. Bridges at door positions = the surviving connections. The graph of the lost apartment, made physical.</a:t>
            </a:r>
          </a:p>
        </p:txBody>
      </p:sp>
      <p:pic>
        <p:nvPicPr>
          <p:cNvPr id="6" name="Picture 5" descr="axon4.png"/>
          <p:cNvPicPr>
            <a:picLocks noChangeAspect="1"/>
          </p:cNvPicPr>
          <p:nvPr/>
        </p:nvPicPr>
        <p:blipFill>
          <a:blip r:embed="rId2"/>
          <a:stretch>
            <a:fillRect/>
          </a:stretch>
        </p:blipFill>
        <p:spPr>
          <a:xfrm>
            <a:off x="1371600" y="1737360"/>
            <a:ext cx="9445752" cy="708431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xon6.png"/>
          <p:cNvPicPr>
            <a:picLocks noChangeAspect="1"/>
          </p:cNvPicPr>
          <p:nvPr/>
        </p:nvPicPr>
        <p:blipFill>
          <a:blip r:embed="rId2"/>
          <a:stretch>
            <a:fillRect/>
          </a:stretch>
        </p:blipFill>
        <p:spPr>
          <a:xfrm>
            <a:off x="0" y="0"/>
            <a:ext cx="12188952" cy="9141714"/>
          </a:xfrm>
          <a:prstGeom prst="rect">
            <a:avLst/>
          </a:prstGeom>
        </p:spPr>
      </p:pic>
      <p:sp>
        <p:nvSpPr>
          <p:cNvPr id="3" name="Rectangle 2"/>
          <p:cNvSpPr/>
          <p:nvPr/>
        </p:nvSpPr>
        <p:spPr>
          <a:xfrm>
            <a:off x="0" y="0"/>
            <a:ext cx="12188952" cy="1115568"/>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5486400" cy="201168"/>
          </a:xfrm>
          <a:prstGeom prst="rect">
            <a:avLst/>
          </a:prstGeom>
          <a:noFill/>
        </p:spPr>
        <p:txBody>
          <a:bodyPr wrap="square">
            <a:spAutoFit/>
          </a:bodyPr>
          <a:lstStyle/>
          <a:p>
            <a:pPr algn="l"/>
            <a:r>
              <a:rPr sz="700" b="0" i="0">
                <a:solidFill>
                  <a:srgbClr val="666666"/>
                </a:solidFill>
                <a:latin typeface="Arial"/>
              </a:rPr>
              <a:t>RESULT -- FACADE</a:t>
            </a:r>
          </a:p>
        </p:txBody>
      </p:sp>
      <p:sp>
        <p:nvSpPr>
          <p:cNvPr id="5" name="TextBox 4"/>
          <p:cNvSpPr txBox="1"/>
          <p:nvPr/>
        </p:nvSpPr>
        <p:spPr>
          <a:xfrm>
            <a:off x="457200" y="457200"/>
            <a:ext cx="9144000" cy="530352"/>
          </a:xfrm>
          <a:prstGeom prst="rect">
            <a:avLst/>
          </a:prstGeom>
          <a:noFill/>
        </p:spPr>
        <p:txBody>
          <a:bodyPr wrap="square">
            <a:spAutoFit/>
          </a:bodyPr>
          <a:lstStyle/>
          <a:p>
            <a:pPr algn="l"/>
            <a:r>
              <a:rPr sz="2400" b="1" i="0">
                <a:solidFill>
                  <a:srgbClr val="FFFFFF"/>
                </a:solidFill>
                <a:latin typeface="Arial"/>
              </a:rPr>
              <a:t>The Memorial Seen from the Street</a:t>
            </a:r>
          </a:p>
        </p:txBody>
      </p:sp>
      <p:sp>
        <p:nvSpPr>
          <p:cNvPr id="6" name="Rectangle 5"/>
          <p:cNvSpPr/>
          <p:nvPr/>
        </p:nvSpPr>
        <p:spPr>
          <a:xfrm>
            <a:off x="457200" y="1024128"/>
            <a:ext cx="11731752" cy="12700"/>
          </a:xfrm>
          <a:prstGeom prst="rect">
            <a:avLst/>
          </a:prstGeom>
          <a:solidFill>
            <a:srgbClr val="3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5961888"/>
            <a:ext cx="12188952" cy="8961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108192"/>
            <a:ext cx="11731752" cy="548640"/>
          </a:xfrm>
          <a:prstGeom prst="rect">
            <a:avLst/>
          </a:prstGeom>
          <a:noFill/>
        </p:spPr>
        <p:txBody>
          <a:bodyPr wrap="square">
            <a:spAutoFit/>
          </a:bodyPr>
          <a:lstStyle/>
          <a:p>
            <a:pPr algn="ctr"/>
            <a:r>
              <a:rPr sz="1400" b="0" i="1">
                <a:solidFill>
                  <a:srgbClr val="CCCCCC"/>
                </a:solidFill>
                <a:latin typeface="Arial"/>
              </a:rPr>
              <a:t>The promenade is the access graph of the lost apartment, made walkable.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